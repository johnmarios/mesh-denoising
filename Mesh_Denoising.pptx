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3"/>
  </p:notesMasterIdLst>
  <p:sldIdLst>
    <p:sldId id="285" r:id="rId2"/>
    <p:sldId id="256" r:id="rId3"/>
    <p:sldId id="257" r:id="rId4"/>
    <p:sldId id="258" r:id="rId5"/>
    <p:sldId id="259" r:id="rId6"/>
    <p:sldId id="260" r:id="rId7"/>
    <p:sldId id="286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63FF45D-8A8F-4362-881C-541B416A71C4}" v="160" dt="2026-09-27T13:34:01.2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6236" autoAdjust="0"/>
  </p:normalViewPr>
  <p:slideViewPr>
    <p:cSldViewPr snapToGrid="0">
      <p:cViewPr varScale="1">
        <p:scale>
          <a:sx n="109" d="100"/>
          <a:sy n="109" d="100"/>
        </p:scale>
        <p:origin x="100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5/10/relationships/revisionInfo" Target="revisionInfo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iannis Papadopoulos" userId="011f885267094b50" providerId="LiveId" clId="{1CA7F863-120F-4338-B7D1-787104A621F1}"/>
    <pc:docChg chg="undo custSel addSld modSld sldOrd">
      <pc:chgData name="Giannis Papadopoulos" userId="011f885267094b50" providerId="LiveId" clId="{1CA7F863-120F-4338-B7D1-787104A621F1}" dt="2026-09-27T13:35:25.338" v="376"/>
      <pc:docMkLst>
        <pc:docMk/>
      </pc:docMkLst>
      <pc:sldChg chg="addSp delSp modSp mod">
        <pc:chgData name="Giannis Papadopoulos" userId="011f885267094b50" providerId="LiveId" clId="{1CA7F863-120F-4338-B7D1-787104A621F1}" dt="2026-09-27T08:10:02.221" v="16"/>
        <pc:sldMkLst>
          <pc:docMk/>
          <pc:sldMk cId="1990049060" sldId="257"/>
        </pc:sldMkLst>
        <pc:spChg chg="add del mod">
          <ac:chgData name="Giannis Papadopoulos" userId="011f885267094b50" providerId="LiveId" clId="{1CA7F863-120F-4338-B7D1-787104A621F1}" dt="2026-09-27T08:09:57.524" v="7"/>
          <ac:spMkLst>
            <pc:docMk/>
            <pc:sldMk cId="1990049060" sldId="257"/>
            <ac:spMk id="7" creationId="{52417F45-E0DF-48FD-BE45-10D92DBAA494}"/>
          </ac:spMkLst>
        </pc:spChg>
        <pc:spChg chg="add del mod">
          <ac:chgData name="Giannis Papadopoulos" userId="011f885267094b50" providerId="LiveId" clId="{1CA7F863-120F-4338-B7D1-787104A621F1}" dt="2026-09-27T08:09:59.160" v="10"/>
          <ac:spMkLst>
            <pc:docMk/>
            <pc:sldMk cId="1990049060" sldId="257"/>
            <ac:spMk id="9" creationId="{B3D86AFE-A5F1-8F9A-F698-AE432717D4F9}"/>
          </ac:spMkLst>
        </pc:spChg>
        <pc:spChg chg="add del mod">
          <ac:chgData name="Giannis Papadopoulos" userId="011f885267094b50" providerId="LiveId" clId="{1CA7F863-120F-4338-B7D1-787104A621F1}" dt="2026-09-27T08:10:01.214" v="13"/>
          <ac:spMkLst>
            <pc:docMk/>
            <pc:sldMk cId="1990049060" sldId="257"/>
            <ac:spMk id="13" creationId="{2186EDDF-938F-B907-8CF1-B2F0A4092A83}"/>
          </ac:spMkLst>
        </pc:spChg>
        <pc:spChg chg="add del mod">
          <ac:chgData name="Giannis Papadopoulos" userId="011f885267094b50" providerId="LiveId" clId="{1CA7F863-120F-4338-B7D1-787104A621F1}" dt="2026-09-27T08:10:02.221" v="16"/>
          <ac:spMkLst>
            <pc:docMk/>
            <pc:sldMk cId="1990049060" sldId="257"/>
            <ac:spMk id="14" creationId="{F1B196F3-90E0-093D-3AB3-B4167091C6D2}"/>
          </ac:spMkLst>
        </pc:spChg>
      </pc:sldChg>
      <pc:sldChg chg="addSp delSp modSp mod">
        <pc:chgData name="Giannis Papadopoulos" userId="011f885267094b50" providerId="LiveId" clId="{1CA7F863-120F-4338-B7D1-787104A621F1}" dt="2026-09-27T13:34:04.099" v="372" actId="1076"/>
        <pc:sldMkLst>
          <pc:docMk/>
          <pc:sldMk cId="945726029" sldId="261"/>
        </pc:sldMkLst>
        <pc:spChg chg="mod">
          <ac:chgData name="Giannis Papadopoulos" userId="011f885267094b50" providerId="LiveId" clId="{1CA7F863-120F-4338-B7D1-787104A621F1}" dt="2026-09-27T13:31:16.596" v="340" actId="20577"/>
          <ac:spMkLst>
            <pc:docMk/>
            <pc:sldMk cId="945726029" sldId="261"/>
            <ac:spMk id="7" creationId="{401AE3A7-EB88-4ADB-9C2F-463BD3B45D71}"/>
          </ac:spMkLst>
        </pc:spChg>
        <pc:spChg chg="mod">
          <ac:chgData name="Giannis Papadopoulos" userId="011f885267094b50" providerId="LiveId" clId="{1CA7F863-120F-4338-B7D1-787104A621F1}" dt="2026-09-27T13:28:37.700" v="323" actId="27636"/>
          <ac:spMkLst>
            <pc:docMk/>
            <pc:sldMk cId="945726029" sldId="261"/>
            <ac:spMk id="8" creationId="{8FC94746-FFC4-40E5-BC7F-A77268E49035}"/>
          </ac:spMkLst>
        </pc:spChg>
        <pc:spChg chg="add mod">
          <ac:chgData name="Giannis Papadopoulos" userId="011f885267094b50" providerId="LiveId" clId="{1CA7F863-120F-4338-B7D1-787104A621F1}" dt="2026-09-27T13:34:04.099" v="372" actId="1076"/>
          <ac:spMkLst>
            <pc:docMk/>
            <pc:sldMk cId="945726029" sldId="261"/>
            <ac:spMk id="10" creationId="{3AB41E2B-D1FF-91AD-F1BF-B8D04BF48758}"/>
          </ac:spMkLst>
        </pc:spChg>
        <pc:spChg chg="mod">
          <ac:chgData name="Giannis Papadopoulos" userId="011f885267094b50" providerId="LiveId" clId="{1CA7F863-120F-4338-B7D1-787104A621F1}" dt="2026-09-27T13:29:23.036" v="332" actId="27636"/>
          <ac:spMkLst>
            <pc:docMk/>
            <pc:sldMk cId="945726029" sldId="261"/>
            <ac:spMk id="12" creationId="{84E1653F-6FC7-4450-BBA5-751EB105BA10}"/>
          </ac:spMkLst>
        </pc:spChg>
        <pc:spChg chg="add mod">
          <ac:chgData name="Giannis Papadopoulos" userId="011f885267094b50" providerId="LiveId" clId="{1CA7F863-120F-4338-B7D1-787104A621F1}" dt="2026-09-27T13:34:01.235" v="371" actId="113"/>
          <ac:spMkLst>
            <pc:docMk/>
            <pc:sldMk cId="945726029" sldId="261"/>
            <ac:spMk id="18" creationId="{511124E6-1A1A-9EAA-1055-8DA9B92A0A3F}"/>
          </ac:spMkLst>
        </pc:spChg>
        <pc:spChg chg="mod">
          <ac:chgData name="Giannis Papadopoulos" userId="011f885267094b50" providerId="LiveId" clId="{1CA7F863-120F-4338-B7D1-787104A621F1}" dt="2026-09-27T13:06:09.914" v="24" actId="1076"/>
          <ac:spMkLst>
            <pc:docMk/>
            <pc:sldMk cId="945726029" sldId="261"/>
            <ac:spMk id="25" creationId="{19824A2D-8047-405B-8686-3C97358C96DB}"/>
          </ac:spMkLst>
        </pc:spChg>
        <pc:picChg chg="del">
          <ac:chgData name="Giannis Papadopoulos" userId="011f885267094b50" providerId="LiveId" clId="{1CA7F863-120F-4338-B7D1-787104A621F1}" dt="2026-09-27T13:26:34.395" v="271" actId="478"/>
          <ac:picMkLst>
            <pc:docMk/>
            <pc:sldMk cId="945726029" sldId="261"/>
            <ac:picMk id="34" creationId="{00000000-0000-0000-0000-000000000000}"/>
          </ac:picMkLst>
        </pc:picChg>
        <pc:picChg chg="mod">
          <ac:chgData name="Giannis Papadopoulos" userId="011f885267094b50" providerId="LiveId" clId="{1CA7F863-120F-4338-B7D1-787104A621F1}" dt="2026-09-27T13:30:38.754" v="333" actId="1076"/>
          <ac:picMkLst>
            <pc:docMk/>
            <pc:sldMk cId="945726029" sldId="261"/>
            <ac:picMk id="38" creationId="{00000000-0000-0000-0000-000000000000}"/>
          </ac:picMkLst>
        </pc:picChg>
      </pc:sldChg>
      <pc:sldChg chg="modSp mod">
        <pc:chgData name="Giannis Papadopoulos" userId="011f885267094b50" providerId="LiveId" clId="{1CA7F863-120F-4338-B7D1-787104A621F1}" dt="2026-09-27T08:09:56.842" v="1" actId="27636"/>
        <pc:sldMkLst>
          <pc:docMk/>
          <pc:sldMk cId="165580579" sldId="263"/>
        </pc:sldMkLst>
        <pc:spChg chg="mod">
          <ac:chgData name="Giannis Papadopoulos" userId="011f885267094b50" providerId="LiveId" clId="{1CA7F863-120F-4338-B7D1-787104A621F1}" dt="2026-09-27T08:09:56.842" v="1" actId="27636"/>
          <ac:spMkLst>
            <pc:docMk/>
            <pc:sldMk cId="165580579" sldId="263"/>
            <ac:spMk id="3" creationId="{7549751C-8803-4F20-AC83-97BAF9A66F6E}"/>
          </ac:spMkLst>
        </pc:spChg>
      </pc:sldChg>
      <pc:sldChg chg="modSp mod">
        <pc:chgData name="Giannis Papadopoulos" userId="011f885267094b50" providerId="LiveId" clId="{1CA7F863-120F-4338-B7D1-787104A621F1}" dt="2026-09-27T08:09:56.849" v="2" actId="27636"/>
        <pc:sldMkLst>
          <pc:docMk/>
          <pc:sldMk cId="530949228" sldId="264"/>
        </pc:sldMkLst>
        <pc:spChg chg="mod">
          <ac:chgData name="Giannis Papadopoulos" userId="011f885267094b50" providerId="LiveId" clId="{1CA7F863-120F-4338-B7D1-787104A621F1}" dt="2026-09-27T08:09:56.849" v="2" actId="27636"/>
          <ac:spMkLst>
            <pc:docMk/>
            <pc:sldMk cId="530949228" sldId="264"/>
            <ac:spMk id="12" creationId="{75EC714D-A8E7-45F7-88B7-E5C93F953E3F}"/>
          </ac:spMkLst>
        </pc:spChg>
      </pc:sldChg>
      <pc:sldChg chg="modSp mod">
        <pc:chgData name="Giannis Papadopoulos" userId="011f885267094b50" providerId="LiveId" clId="{1CA7F863-120F-4338-B7D1-787104A621F1}" dt="2026-09-27T08:09:56.854" v="3" actId="27636"/>
        <pc:sldMkLst>
          <pc:docMk/>
          <pc:sldMk cId="1257649741" sldId="267"/>
        </pc:sldMkLst>
        <pc:spChg chg="mod">
          <ac:chgData name="Giannis Papadopoulos" userId="011f885267094b50" providerId="LiveId" clId="{1CA7F863-120F-4338-B7D1-787104A621F1}" dt="2026-09-27T08:09:56.854" v="3" actId="27636"/>
          <ac:spMkLst>
            <pc:docMk/>
            <pc:sldMk cId="1257649741" sldId="267"/>
            <ac:spMk id="11" creationId="{A969DC72-3DC1-46D0-A689-0F406758FE56}"/>
          </ac:spMkLst>
        </pc:spChg>
      </pc:sldChg>
      <pc:sldChg chg="modSp mod">
        <pc:chgData name="Giannis Papadopoulos" userId="011f885267094b50" providerId="LiveId" clId="{1CA7F863-120F-4338-B7D1-787104A621F1}" dt="2026-09-27T08:09:56.859" v="4" actId="27636"/>
        <pc:sldMkLst>
          <pc:docMk/>
          <pc:sldMk cId="1645094977" sldId="272"/>
        </pc:sldMkLst>
        <pc:spChg chg="mod">
          <ac:chgData name="Giannis Papadopoulos" userId="011f885267094b50" providerId="LiveId" clId="{1CA7F863-120F-4338-B7D1-787104A621F1}" dt="2026-09-27T08:09:56.859" v="4" actId="27636"/>
          <ac:spMkLst>
            <pc:docMk/>
            <pc:sldMk cId="1645094977" sldId="272"/>
            <ac:spMk id="10" creationId="{35AB66E3-3586-41A5-BB04-334CE30E9308}"/>
          </ac:spMkLst>
        </pc:spChg>
      </pc:sldChg>
      <pc:sldChg chg="modSp mod">
        <pc:chgData name="Giannis Papadopoulos" userId="011f885267094b50" providerId="LiveId" clId="{1CA7F863-120F-4338-B7D1-787104A621F1}" dt="2026-09-27T08:09:56.883" v="5" actId="27636"/>
        <pc:sldMkLst>
          <pc:docMk/>
          <pc:sldMk cId="655116075" sldId="277"/>
        </pc:sldMkLst>
        <pc:spChg chg="mod">
          <ac:chgData name="Giannis Papadopoulos" userId="011f885267094b50" providerId="LiveId" clId="{1CA7F863-120F-4338-B7D1-787104A621F1}" dt="2026-09-27T08:09:56.883" v="5" actId="27636"/>
          <ac:spMkLst>
            <pc:docMk/>
            <pc:sldMk cId="655116075" sldId="277"/>
            <ac:spMk id="3" creationId="{C24A08B8-1A45-4741-B98B-C5F841387EF0}"/>
          </ac:spMkLst>
        </pc:spChg>
      </pc:sldChg>
      <pc:sldChg chg="addSp delSp modSp new mod ord">
        <pc:chgData name="Giannis Papadopoulos" userId="011f885267094b50" providerId="LiveId" clId="{1CA7F863-120F-4338-B7D1-787104A621F1}" dt="2026-09-27T13:35:25.338" v="376"/>
        <pc:sldMkLst>
          <pc:docMk/>
          <pc:sldMk cId="454767662" sldId="285"/>
        </pc:sldMkLst>
        <pc:spChg chg="add del">
          <ac:chgData name="Giannis Papadopoulos" userId="011f885267094b50" providerId="LiveId" clId="{1CA7F863-120F-4338-B7D1-787104A621F1}" dt="2026-09-27T13:05:45.748" v="22" actId="478"/>
          <ac:spMkLst>
            <pc:docMk/>
            <pc:sldMk cId="454767662" sldId="285"/>
            <ac:spMk id="3" creationId="{A8986CF3-54CD-83A9-237B-9F796267D733}"/>
          </ac:spMkLst>
        </pc:spChg>
        <pc:spChg chg="add mod">
          <ac:chgData name="Giannis Papadopoulos" userId="011f885267094b50" providerId="LiveId" clId="{1CA7F863-120F-4338-B7D1-787104A621F1}" dt="2026-09-27T13:05:43.860" v="21" actId="20577"/>
          <ac:spMkLst>
            <pc:docMk/>
            <pc:sldMk cId="454767662" sldId="285"/>
            <ac:spMk id="5" creationId="{286BEAF5-0A49-1F0B-3914-46D2BAD12CE8}"/>
          </ac:spMkLst>
        </pc:spChg>
        <pc:spChg chg="add del">
          <ac:chgData name="Giannis Papadopoulos" userId="011f885267094b50" providerId="LiveId" clId="{1CA7F863-120F-4338-B7D1-787104A621F1}" dt="2026-09-27T13:05:42.450" v="19" actId="478"/>
          <ac:spMkLst>
            <pc:docMk/>
            <pc:sldMk cId="454767662" sldId="285"/>
            <ac:spMk id="7" creationId="{6EC044C9-1D33-93ED-D596-174E4C39D042}"/>
          </ac:spMkLst>
        </pc:spChg>
        <pc:spChg chg="add del">
          <ac:chgData name="Giannis Papadopoulos" userId="011f885267094b50" providerId="LiveId" clId="{1CA7F863-120F-4338-B7D1-787104A621F1}" dt="2026-09-27T13:05:42.450" v="19" actId="478"/>
          <ac:spMkLst>
            <pc:docMk/>
            <pc:sldMk cId="454767662" sldId="285"/>
            <ac:spMk id="9" creationId="{4678C13B-8D8E-7536-8548-DADA6E275D19}"/>
          </ac:spMkLst>
        </pc:spChg>
        <pc:spChg chg="add del">
          <ac:chgData name="Giannis Papadopoulos" userId="011f885267094b50" providerId="LiveId" clId="{1CA7F863-120F-4338-B7D1-787104A621F1}" dt="2026-09-27T13:05:42.450" v="19" actId="478"/>
          <ac:spMkLst>
            <pc:docMk/>
            <pc:sldMk cId="454767662" sldId="285"/>
            <ac:spMk id="11" creationId="{C38C14D5-7DE8-FCD0-1F3A-E39E52CDB99C}"/>
          </ac:spMkLst>
        </pc:spChg>
        <pc:spChg chg="add del">
          <ac:chgData name="Giannis Papadopoulos" userId="011f885267094b50" providerId="LiveId" clId="{1CA7F863-120F-4338-B7D1-787104A621F1}" dt="2026-09-27T13:05:42.450" v="19" actId="478"/>
          <ac:spMkLst>
            <pc:docMk/>
            <pc:sldMk cId="454767662" sldId="285"/>
            <ac:spMk id="13" creationId="{72D73BD5-5403-2F57-F656-A323F11158AC}"/>
          </ac:spMkLst>
        </pc:spChg>
        <pc:spChg chg="add">
          <ac:chgData name="Giannis Papadopoulos" userId="011f885267094b50" providerId="LiveId" clId="{1CA7F863-120F-4338-B7D1-787104A621F1}" dt="2026-09-27T13:05:34.953" v="18" actId="22"/>
          <ac:spMkLst>
            <pc:docMk/>
            <pc:sldMk cId="454767662" sldId="285"/>
            <ac:spMk id="17" creationId="{FE71E4C3-45B9-A84A-6C79-40457B7DD81E}"/>
          </ac:spMkLst>
        </pc:spChg>
        <pc:spChg chg="add">
          <ac:chgData name="Giannis Papadopoulos" userId="011f885267094b50" providerId="LiveId" clId="{1CA7F863-120F-4338-B7D1-787104A621F1}" dt="2026-09-27T13:05:34.953" v="18" actId="22"/>
          <ac:spMkLst>
            <pc:docMk/>
            <pc:sldMk cId="454767662" sldId="285"/>
            <ac:spMk id="21" creationId="{1CC82779-F4B4-E41C-18DE-A1B1B2D6A839}"/>
          </ac:spMkLst>
        </pc:spChg>
        <pc:spChg chg="add">
          <ac:chgData name="Giannis Papadopoulos" userId="011f885267094b50" providerId="LiveId" clId="{1CA7F863-120F-4338-B7D1-787104A621F1}" dt="2026-09-27T13:05:34.953" v="18" actId="22"/>
          <ac:spMkLst>
            <pc:docMk/>
            <pc:sldMk cId="454767662" sldId="285"/>
            <ac:spMk id="23" creationId="{9C10F238-F6C1-DBB0-2C60-793D5601AA3E}"/>
          </ac:spMkLst>
        </pc:spChg>
        <pc:picChg chg="del">
          <ac:chgData name="Giannis Papadopoulos" userId="011f885267094b50" providerId="LiveId" clId="{1CA7F863-120F-4338-B7D1-787104A621F1}" dt="2026-09-27T13:05:43.069" v="20" actId="478"/>
          <ac:picMkLst>
            <pc:docMk/>
            <pc:sldMk cId="454767662" sldId="285"/>
            <ac:picMk id="15" creationId="{08884B9F-9500-8301-E9AF-E1C81CBF8768}"/>
          </ac:picMkLst>
        </pc:picChg>
        <pc:picChg chg="add">
          <ac:chgData name="Giannis Papadopoulos" userId="011f885267094b50" providerId="LiveId" clId="{1CA7F863-120F-4338-B7D1-787104A621F1}" dt="2026-09-27T13:05:34.953" v="18" actId="22"/>
          <ac:picMkLst>
            <pc:docMk/>
            <pc:sldMk cId="454767662" sldId="285"/>
            <ac:picMk id="19" creationId="{B3122A58-229A-04B2-8211-DFEDA177F6A1}"/>
          </ac:picMkLst>
        </pc:picChg>
      </pc:sldChg>
      <pc:sldChg chg="addSp delSp modSp new mod">
        <pc:chgData name="Giannis Papadopoulos" userId="011f885267094b50" providerId="LiveId" clId="{1CA7F863-120F-4338-B7D1-787104A621F1}" dt="2026-09-27T13:24:54.366" v="270" actId="20577"/>
        <pc:sldMkLst>
          <pc:docMk/>
          <pc:sldMk cId="2301649463" sldId="286"/>
        </pc:sldMkLst>
        <pc:spChg chg="add del">
          <ac:chgData name="Giannis Papadopoulos" userId="011f885267094b50" providerId="LiveId" clId="{1CA7F863-120F-4338-B7D1-787104A621F1}" dt="2026-09-27T13:06:30.606" v="29" actId="22"/>
          <ac:spMkLst>
            <pc:docMk/>
            <pc:sldMk cId="2301649463" sldId="286"/>
            <ac:spMk id="5" creationId="{628508A9-CE73-7CF1-4E80-AFA377844FA5}"/>
          </ac:spMkLst>
        </pc:spChg>
        <pc:spChg chg="add del">
          <ac:chgData name="Giannis Papadopoulos" userId="011f885267094b50" providerId="LiveId" clId="{1CA7F863-120F-4338-B7D1-787104A621F1}" dt="2026-09-27T13:06:30.606" v="29" actId="22"/>
          <ac:spMkLst>
            <pc:docMk/>
            <pc:sldMk cId="2301649463" sldId="286"/>
            <ac:spMk id="7" creationId="{C15DD49C-18C5-1E48-2F5F-72E634E49F71}"/>
          </ac:spMkLst>
        </pc:spChg>
        <pc:spChg chg="add del">
          <ac:chgData name="Giannis Papadopoulos" userId="011f885267094b50" providerId="LiveId" clId="{1CA7F863-120F-4338-B7D1-787104A621F1}" dt="2026-09-27T13:06:30.606" v="29" actId="22"/>
          <ac:spMkLst>
            <pc:docMk/>
            <pc:sldMk cId="2301649463" sldId="286"/>
            <ac:spMk id="9" creationId="{992D62FA-765B-0071-C49D-556F126F7A19}"/>
          </ac:spMkLst>
        </pc:spChg>
        <pc:spChg chg="add del">
          <ac:chgData name="Giannis Papadopoulos" userId="011f885267094b50" providerId="LiveId" clId="{1CA7F863-120F-4338-B7D1-787104A621F1}" dt="2026-09-27T13:06:30.606" v="29" actId="22"/>
          <ac:spMkLst>
            <pc:docMk/>
            <pc:sldMk cId="2301649463" sldId="286"/>
            <ac:spMk id="11" creationId="{E7D568A4-87C4-54A5-6341-B3E346925649}"/>
          </ac:spMkLst>
        </pc:spChg>
        <pc:spChg chg="add del">
          <ac:chgData name="Giannis Papadopoulos" userId="011f885267094b50" providerId="LiveId" clId="{1CA7F863-120F-4338-B7D1-787104A621F1}" dt="2026-09-27T13:06:30.606" v="29" actId="22"/>
          <ac:spMkLst>
            <pc:docMk/>
            <pc:sldMk cId="2301649463" sldId="286"/>
            <ac:spMk id="17" creationId="{818BF586-9ACE-B651-6623-D607903F2532}"/>
          </ac:spMkLst>
        </pc:spChg>
        <pc:spChg chg="add del">
          <ac:chgData name="Giannis Papadopoulos" userId="011f885267094b50" providerId="LiveId" clId="{1CA7F863-120F-4338-B7D1-787104A621F1}" dt="2026-09-27T13:06:30.606" v="29" actId="22"/>
          <ac:spMkLst>
            <pc:docMk/>
            <pc:sldMk cId="2301649463" sldId="286"/>
            <ac:spMk id="27" creationId="{CA59ABA0-CDE6-81F2-9E83-E834A858732F}"/>
          </ac:spMkLst>
        </pc:spChg>
        <pc:spChg chg="add del">
          <ac:chgData name="Giannis Papadopoulos" userId="011f885267094b50" providerId="LiveId" clId="{1CA7F863-120F-4338-B7D1-787104A621F1}" dt="2026-09-27T13:06:30.606" v="29" actId="22"/>
          <ac:spMkLst>
            <pc:docMk/>
            <pc:sldMk cId="2301649463" sldId="286"/>
            <ac:spMk id="33" creationId="{6732F790-00E5-50F1-D2A1-3CB902F77A92}"/>
          </ac:spMkLst>
        </pc:spChg>
        <pc:spChg chg="add del">
          <ac:chgData name="Giannis Papadopoulos" userId="011f885267094b50" providerId="LiveId" clId="{1CA7F863-120F-4338-B7D1-787104A621F1}" dt="2026-09-27T13:06:30.606" v="29" actId="22"/>
          <ac:spMkLst>
            <pc:docMk/>
            <pc:sldMk cId="2301649463" sldId="286"/>
            <ac:spMk id="35" creationId="{183683C9-2437-FBCB-80A5-BE167FDF9E6E}"/>
          </ac:spMkLst>
        </pc:spChg>
        <pc:spChg chg="add del">
          <ac:chgData name="Giannis Papadopoulos" userId="011f885267094b50" providerId="LiveId" clId="{1CA7F863-120F-4338-B7D1-787104A621F1}" dt="2026-09-27T13:06:30.606" v="29" actId="22"/>
          <ac:spMkLst>
            <pc:docMk/>
            <pc:sldMk cId="2301649463" sldId="286"/>
            <ac:spMk id="39" creationId="{EF34DE31-36CA-F6E9-7483-6C43E8609F36}"/>
          </ac:spMkLst>
        </pc:spChg>
        <pc:spChg chg="add del">
          <ac:chgData name="Giannis Papadopoulos" userId="011f885267094b50" providerId="LiveId" clId="{1CA7F863-120F-4338-B7D1-787104A621F1}" dt="2026-09-27T13:06:30.606" v="29" actId="22"/>
          <ac:spMkLst>
            <pc:docMk/>
            <pc:sldMk cId="2301649463" sldId="286"/>
            <ac:spMk id="41" creationId="{C194C36A-F41F-CBFA-3421-424E4DB97D5C}"/>
          </ac:spMkLst>
        </pc:spChg>
        <pc:spChg chg="add">
          <ac:chgData name="Giannis Papadopoulos" userId="011f885267094b50" providerId="LiveId" clId="{1CA7F863-120F-4338-B7D1-787104A621F1}" dt="2026-09-27T13:06:44.246" v="30" actId="22"/>
          <ac:spMkLst>
            <pc:docMk/>
            <pc:sldMk cId="2301649463" sldId="286"/>
            <ac:spMk id="43" creationId="{03BEABD1-5463-8DE5-36CB-7466C7670338}"/>
          </ac:spMkLst>
        </pc:spChg>
        <pc:spChg chg="add mod">
          <ac:chgData name="Giannis Papadopoulos" userId="011f885267094b50" providerId="LiveId" clId="{1CA7F863-120F-4338-B7D1-787104A621F1}" dt="2026-09-27T13:07:30.348" v="76" actId="20577"/>
          <ac:spMkLst>
            <pc:docMk/>
            <pc:sldMk cId="2301649463" sldId="286"/>
            <ac:spMk id="47" creationId="{E178EB74-9929-C2FC-655C-CD2AD5F43889}"/>
          </ac:spMkLst>
        </pc:spChg>
        <pc:spChg chg="add">
          <ac:chgData name="Giannis Papadopoulos" userId="011f885267094b50" providerId="LiveId" clId="{1CA7F863-120F-4338-B7D1-787104A621F1}" dt="2026-09-27T13:06:44.246" v="30" actId="22"/>
          <ac:spMkLst>
            <pc:docMk/>
            <pc:sldMk cId="2301649463" sldId="286"/>
            <ac:spMk id="49" creationId="{4F114350-6A4A-79E4-7A05-5023430F09C6}"/>
          </ac:spMkLst>
        </pc:spChg>
        <pc:spChg chg="add">
          <ac:chgData name="Giannis Papadopoulos" userId="011f885267094b50" providerId="LiveId" clId="{1CA7F863-120F-4338-B7D1-787104A621F1}" dt="2026-09-27T13:06:44.246" v="30" actId="22"/>
          <ac:spMkLst>
            <pc:docMk/>
            <pc:sldMk cId="2301649463" sldId="286"/>
            <ac:spMk id="55" creationId="{8D04E439-17C6-6098-499C-A8AC56E7A36F}"/>
          </ac:spMkLst>
        </pc:spChg>
        <pc:spChg chg="mod">
          <ac:chgData name="Giannis Papadopoulos" userId="011f885267094b50" providerId="LiveId" clId="{1CA7F863-120F-4338-B7D1-787104A621F1}" dt="2026-09-27T13:07:42.841" v="77"/>
          <ac:spMkLst>
            <pc:docMk/>
            <pc:sldMk cId="2301649463" sldId="286"/>
            <ac:spMk id="57" creationId="{33C77BB8-BACE-7527-5A8E-B4529FC7F171}"/>
          </ac:spMkLst>
        </pc:spChg>
        <pc:spChg chg="add mod">
          <ac:chgData name="Giannis Papadopoulos" userId="011f885267094b50" providerId="LiveId" clId="{1CA7F863-120F-4338-B7D1-787104A621F1}" dt="2026-09-27T13:13:00.238" v="134" actId="20577"/>
          <ac:spMkLst>
            <pc:docMk/>
            <pc:sldMk cId="2301649463" sldId="286"/>
            <ac:spMk id="63" creationId="{9BCE78EA-87BF-A8C9-E150-A5140B9121B4}"/>
          </ac:spMkLst>
        </pc:spChg>
        <pc:spChg chg="mod">
          <ac:chgData name="Giannis Papadopoulos" userId="011f885267094b50" providerId="LiveId" clId="{1CA7F863-120F-4338-B7D1-787104A621F1}" dt="2026-09-27T13:09:51.530" v="91" actId="1076"/>
          <ac:spMkLst>
            <pc:docMk/>
            <pc:sldMk cId="2301649463" sldId="286"/>
            <ac:spMk id="65" creationId="{A03DACF4-D7EC-FEA5-49AB-F144922F7062}"/>
          </ac:spMkLst>
        </pc:spChg>
        <pc:spChg chg="add mod">
          <ac:chgData name="Giannis Papadopoulos" userId="011f885267094b50" providerId="LiveId" clId="{1CA7F863-120F-4338-B7D1-787104A621F1}" dt="2026-09-27T13:09:51.530" v="91" actId="1076"/>
          <ac:spMkLst>
            <pc:docMk/>
            <pc:sldMk cId="2301649463" sldId="286"/>
            <ac:spMk id="67" creationId="{28D68EE6-EC62-74CD-7518-80D89AB64470}"/>
          </ac:spMkLst>
        </pc:spChg>
        <pc:spChg chg="add mod">
          <ac:chgData name="Giannis Papadopoulos" userId="011f885267094b50" providerId="LiveId" clId="{1CA7F863-120F-4338-B7D1-787104A621F1}" dt="2026-09-27T13:19:17.936" v="204" actId="1076"/>
          <ac:spMkLst>
            <pc:docMk/>
            <pc:sldMk cId="2301649463" sldId="286"/>
            <ac:spMk id="71" creationId="{69DE7F9F-2089-6FDC-EC77-CEB80703AFA2}"/>
          </ac:spMkLst>
        </pc:spChg>
        <pc:spChg chg="add mod">
          <ac:chgData name="Giannis Papadopoulos" userId="011f885267094b50" providerId="LiveId" clId="{1CA7F863-120F-4338-B7D1-787104A621F1}" dt="2026-09-27T13:09:58.481" v="92" actId="1076"/>
          <ac:spMkLst>
            <pc:docMk/>
            <pc:sldMk cId="2301649463" sldId="286"/>
            <ac:spMk id="73" creationId="{F1298D47-0DDE-0DB0-45CD-61C00EBD7875}"/>
          </ac:spMkLst>
        </pc:spChg>
        <pc:spChg chg="add mod">
          <ac:chgData name="Giannis Papadopoulos" userId="011f885267094b50" providerId="LiveId" clId="{1CA7F863-120F-4338-B7D1-787104A621F1}" dt="2026-09-27T13:09:58.481" v="92" actId="1076"/>
          <ac:spMkLst>
            <pc:docMk/>
            <pc:sldMk cId="2301649463" sldId="286"/>
            <ac:spMk id="75" creationId="{8C8997A3-6960-9853-0AED-3386E1848430}"/>
          </ac:spMkLst>
        </pc:spChg>
        <pc:spChg chg="add mod">
          <ac:chgData name="Giannis Papadopoulos" userId="011f885267094b50" providerId="LiveId" clId="{1CA7F863-120F-4338-B7D1-787104A621F1}" dt="2026-09-27T13:22:30.662" v="234" actId="255"/>
          <ac:spMkLst>
            <pc:docMk/>
            <pc:sldMk cId="2301649463" sldId="286"/>
            <ac:spMk id="79" creationId="{FC7284E5-5F62-CE67-1727-89E5F123AD16}"/>
          </ac:spMkLst>
        </pc:spChg>
        <pc:spChg chg="mod">
          <ac:chgData name="Giannis Papadopoulos" userId="011f885267094b50" providerId="LiveId" clId="{1CA7F863-120F-4338-B7D1-787104A621F1}" dt="2026-09-27T13:10:05.672" v="93" actId="1076"/>
          <ac:spMkLst>
            <pc:docMk/>
            <pc:sldMk cId="2301649463" sldId="286"/>
            <ac:spMk id="81" creationId="{A7576A7F-4A3E-F405-AA7D-D4B7B9A976A0}"/>
          </ac:spMkLst>
        </pc:spChg>
        <pc:spChg chg="mod">
          <ac:chgData name="Giannis Papadopoulos" userId="011f885267094b50" providerId="LiveId" clId="{1CA7F863-120F-4338-B7D1-787104A621F1}" dt="2026-09-27T13:10:05.672" v="93" actId="1076"/>
          <ac:spMkLst>
            <pc:docMk/>
            <pc:sldMk cId="2301649463" sldId="286"/>
            <ac:spMk id="83" creationId="{CD5AF85C-5FCB-4679-AADC-69BB1D7D77E8}"/>
          </ac:spMkLst>
        </pc:spChg>
        <pc:spChg chg="mod">
          <ac:chgData name="Giannis Papadopoulos" userId="011f885267094b50" providerId="LiveId" clId="{1CA7F863-120F-4338-B7D1-787104A621F1}" dt="2026-09-27T13:21:40.328" v="227" actId="1076"/>
          <ac:spMkLst>
            <pc:docMk/>
            <pc:sldMk cId="2301649463" sldId="286"/>
            <ac:spMk id="85" creationId="{520EC7A1-081A-0099-3EDE-E511D2150D6B}"/>
          </ac:spMkLst>
        </pc:spChg>
        <pc:spChg chg="mod">
          <ac:chgData name="Giannis Papadopoulos" userId="011f885267094b50" providerId="LiveId" clId="{1CA7F863-120F-4338-B7D1-787104A621F1}" dt="2026-09-27T13:23:32.688" v="255" actId="27636"/>
          <ac:spMkLst>
            <pc:docMk/>
            <pc:sldMk cId="2301649463" sldId="286"/>
            <ac:spMk id="87" creationId="{933A1129-7F49-22E1-5CF6-6275B6136AF0}"/>
          </ac:spMkLst>
        </pc:spChg>
        <pc:spChg chg="mod">
          <ac:chgData name="Giannis Papadopoulos" userId="011f885267094b50" providerId="LiveId" clId="{1CA7F863-120F-4338-B7D1-787104A621F1}" dt="2026-09-27T13:24:54.366" v="270" actId="20577"/>
          <ac:spMkLst>
            <pc:docMk/>
            <pc:sldMk cId="2301649463" sldId="286"/>
            <ac:spMk id="89" creationId="{D9ABCB87-4F3B-B3CB-06A7-7E2B171A4304}"/>
          </ac:spMkLst>
        </pc:spChg>
        <pc:spChg chg="add del mod">
          <ac:chgData name="Giannis Papadopoulos" userId="011f885267094b50" providerId="LiveId" clId="{1CA7F863-120F-4338-B7D1-787104A621F1}" dt="2026-09-27T13:10:09.073" v="96"/>
          <ac:spMkLst>
            <pc:docMk/>
            <pc:sldMk cId="2301649463" sldId="286"/>
            <ac:spMk id="90" creationId="{C73D3842-EE38-80F0-50F9-62A6D3768B0E}"/>
          </ac:spMkLst>
        </pc:spChg>
        <pc:spChg chg="add mod">
          <ac:chgData name="Giannis Papadopoulos" userId="011f885267094b50" providerId="LiveId" clId="{1CA7F863-120F-4338-B7D1-787104A621F1}" dt="2026-09-27T13:10:28.741" v="99"/>
          <ac:spMkLst>
            <pc:docMk/>
            <pc:sldMk cId="2301649463" sldId="286"/>
            <ac:spMk id="92" creationId="{2AFE0213-A0F9-55E1-0B11-218D6AC4AEEA}"/>
          </ac:spMkLst>
        </pc:spChg>
        <pc:spChg chg="add mod">
          <ac:chgData name="Giannis Papadopoulos" userId="011f885267094b50" providerId="LiveId" clId="{1CA7F863-120F-4338-B7D1-787104A621F1}" dt="2026-09-27T13:10:21.642" v="98" actId="1076"/>
          <ac:spMkLst>
            <pc:docMk/>
            <pc:sldMk cId="2301649463" sldId="286"/>
            <ac:spMk id="94" creationId="{ECA9056A-4BE4-B9B9-4025-CEC3DC6C1854}"/>
          </ac:spMkLst>
        </pc:spChg>
        <pc:spChg chg="add mod">
          <ac:chgData name="Giannis Papadopoulos" userId="011f885267094b50" providerId="LiveId" clId="{1CA7F863-120F-4338-B7D1-787104A621F1}" dt="2026-09-27T13:15:08.863" v="161" actId="255"/>
          <ac:spMkLst>
            <pc:docMk/>
            <pc:sldMk cId="2301649463" sldId="286"/>
            <ac:spMk id="98" creationId="{BC1D7749-E810-2EC4-E4E9-8AF61A3ABBED}"/>
          </ac:spMkLst>
        </pc:spChg>
        <pc:spChg chg="add mod">
          <ac:chgData name="Giannis Papadopoulos" userId="011f885267094b50" providerId="LiveId" clId="{1CA7F863-120F-4338-B7D1-787104A621F1}" dt="2026-09-27T13:19:10.373" v="203" actId="1076"/>
          <ac:spMkLst>
            <pc:docMk/>
            <pc:sldMk cId="2301649463" sldId="286"/>
            <ac:spMk id="100" creationId="{CEDF9651-99C6-44B8-8B99-9836584341DB}"/>
          </ac:spMkLst>
        </pc:spChg>
        <pc:spChg chg="add mod">
          <ac:chgData name="Giannis Papadopoulos" userId="011f885267094b50" providerId="LiveId" clId="{1CA7F863-120F-4338-B7D1-787104A621F1}" dt="2026-09-27T13:20:10.449" v="222" actId="20577"/>
          <ac:spMkLst>
            <pc:docMk/>
            <pc:sldMk cId="2301649463" sldId="286"/>
            <ac:spMk id="102" creationId="{584B9D63-DF6F-EF49-F2C8-EC254A19BED6}"/>
          </ac:spMkLst>
        </pc:spChg>
        <pc:spChg chg="add mod">
          <ac:chgData name="Giannis Papadopoulos" userId="011f885267094b50" providerId="LiveId" clId="{1CA7F863-120F-4338-B7D1-787104A621F1}" dt="2026-09-27T13:24:11.417" v="264" actId="255"/>
          <ac:spMkLst>
            <pc:docMk/>
            <pc:sldMk cId="2301649463" sldId="286"/>
            <ac:spMk id="104" creationId="{D9F6B6BB-2AAE-A996-A51D-EE979BFF9FDF}"/>
          </ac:spMkLst>
        </pc:spChg>
        <pc:spChg chg="add mod">
          <ac:chgData name="Giannis Papadopoulos" userId="011f885267094b50" providerId="LiveId" clId="{1CA7F863-120F-4338-B7D1-787104A621F1}" dt="2026-09-27T13:24:42.279" v="269"/>
          <ac:spMkLst>
            <pc:docMk/>
            <pc:sldMk cId="2301649463" sldId="286"/>
            <ac:spMk id="106" creationId="{D863AAAF-FBC0-5279-E3F4-6AD066004158}"/>
          </ac:spMkLst>
        </pc:spChg>
        <pc:picChg chg="del">
          <ac:chgData name="Giannis Papadopoulos" userId="011f885267094b50" providerId="LiveId" clId="{1CA7F863-120F-4338-B7D1-787104A621F1}" dt="2026-09-27T13:11:20.516" v="102" actId="478"/>
          <ac:picMkLst>
            <pc:docMk/>
            <pc:sldMk cId="2301649463" sldId="286"/>
            <ac:picMk id="61" creationId="{D5F83319-FA11-B647-08CB-CC6A1FC1A67A}"/>
          </ac:picMkLst>
        </pc:picChg>
        <pc:picChg chg="del mod">
          <ac:chgData name="Giannis Papadopoulos" userId="011f885267094b50" providerId="LiveId" clId="{1CA7F863-120F-4338-B7D1-787104A621F1}" dt="2026-09-27T13:15:42.623" v="165" actId="478"/>
          <ac:picMkLst>
            <pc:docMk/>
            <pc:sldMk cId="2301649463" sldId="286"/>
            <ac:picMk id="69" creationId="{A6B6CB2D-CA2A-39B7-087C-2ED894A5ED45}"/>
          </ac:picMkLst>
        </pc:picChg>
        <pc:picChg chg="del mod">
          <ac:chgData name="Giannis Papadopoulos" userId="011f885267094b50" providerId="LiveId" clId="{1CA7F863-120F-4338-B7D1-787104A621F1}" dt="2026-09-27T13:18:18.839" v="185" actId="478"/>
          <ac:picMkLst>
            <pc:docMk/>
            <pc:sldMk cId="2301649463" sldId="286"/>
            <ac:picMk id="77" creationId="{4005CECD-BE7E-379B-691B-CBC4FA37EDBD}"/>
          </ac:picMkLst>
        </pc:picChg>
        <pc:picChg chg="add del mod">
          <ac:chgData name="Giannis Papadopoulos" userId="011f885267094b50" providerId="LiveId" clId="{1CA7F863-120F-4338-B7D1-787104A621F1}" dt="2026-09-27T13:24:00.965" v="259" actId="478"/>
          <ac:picMkLst>
            <pc:docMk/>
            <pc:sldMk cId="2301649463" sldId="286"/>
            <ac:picMk id="96" creationId="{B80485E3-00BB-6FD2-D69C-D0439FF2DB2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Ενδεικτικός</a:t>
            </a:r>
            <a:r>
              <a:rPr dirty="0"/>
              <a:t> </a:t>
            </a:r>
            <a:r>
              <a:rPr dirty="0" err="1"/>
              <a:t>χρόνος</a:t>
            </a:r>
            <a:r>
              <a:rPr dirty="0"/>
              <a:t>: 30 </a:t>
            </a:r>
            <a:r>
              <a:rPr dirty="0" err="1"/>
              <a:t>δευτ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Πα</a:t>
            </a:r>
            <a:r>
              <a:rPr dirty="0" err="1"/>
              <a:t>ρουσιάζω</a:t>
            </a:r>
            <a:r>
              <a:rPr dirty="0"/>
              <a:t> </a:t>
            </a:r>
            <a:r>
              <a:rPr dirty="0" err="1"/>
              <a:t>τη</a:t>
            </a:r>
            <a:r>
              <a:rPr dirty="0"/>
              <a:t> </a:t>
            </a:r>
            <a:r>
              <a:rPr dirty="0" err="1"/>
              <a:t>συνολική</a:t>
            </a:r>
            <a:r>
              <a:rPr dirty="0"/>
              <a:t> </a:t>
            </a:r>
            <a:r>
              <a:rPr dirty="0" err="1"/>
              <a:t>εργ</a:t>
            </a:r>
            <a:r>
              <a:rPr dirty="0"/>
              <a:t>ασία mesh denoising, από τους συνθετικούς θορύβους και τις κλασικές μεθόδους μέχρι το PointNet και τα δυναμικά meshes.</a:t>
            </a:r>
          </a:p>
          <a:p>
            <a:r>
              <a:rPr dirty="0" err="1"/>
              <a:t>Το</a:t>
            </a:r>
            <a:r>
              <a:rPr dirty="0"/>
              <a:t> bonus </a:t>
            </a:r>
            <a:r>
              <a:rPr dirty="0" err="1"/>
              <a:t>εξετάζει</a:t>
            </a:r>
            <a:r>
              <a:rPr dirty="0"/>
              <a:t> </a:t>
            </a:r>
            <a:r>
              <a:rPr dirty="0" err="1"/>
              <a:t>την</a:t>
            </a:r>
            <a:r>
              <a:rPr dirty="0"/>
              <a:t> π</a:t>
            </a:r>
            <a:r>
              <a:rPr dirty="0" err="1"/>
              <a:t>ερί</a:t>
            </a:r>
            <a:r>
              <a:rPr dirty="0"/>
              <a:t>πτωση όπου τα καρέ δεν έχουν κοινή αρίθμηση κορυφών.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Ενδεικτικός</a:t>
            </a:r>
            <a:r>
              <a:rPr dirty="0"/>
              <a:t> </a:t>
            </a:r>
            <a:r>
              <a:rPr dirty="0" err="1"/>
              <a:t>χρόνος</a:t>
            </a:r>
            <a:r>
              <a:rPr dirty="0"/>
              <a:t>: 10–15 </a:t>
            </a:r>
            <a:r>
              <a:rPr dirty="0" err="1"/>
              <a:t>δευτ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Η </a:t>
            </a:r>
            <a:r>
              <a:rPr dirty="0" err="1"/>
              <a:t>ενότητ</a:t>
            </a:r>
            <a:r>
              <a:rPr dirty="0"/>
              <a:t>α 1 οργανώνει τα επόμενα ερωτήματα και τα συνδέει με τον συνολικό στόχο της εργασίας.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Ενδεικτικός χρόνος: 1 λεπτό</a:t>
            </a:r>
          </a:p>
          <a:p>
            <a:endParaRPr/>
          </a:p>
          <a:p>
            <a:r>
              <a:t>Η δυσκολία είναι ότι ο θόρυβος και οι πραγματικές λεπτομέρειες εμφανίζονται και οι δύο ως τοπικές μεταβολές.</a:t>
            </a:r>
          </a:p>
          <a:p>
            <a:r>
              <a:t>Για αυτό δεν βασίζομαι μόνο στην εικόνα. Συνδυάζω γεωμετρικές και φασματικές μετρικές.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Ενδεικτικός χρόνος: 45 δευτ.</a:t>
            </a:r>
          </a:p>
          <a:p>
            <a:endParaRPr/>
          </a:p>
          <a:p>
            <a:r>
              <a:t>Η ροή παραμένει κοινή σε όλη την εργασία. Δημιουργώ ή φορτώνω θόρυβο, μετρώ την παραμόρφωση, εφαρμόζω τη μέθοδο και επαναλαμβάνω τις ίδιες μετρικές.</a:t>
            </a:r>
          </a:p>
          <a:p>
            <a:r>
              <a:t>Στο δυναμικό μέρος προστίθεται ο χρόνος. Στο bonus προηγείται registration, επειδή δεν υπάρχει κοινή αρίθμηση κορυφών.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Ενδεικτικός χρόνος: 1 λεπτό</a:t>
            </a:r>
          </a:p>
          <a:p>
            <a:endParaRPr/>
          </a:p>
          <a:p>
            <a:r>
              <a:t>Η ένταση του θορύβου κλιμακώνεται με το μέσο μήκος ακμής. Έτσι η ίδια τιμή α έχει παρόμοια σημασία σε meshes διαφορετικής κλίμακας.</a:t>
            </a:r>
          </a:p>
          <a:p>
            <a:r>
              <a:t>Ο normal noise μετακινεί την κορυφή μόνο κατά την κανονική. Ο impulse επηρεάζει λίγες κορυφές, ενώ ο quantization προσομοιώνει περιορισμένη αριθμητική ακρίβεια.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Ενδεικτικός χρόνος: 1 λεπτό</a:t>
            </a:r>
          </a:p>
          <a:p>
            <a:endParaRPr/>
          </a:p>
          <a:p>
            <a:r>
              <a:t>Καμία μετρική δεν αρκεί μόνη της. Το MSAE μπορεί να βελτιώνεται παρότι το πλέγμα συρρικνώνεται.</a:t>
            </a:r>
          </a:p>
          <a:p>
            <a:r>
              <a:t>Η Hausdorff εντοπίζει λίγα μεγάλα spikes. Το RMSE είναι άμεσο μόνο όταν γνωρίζω ποια κορυφή αντιστοιχεί σε ποια.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Ενδεικτικός χρόνος: 50 δευτ.</a:t>
            </a:r>
          </a:p>
          <a:p>
            <a:endParaRPr/>
          </a:p>
          <a:p>
            <a:r>
              <a:t>Ο πίνακας δείχνει γιατί χρειάζονται συμπληρωματικές μετρικές. Ο impulse φαίνεται ήπιος στο RMSE, αλλά έχει τη χειρότερη μέγιστη απόσταση.</a:t>
            </a:r>
          </a:p>
          <a:p>
            <a:r>
              <a:t>Οι λόγοι μεγέθους παραμένουν κοντά στη μονάδα, άρα εδώ δεν υπάρχει ακόμη shrinkage.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Ενδεικτικός χρόνος: 10–15 δευτ.</a:t>
            </a:r>
          </a:p>
          <a:p>
            <a:endParaRPr/>
          </a:p>
          <a:p>
            <a:r>
              <a:t>Η ενότητα 2 οργανώνει τα επόμενα ερωτήματα και τα συνδέει με τον συνολικό στόχο της εργασίας.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Ενδεικτικός χρόνος: 1 λεπτό</a:t>
            </a:r>
          </a:p>
          <a:p>
            <a:endParaRPr/>
          </a:p>
          <a:p>
            <a:r>
              <a:t>Χρησιμοποιώ face normals επειδή το ερώτημα και οι μέθοδοι του paper λειτουργούν πάνω στη μεταβολή των εδρών.</a:t>
            </a:r>
          </a:p>
          <a:p>
            <a:r>
              <a:t>Η γειτονιά είναι γεωμετρική k-NN στα κέντρα των εδρών. Αυτό είναι γρήγορο, αλλά εξαρτάται από την πυκνότητα της τριγωνοποίησης.</a:t>
            </a:r>
          </a:p>
          <a:p>
            <a:endParaRPr/>
          </a:p>
          <a:p>
            <a:r>
              <a:t>Πηγές:</a:t>
            </a:r>
          </a:p>
          <a:p>
            <a:r>
              <a:t>Arvanitis et al., Feature Preserving Mesh Denoising Based on Graph Spectral Processing, IEEE TVCG 25(3), 2019, DOI 10.1109/TVCG.2018.2802926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Ενδεικτικός χρόνος: 1 λεπτό</a:t>
            </a:r>
          </a:p>
          <a:p>
            <a:endParaRPr/>
          </a:p>
          <a:p>
            <a:r>
              <a:t>Το feature score προστατεύει τις πραγματικές ακμές. Το roughness εντοπίζει ασυνέπεια. Ο συνδυασμός προτιμά τραχιές περιοχές που εξακολουθούν να μοιάζουν επίπεδες.</a:t>
            </a:r>
          </a:p>
          <a:p>
            <a:r>
              <a:t>Στο τέλος μετατρέπω μεμονωμένα candidate faces σε συνεκτικές περιοχές και τις απεικονίζω με AABBs.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Ενδεικτικός χρόνος: 50 δευτ.</a:t>
            </a:r>
          </a:p>
          <a:p>
            <a:endParaRPr/>
          </a:p>
          <a:p>
            <a:r>
              <a:t>Στο πυκνό Bunny οι τοπικοί δείκτες είναι σαφέστεροι. Στο αραιό Teapot η ίδια γειτονιά k=20 καλύπτει μεγαλύτερο μέρος της επιφάνειας.</a:t>
            </a:r>
          </a:p>
          <a:p>
            <a:r>
              <a:t>Αυτό είναι σημαντικός περιορισμός της γενίκευσης και επανεμφανίζεται στο remeshing.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Ενδεικτικός χρόνος: 1 λεπτό</a:t>
            </a:r>
          </a:p>
          <a:p>
            <a:endParaRPr/>
          </a:p>
          <a:p>
            <a:r>
              <a:t>Χρησιμοποιώ random-walk Laplacian και λ=0.288. Σε κάθε iteration επανυπολογίζονται οι Laplacian coordinates.</a:t>
            </a:r>
          </a:p>
          <a:p>
            <a:r>
              <a:t>Στο Taubin εφαρμόζεται δεύτερο βήμα με μ=-1.06λ. Αυτό διατηρεί πολύ καλύτερα τον όγκο και το εμβαδόν.</a:t>
            </a:r>
          </a:p>
          <a:p>
            <a:endParaRPr/>
          </a:p>
          <a:p>
            <a:r>
              <a:t>Πηγές:</a:t>
            </a:r>
          </a:p>
          <a:p>
            <a:r>
              <a:t>G. Taubin, A Signal Processing Approach to Fair Surface Design, SIGGRAPH 1995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Ενδεικτικός χρόνος: 1 λεπτό</a:t>
            </a:r>
          </a:p>
          <a:p>
            <a:endParaRPr/>
          </a:p>
          <a:p>
            <a:r>
              <a:t>Στο Bunny το Laplacian δίνει λίγο μικρότερο MSAE, αλλά αυξάνει το L2 και το RMSE. Αυτό σημαίνει over-smoothing.</a:t>
            </a:r>
          </a:p>
          <a:p>
            <a:r>
              <a:t>Στο Teapot η συρρίκνωση είναι ακραία και αποσυνδέει οπτικά τη λαβή και το στόμιο. Το Taubin είναι σταθερά η καλύτερη γενική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Ενδεικτικός χρόνος: 1 λεπτό</a:t>
            </a:r>
          </a:p>
          <a:p>
            <a:endParaRPr/>
          </a:p>
          <a:p>
            <a:r>
              <a:t>Στις smooth περιοχές χρησιμοποιώ απευθείας τη γεωμετρική γειτονιά. Στις salient περιοχές επιλέγω patch με συνεπή normal structure.</a:t>
            </a:r>
          </a:p>
          <a:p>
            <a:r>
              <a:t>Η τελική vertex correction προκύπτει από τις signed αποστάσεις προς τα επίπεδα των incident faces.</a:t>
            </a:r>
          </a:p>
          <a:p>
            <a:r>
              <a:t>Η υλοποίηση δανείζεται τη λογική feature preservation, αλλά δεν ισχυρίζεται ότι αναπαράγει ολόκληρο το paper.</a:t>
            </a:r>
          </a:p>
          <a:p>
            <a:endParaRPr/>
          </a:p>
          <a:p>
            <a:r>
              <a:t>Πηγές:</a:t>
            </a:r>
          </a:p>
          <a:p>
            <a:r>
              <a:t>Arvanitis, Lalos, Moustakas, Fakotakis, IEEE TVCG 25(3), 2019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Ενδεικτικός χρόνος: 50 δευτ.</a:t>
            </a:r>
          </a:p>
          <a:p>
            <a:endParaRPr/>
          </a:p>
          <a:p>
            <a:r>
              <a:t>Το πυκνό Bunny παρέχει αρκετά μικρά faces ώστε τα patches να παραμένουν τοπικά. Εκεί η feature-aware μέθοδος βελτιώνει τα normals και την απόσταση από την επιφάνεια.</a:t>
            </a:r>
          </a:p>
          <a:p>
            <a:r>
              <a:t>Στο Teapot τα ίδια 20 faces καλύπτουν πολύ μεγαλύτερη περιοχή. Η ταξινόμηση και το patch selection γίνονται λιγότερο αξιόπιστα.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Ενδεικτικός χρόνος: 45 δευτ.</a:t>
            </a:r>
          </a:p>
          <a:p>
            <a:endParaRPr/>
          </a:p>
          <a:p>
            <a:r>
              <a:t>Το remeshing μειώνει περίπου στο μισό τις κορυφές και αυξάνει το μέσο μήκος ακμής. Οι οπές αλλάζουν τοπικά την τοπολογία χωρίς καθολική αλλαγή της πυκνότητας.</a:t>
            </a:r>
          </a:p>
          <a:p>
            <a:r>
              <a:t>Για δίκαιη αξιολόγηση κάθε noisy variant συγκρίνεται με τη δική του καθαρή εκδοχή.</a:t>
            </a:r>
          </a:p>
          <a:p>
            <a:endParaRPr/>
          </a:p>
          <a:p>
            <a:r>
              <a:t>Πηγές:</a:t>
            </a:r>
          </a:p>
          <a:p>
            <a:r>
              <a:t>Garland and Heckbert, Surface Simplification Using Quadric Error Metrics, SIGGRAPH 1997</a:t>
            </a:r>
          </a:p>
          <a:p>
            <a:r>
              <a:t>MeshLab, isotropic explicit remeshing workflow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Ενδεικτικός χρόνος: 1 λεπτό</a:t>
            </a:r>
          </a:p>
          <a:p>
            <a:endParaRPr/>
          </a:p>
          <a:p>
            <a:r>
              <a:t>Το Taubin βελτιώνει όλες τις βασικές αποστάσεις και διατηρεί την κλίμακα και στις δύο παραλλαγές.</a:t>
            </a:r>
          </a:p>
          <a:p>
            <a:r>
              <a:t>Στο mesh με οπές η feature-aware μέθοδος έχει το μικρότερο RMSE, αλλά το Taubin έχει καλύτερο MSAE, L2 και Hausdorff.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Ενδεικτικός χρόνος: 10–15 δευτ.</a:t>
            </a:r>
          </a:p>
          <a:p>
            <a:endParaRPr/>
          </a:p>
          <a:p>
            <a:r>
              <a:t>Η ενότητα 3 οργανώνει τα επόμενα ερωτήματα και τα συνδέει με τον συνολικό στόχο της εργασίας.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Ενδεικτικός χρόνος: 1 λεπτό και 15 δευτ.</a:t>
            </a:r>
          </a:p>
          <a:p>
            <a:endParaRPr/>
          </a:p>
          <a:p>
            <a:r>
              <a:t>Το δίκτυο παίρνει ένα local point patch και προβλέπει μόνο τη διόρθωση του κεντρικού σημείου.</a:t>
            </a:r>
          </a:p>
          <a:p>
            <a:r>
              <a:t>Το Quaternion Input T-Net προβλέπει unit quaternion, άρα ο input transform είναι καθαρή περιστροφή χωρίς scaling, shear ή reflection.</a:t>
            </a:r>
          </a:p>
          <a:p>
            <a:r>
              <a:t>Το max pooling δίνει permutation invariance ως προς τη σειρά των σημείων.</a:t>
            </a:r>
          </a:p>
          <a:p>
            <a:endParaRPr/>
          </a:p>
          <a:p>
            <a:r>
              <a:t>Πηγές:</a:t>
            </a:r>
          </a:p>
          <a:p>
            <a:r>
              <a:t>Qi et al., PointNet: Deep Learning on Point Sets for 3D Classification and Segmentation, CVPR 2017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Ενδεικτικός χρόνος: 1 λεπτό και 15 δευτ.</a:t>
            </a:r>
          </a:p>
          <a:p>
            <a:endParaRPr/>
          </a:p>
          <a:p>
            <a:r>
              <a:t>Κάθε patch κεντράρεται στο noisy center και διαιρείται με τη μέγιστη τοπική ακτίνα.</a:t>
            </a:r>
          </a:p>
          <a:p>
            <a:r>
              <a:t>Το T-Net αρχικοποιείται στην identity quaternion. Το displacement επανέρχεται με R transpose και πολλαπλασιάζεται ξανά με την ακτίνα.</a:t>
            </a:r>
          </a:p>
          <a:p>
            <a:r>
              <a:t>Η επιβλεπόμενη εκπαίδευση απαιτεί clean και noisy vertices με κοινή σειρά.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Ενδεικτικός χρόνος: 1 λεπτό</a:t>
            </a:r>
          </a:p>
          <a:p>
            <a:endParaRPr/>
          </a:p>
          <a:p>
            <a:r>
              <a:t>Ο διαχωρισμός γίνεται σε επίπεδο mesh, ώστε παρόμοια patches του ίδιου αντικειμένου να μην εμφανίζονται σε training και validation.</a:t>
            </a:r>
          </a:p>
          <a:p>
            <a:r>
              <a:t>Το best checkpoint είναι στο epoch 26 με validation MSE 0.003034. Το training σταματά στο 41 μετά από 15 epochs χωρίς βελτίωση.</a:t>
            </a:r>
          </a:p>
          <a:p>
            <a:r>
              <a:t>Στο inference δημιουργείται ένα patch για κάθε vertex και το αρχικό connectivity χρησιμοποιείται ξανά για την ανακατασκευή του mesh.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Ενδεικτικός χρόνος: 10–15 δευτ.</a:t>
            </a:r>
          </a:p>
          <a:p>
            <a:endParaRPr/>
          </a:p>
          <a:p>
            <a:r>
              <a:t>Η ενότητα 4 οργανώνει τα επόμενα ερωτήματα και τα συνδέει με τον συνολικό στόχο της εργασίας.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Ενδεικτικός χρόνος: 1 λεπτό και 20 δευτ.</a:t>
            </a:r>
          </a:p>
          <a:p>
            <a:endParaRPr/>
          </a:p>
          <a:p>
            <a:r>
              <a:t>Η γνωστή correspondence επιτρέπει να σχηματίσω την τροχιά κάθε vertex στον χρόνο.</a:t>
            </a:r>
          </a:p>
          <a:p>
            <a:r>
              <a:t>Υπολογίζω μία κοινή eigenbasis από το topology, μεταφέρω κάθε frame στο graph spectral domain και οργανώνω τις υψηλές συχνότητες σε temporal matrices.</a:t>
            </a:r>
          </a:p>
          <a:p>
            <a:r>
              <a:t>Η low-rank συνιστώσα κρατά τη χρονικά συνεπή γεωμετρία. Το ασυνεπές υπόλοιπο αποδίδεται στον θόρυβο.</a:t>
            </a:r>
          </a:p>
          <a:p>
            <a:endParaRPr/>
          </a:p>
          <a:p>
            <a:r>
              <a:t>Πηγές:</a:t>
            </a:r>
          </a:p>
          <a:p>
            <a:r>
              <a:t>Arvanitis, Lalos, Moustakas, Denoising of dynamic 3D meshes via low-rank spectral analysis, Computers &amp; Graphics 82, 2019, 140–151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Ενδεικτικός χρόνος: 1 λεπτό</a:t>
            </a:r>
          </a:p>
          <a:p>
            <a:endParaRPr/>
          </a:p>
          <a:p>
            <a:r>
              <a:t>Η ακολουθία Bouncing έχει 175 frames, 10,002 vertices και 20,000 faces ανά frame.</a:t>
            </a:r>
          </a:p>
          <a:p>
            <a:r>
              <a:t>Η κοινή κλίμακα χρώματος αποτρέπει παραπλανητική σύγκριση. Η μετατόπιση προς το μπλε αντιστοιχεί σε πραγματική μείωση του angular normal error.</a:t>
            </a:r>
          </a:p>
          <a:p>
            <a:r>
              <a:t>Το MSAE μειώνεται κατά 52% και το L2 surface error κατά 47.7%.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Ενδεικτικός χρόνος: 1 λεπτό και 30 δευτ.</a:t>
            </a:r>
          </a:p>
          <a:p>
            <a:endParaRPr/>
          </a:p>
          <a:p>
            <a:r>
              <a:t>Το CPD θεωρεί τα moving points centroids ενός Gaussian mixture model. Στο E-step υπολογίζει soft correspondences και στο M-step λύνει γραμμικό σύστημα για το ομαλό deformation field.</a:t>
            </a:r>
          </a:p>
          <a:p>
            <a:r>
              <a:t>Η Gaussian kernel G επιβάλλει coherent κίνηση γειτονικών σημείων. Η regularization περιορίζει folding και υπερβολικές τοπικές παραμορφώσεις.</a:t>
            </a:r>
          </a:p>
          <a:p>
            <a:r>
              <a:t>Στο demo frame 0 προς frame 35 το Chamfer μειώνεται από 0.1906 σε 0.0301.</a:t>
            </a:r>
          </a:p>
          <a:p>
            <a:endParaRPr/>
          </a:p>
          <a:p>
            <a:r>
              <a:t>Πηγές:</a:t>
            </a:r>
          </a:p>
          <a:p>
            <a:r>
              <a:t>Myronenko and Song, Point Set Registration: Coherent Point Drift, IEEE TPAMI 32(12), 2010, DOI 10.1109/TPAMI.2010.46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Ενδεικτικός χρόνος: 1 λεπτό και 15 δευτ.</a:t>
            </a:r>
          </a:p>
          <a:p>
            <a:endParaRPr/>
          </a:p>
          <a:p>
            <a:r>
              <a:t>Για κάθε target frame παραμορφώνω ανεξάρτητα την topology του canonical frame 0. Έτσι όλα τα registered frames αποκτούν κοινό vertex και face array.</a:t>
            </a:r>
          </a:p>
          <a:p>
            <a:r>
              <a:t>Η μέση μείωση Chamfer είναι 73.7% στο Bouncing και 67.7% στο Swing. Μετά το CPD, η ίδια temporal μέθοδος μειώνει το MSAE περίπου 42% με 45%.</a:t>
            </a:r>
          </a:p>
          <a:p>
            <a:r>
              <a:t>Η αντιστοίχιση είναι χρήσιμη υπολογιστικά, αλλά δεν αποδεικνύει ότι κάθε vertex ακολουθεί το ίδιο ανατομικό σημείο.</a:t>
            </a:r>
          </a:p>
          <a:p>
            <a:endParaRPr/>
          </a:p>
          <a:p>
            <a:r>
              <a:t>Πηγές:</a:t>
            </a:r>
          </a:p>
          <a:p>
            <a:r>
              <a:t>Vlasic et al., Articulated Mesh Animation from Multi-view Silhouettes, ACM TOG 27(3), 2008</a:t>
            </a:r>
          </a:p>
          <a:p>
            <a:r>
              <a:t>MIT CSAIL mesh animation dataset: https://people.csail.mit.edu/drdaniel/mesh_animation/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Ενδεικτικός χρόνος: 1 λεπτό</a:t>
            </a:r>
          </a:p>
          <a:p>
            <a:endParaRPr/>
          </a:p>
          <a:p>
            <a:r>
              <a:t>Το βασικό συμπέρασμα είναι ότι η καλύτερη μέθοδος εξαρτάται από την πυκνότητα, το topology και το αν υπάρχει correspondence.</a:t>
            </a:r>
          </a:p>
          <a:p>
            <a:r>
              <a:t>Για την εργασία, το Taubin είναι η ασφαλέστερη baseline. Το feature-aware, το PointNet και το temporal pipeline δίνουν πιο εξειδικευμένες βελτιώσεις.</a:t>
            </a:r>
          </a:p>
          <a:p>
            <a:r>
              <a:t>Για ερευνητική συνέχεια έχει νόημα η σύγκριση με functional maps και η ενσωμάτωση confidence από το registration.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Ενδεικτικός χρόνος: 20–30 δευτ.</a:t>
            </a:r>
          </a:p>
          <a:p>
            <a:endParaRPr/>
          </a:p>
          <a:p>
            <a:r>
              <a:t>Αναφέρω τις κύριες πηγές πάνω στις οποίες στηρίχθηκαν τα επιμέρους στάδια της υλοποίησης.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Ενδεικτικός χρόνος: κλείσιμο</a:t>
            </a:r>
          </a:p>
          <a:p>
            <a:endParaRPr/>
          </a:p>
          <a:p>
            <a:r>
              <a:t>Σταματώ εδώ και περνάω στις ερωτήσεις.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jpe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10.png"/><Relationship Id="rId5" Type="http://schemas.openxmlformats.org/officeDocument/2006/relationships/image" Target="../media/image6.png"/><Relationship Id="rId10" Type="http://schemas.openxmlformats.org/officeDocument/2006/relationships/image" Target="../media/image9.png"/><Relationship Id="rId4" Type="http://schemas.openxmlformats.org/officeDocument/2006/relationships/image" Target="../media/image5.png"/><Relationship Id="rId9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1.jpeg"/><Relationship Id="rId7" Type="http://schemas.openxmlformats.org/officeDocument/2006/relationships/image" Target="../media/image5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86BEAF5-0A49-1F0B-3914-46D2BAD12CE8}"/>
              </a:ext>
            </a:extLst>
          </p:cNvPr>
          <p:cNvSpPr>
            <a:spLocks noGrp="1"/>
          </p:cNvSpPr>
          <p:nvPr/>
        </p:nvSpPr>
        <p:spPr>
          <a:xfrm>
            <a:off x="533400" y="552450"/>
            <a:ext cx="7239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2100" b="0" i="0">
                <a:solidFill>
                  <a:srgbClr val="304A8C"/>
                </a:solidFill>
                <a:latin typeface="Calibri"/>
                <a:ea typeface="Calibri"/>
                <a:cs typeface="Calibri"/>
              </a:defRPr>
            </a:pPr>
            <a:endParaRPr sz="2100" b="0" i="0" dirty="0">
              <a:solidFill>
                <a:srgbClr val="304A8C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FE71E4C3-45B9-A84A-6C79-40457B7DD81E}"/>
              </a:ext>
            </a:extLst>
          </p:cNvPr>
          <p:cNvSpPr>
            <a:spLocks noGrp="1"/>
          </p:cNvSpPr>
          <p:nvPr/>
        </p:nvSpPr>
        <p:spPr>
          <a:xfrm>
            <a:off x="438150" y="6477000"/>
            <a:ext cx="11315700" cy="0"/>
          </a:xfrm>
          <a:prstGeom prst="line">
            <a:avLst/>
          </a:prstGeom>
          <a:noFill/>
          <a:ln w="19050">
            <a:solidFill>
              <a:srgbClr val="445E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B3122A58-229A-04B2-8211-DFEDA177F6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438150" y="6534150"/>
            <a:ext cx="247650" cy="24765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1CC82779-F4B4-E41C-18DE-A1B1B2D6A839}"/>
              </a:ext>
            </a:extLst>
          </p:cNvPr>
          <p:cNvSpPr>
            <a:spLocks noGrp="1"/>
          </p:cNvSpPr>
          <p:nvPr/>
        </p:nvSpPr>
        <p:spPr>
          <a:xfrm>
            <a:off x="781050" y="6553200"/>
            <a:ext cx="82867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Mesh Denoising | 3D Υπολογιστική Όραση και Γεωμετρία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C10F238-F6C1-DBB0-2C60-793D5601AA3E}"/>
              </a:ext>
            </a:extLst>
          </p:cNvPr>
          <p:cNvSpPr>
            <a:spLocks noGrp="1"/>
          </p:cNvSpPr>
          <p:nvPr/>
        </p:nvSpPr>
        <p:spPr>
          <a:xfrm>
            <a:off x="11334750" y="6553200"/>
            <a:ext cx="3619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547676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rcRect l="28788" r="28788"/>
          <a:stretch>
            <a:fillRect/>
          </a:stretch>
        </p:blipFill>
        <p:spPr>
          <a:xfrm>
            <a:off x="0" y="0"/>
            <a:ext cx="457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AA13B1B-FED1-4D3D-A030-EFA914FDD53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142B5A">
              <a:alpha val="33333"/>
            </a:srgbClr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4803586-CCE6-4B56-8089-F8488D68A7E2}"/>
              </a:ext>
            </a:extLst>
          </p:cNvPr>
          <p:cNvSpPr>
            <a:spLocks noGrp="1"/>
          </p:cNvSpPr>
          <p:nvPr/>
        </p:nvSpPr>
        <p:spPr>
          <a:xfrm>
            <a:off x="5381625" y="1104900"/>
            <a:ext cx="59055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3900" b="1" i="0">
                <a:solidFill>
                  <a:srgbClr val="1E1E1E"/>
                </a:solidFill>
                <a:latin typeface="Calibri"/>
                <a:ea typeface="Calibri"/>
                <a:cs typeface="Calibri"/>
              </a:defRPr>
            </a:pPr>
            <a:r>
              <a:rPr sz="3900" b="1" i="0" dirty="0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Mesh Denoising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194D644-2F96-4853-B2E4-498E94810B74}"/>
              </a:ext>
            </a:extLst>
          </p:cNvPr>
          <p:cNvSpPr>
            <a:spLocks noGrp="1"/>
          </p:cNvSpPr>
          <p:nvPr/>
        </p:nvSpPr>
        <p:spPr>
          <a:xfrm>
            <a:off x="5410200" y="1857375"/>
            <a:ext cx="561975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875" b="0" i="0">
                <a:solidFill>
                  <a:srgbClr val="445EA3"/>
                </a:solidFill>
                <a:latin typeface="Calibri"/>
                <a:ea typeface="Calibri"/>
                <a:cs typeface="Calibri"/>
              </a:defRPr>
            </a:pPr>
            <a:r>
              <a:rPr sz="1875" b="0" i="0" dirty="0" err="1">
                <a:solidFill>
                  <a:srgbClr val="445EA3"/>
                </a:solidFill>
                <a:latin typeface="Calibri"/>
                <a:ea typeface="Calibri"/>
                <a:cs typeface="Calibri"/>
              </a:rPr>
              <a:t>Στ</a:t>
            </a:r>
            <a:r>
              <a:rPr sz="1875" b="0" i="0" dirty="0">
                <a:solidFill>
                  <a:srgbClr val="445EA3"/>
                </a:solidFill>
                <a:latin typeface="Calibri"/>
                <a:ea typeface="Calibri"/>
                <a:cs typeface="Calibri"/>
              </a:rPr>
              <a:t>ατικά και δυναμικά τριγωνικά πλέγματα</a:t>
            </a: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292211C6-48AC-4E16-961F-DF4964598F08}"/>
              </a:ext>
            </a:extLst>
          </p:cNvPr>
          <p:cNvSpPr>
            <a:spLocks noGrp="1"/>
          </p:cNvSpPr>
          <p:nvPr/>
        </p:nvSpPr>
        <p:spPr>
          <a:xfrm>
            <a:off x="5410200" y="2571750"/>
            <a:ext cx="3619500" cy="0"/>
          </a:xfrm>
          <a:prstGeom prst="line">
            <a:avLst/>
          </a:prstGeom>
          <a:noFill/>
          <a:ln w="19050">
            <a:solidFill>
              <a:srgbClr val="445E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E59DFD3-CCE5-4DA3-A69E-EB4FC7B14F25}"/>
              </a:ext>
            </a:extLst>
          </p:cNvPr>
          <p:cNvSpPr>
            <a:spLocks noGrp="1"/>
          </p:cNvSpPr>
          <p:nvPr/>
        </p:nvSpPr>
        <p:spPr>
          <a:xfrm>
            <a:off x="5410200" y="2876550"/>
            <a:ext cx="56197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425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1425" b="0" i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3D Υπολογιστική Όραση και Γεωμετρία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C30C868-CD2C-4E64-950B-06EFDC5E4B25}"/>
              </a:ext>
            </a:extLst>
          </p:cNvPr>
          <p:cNvSpPr>
            <a:spLocks noGrp="1"/>
          </p:cNvSpPr>
          <p:nvPr/>
        </p:nvSpPr>
        <p:spPr>
          <a:xfrm>
            <a:off x="5410200" y="3762375"/>
            <a:ext cx="49530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18000"/>
              </a:lnSpc>
              <a:buNone/>
              <a:defRPr sz="1425" b="0" i="0">
                <a:solidFill>
                  <a:srgbClr val="1E1E1E"/>
                </a:solidFill>
                <a:latin typeface="Calibri"/>
                <a:ea typeface="Calibri"/>
                <a:cs typeface="Calibri"/>
              </a:defRPr>
            </a:pPr>
            <a:r>
              <a:rPr sz="1425" b="0" i="0" dirty="0" err="1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Μάριος</a:t>
            </a:r>
            <a:r>
              <a:rPr sz="1425" b="0" i="0" dirty="0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25" b="0" i="0" dirty="0" err="1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Ιωάννης</a:t>
            </a:r>
            <a:r>
              <a:rPr sz="1425" b="0" i="0" dirty="0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 Παπα</a:t>
            </a:r>
            <a:r>
              <a:rPr sz="1425" b="0" i="0" dirty="0" err="1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δό</a:t>
            </a:r>
            <a:r>
              <a:rPr sz="1425" b="0" i="0" dirty="0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πουλος</a:t>
            </a:r>
          </a:p>
          <a:p>
            <a:pPr algn="l">
              <a:lnSpc>
                <a:spcPct val="118000"/>
              </a:lnSpc>
              <a:buNone/>
              <a:defRPr sz="1425" b="0" i="0">
                <a:solidFill>
                  <a:srgbClr val="1E1E1E"/>
                </a:solidFill>
                <a:latin typeface="Calibri"/>
                <a:ea typeface="Calibri"/>
                <a:cs typeface="Calibri"/>
              </a:defRPr>
            </a:pPr>
            <a:r>
              <a:rPr sz="1425" b="0" i="0" dirty="0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ΑΜ 1092834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607BD0D-BA33-438C-BDE7-78596D11FEDE}"/>
              </a:ext>
            </a:extLst>
          </p:cNvPr>
          <p:cNvSpPr>
            <a:spLocks noGrp="1"/>
          </p:cNvSpPr>
          <p:nvPr/>
        </p:nvSpPr>
        <p:spPr>
          <a:xfrm>
            <a:off x="5410200" y="4810125"/>
            <a:ext cx="561975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200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1200" b="0" i="0" dirty="0" err="1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Τμήμ</a:t>
            </a:r>
            <a:r>
              <a:rPr sz="1200" b="0" i="0" dirty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α Ηλεκτρολόγων Μηχανικών και Τεχνολογίας Υπολογιστών</a:t>
            </a:r>
          </a:p>
          <a:p>
            <a:pPr algn="l">
              <a:lnSpc>
                <a:spcPct val="116000"/>
              </a:lnSpc>
              <a:buNone/>
              <a:defRPr sz="1200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1200" b="0" i="0" dirty="0" err="1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Ακ</a:t>
            </a:r>
            <a:r>
              <a:rPr sz="1200" b="0" i="0" dirty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αδ. </a:t>
            </a:r>
            <a:r>
              <a:rPr sz="1200" b="0" i="0" dirty="0" err="1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έτος</a:t>
            </a:r>
            <a:r>
              <a:rPr sz="1200" b="0" i="0" dirty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 2025–2026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401300" y="5657850"/>
            <a:ext cx="781050" cy="78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79879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A379116-46C1-4A65-BB03-F70F532C5A5C}"/>
              </a:ext>
            </a:extLst>
          </p:cNvPr>
          <p:cNvSpPr>
            <a:spLocks noGrp="1"/>
          </p:cNvSpPr>
          <p:nvPr/>
        </p:nvSpPr>
        <p:spPr>
          <a:xfrm>
            <a:off x="533400" y="552450"/>
            <a:ext cx="723900" cy="723900"/>
          </a:xfrm>
          <a:prstGeom prst="rect">
            <a:avLst/>
          </a:prstGeom>
          <a:solidFill>
            <a:srgbClr val="E8EEF9"/>
          </a:solidFill>
          <a:ln w="9525">
            <a:solidFill>
              <a:srgbClr val="BFCB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4C74DCE-C4ED-49D9-A342-855C48365FB2}"/>
              </a:ext>
            </a:extLst>
          </p:cNvPr>
          <p:cNvSpPr>
            <a:spLocks noGrp="1"/>
          </p:cNvSpPr>
          <p:nvPr/>
        </p:nvSpPr>
        <p:spPr>
          <a:xfrm>
            <a:off x="533400" y="552450"/>
            <a:ext cx="7239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2100" b="0" i="0">
                <a:solidFill>
                  <a:srgbClr val="304A8C"/>
                </a:solidFill>
                <a:latin typeface="Calibri"/>
                <a:ea typeface="Calibri"/>
                <a:cs typeface="Calibri"/>
              </a:defRPr>
            </a:pPr>
            <a:r>
              <a:rPr sz="2100" b="0" i="0">
                <a:solidFill>
                  <a:srgbClr val="304A8C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AF0BE0C-3851-47B7-A7D5-CAB9272A128D}"/>
              </a:ext>
            </a:extLst>
          </p:cNvPr>
          <p:cNvSpPr>
            <a:spLocks noGrp="1"/>
          </p:cNvSpPr>
          <p:nvPr/>
        </p:nvSpPr>
        <p:spPr>
          <a:xfrm>
            <a:off x="1762125" y="2333625"/>
            <a:ext cx="49530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2400" b="0" i="0">
                <a:solidFill>
                  <a:srgbClr val="445EA3"/>
                </a:solidFill>
                <a:latin typeface="Calibri"/>
                <a:ea typeface="Calibri"/>
                <a:cs typeface="Calibri"/>
              </a:defRPr>
            </a:pPr>
            <a:r>
              <a:rPr sz="2400" b="0" i="0">
                <a:solidFill>
                  <a:srgbClr val="445EA3"/>
                </a:solidFill>
                <a:latin typeface="Calibri"/>
                <a:ea typeface="Calibri"/>
                <a:cs typeface="Calibri"/>
              </a:rPr>
              <a:t>Πρόβλημα και αξιολόγηση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82752086-46BF-433B-8125-2CCB967B128D}"/>
              </a:ext>
            </a:extLst>
          </p:cNvPr>
          <p:cNvSpPr>
            <a:spLocks noGrp="1"/>
          </p:cNvSpPr>
          <p:nvPr/>
        </p:nvSpPr>
        <p:spPr>
          <a:xfrm>
            <a:off x="2667000" y="3095625"/>
            <a:ext cx="3143250" cy="0"/>
          </a:xfrm>
          <a:prstGeom prst="line">
            <a:avLst/>
          </a:prstGeom>
          <a:noFill/>
          <a:ln w="19050">
            <a:solidFill>
              <a:srgbClr val="445E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E3982E7-A120-4283-BBFF-F62E541A1CC8}"/>
              </a:ext>
            </a:extLst>
          </p:cNvPr>
          <p:cNvSpPr>
            <a:spLocks noGrp="1"/>
          </p:cNvSpPr>
          <p:nvPr/>
        </p:nvSpPr>
        <p:spPr>
          <a:xfrm>
            <a:off x="2762250" y="3333750"/>
            <a:ext cx="3048000" cy="15240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marL="279400" indent="-139700" algn="l">
              <a:lnSpc>
                <a:spcPct val="108000"/>
              </a:lnSpc>
              <a:spcAft>
                <a:spcPts val="700"/>
              </a:spcAft>
              <a:buNone/>
              <a:defRPr sz="1425" b="0" i="0">
                <a:solidFill>
                  <a:srgbClr val="304A8C"/>
                </a:solidFill>
                <a:latin typeface="Calibri"/>
                <a:ea typeface="Calibri"/>
                <a:cs typeface="Calibri"/>
              </a:defRPr>
            </a:pPr>
            <a:r>
              <a:rPr sz="1425">
                <a:solidFill>
                  <a:srgbClr val="304A8C"/>
                </a:solidFill>
                <a:latin typeface="Calibri"/>
                <a:ea typeface="Calibri"/>
                <a:cs typeface="Calibri"/>
              </a:rPr>
              <a:t>Τύποι θορύβου</a:t>
            </a:r>
          </a:p>
          <a:p>
            <a:pPr marL="279400" indent="-139700" algn="l">
              <a:lnSpc>
                <a:spcPct val="108000"/>
              </a:lnSpc>
              <a:spcAft>
                <a:spcPts val="700"/>
              </a:spcAft>
              <a:buNone/>
              <a:defRPr sz="1425" b="0" i="0">
                <a:solidFill>
                  <a:srgbClr val="304A8C"/>
                </a:solidFill>
                <a:latin typeface="Calibri"/>
                <a:ea typeface="Calibri"/>
                <a:cs typeface="Calibri"/>
              </a:defRPr>
            </a:pPr>
            <a:r>
              <a:rPr sz="1425">
                <a:solidFill>
                  <a:srgbClr val="304A8C"/>
                </a:solidFill>
                <a:latin typeface="Calibri"/>
                <a:ea typeface="Calibri"/>
                <a:cs typeface="Calibri"/>
              </a:rPr>
              <a:t>Μετρικές σφάλματος</a:t>
            </a:r>
          </a:p>
          <a:p>
            <a:pPr marL="279400" indent="-139700" algn="l">
              <a:lnSpc>
                <a:spcPct val="108000"/>
              </a:lnSpc>
              <a:spcAft>
                <a:spcPts val="700"/>
              </a:spcAft>
              <a:buNone/>
              <a:defRPr sz="1425" b="0" i="0">
                <a:solidFill>
                  <a:srgbClr val="304A8C"/>
                </a:solidFill>
                <a:latin typeface="Calibri"/>
                <a:ea typeface="Calibri"/>
                <a:cs typeface="Calibri"/>
              </a:defRPr>
            </a:pPr>
            <a:r>
              <a:rPr sz="1425">
                <a:solidFill>
                  <a:srgbClr val="304A8C"/>
                </a:solidFill>
                <a:latin typeface="Calibri"/>
                <a:ea typeface="Calibri"/>
                <a:cs typeface="Calibri"/>
              </a:rPr>
              <a:t>Πειραματική βάση</a:t>
            </a:r>
          </a:p>
        </p:txBody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658F4F6E-9033-401A-A4B1-002A74C44A19}"/>
              </a:ext>
            </a:extLst>
          </p:cNvPr>
          <p:cNvSpPr>
            <a:spLocks noGrp="1"/>
          </p:cNvSpPr>
          <p:nvPr/>
        </p:nvSpPr>
        <p:spPr>
          <a:xfrm>
            <a:off x="7239000" y="809625"/>
            <a:ext cx="0" cy="0"/>
          </a:xfrm>
          <a:prstGeom prst="line">
            <a:avLst/>
          </a:prstGeom>
          <a:noFill/>
          <a:ln w="9525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858125" y="1712196"/>
            <a:ext cx="3143250" cy="2957359"/>
          </a:xfrm>
          <a:prstGeom prst="roundRect">
            <a:avLst>
              <a:gd name="adj" fmla="val 3636"/>
            </a:avLst>
          </a:prstGeom>
        </p:spPr>
      </p:pic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83F6149F-FF4A-4BC1-A71C-8E2D18BC3FA9}"/>
              </a:ext>
            </a:extLst>
          </p:cNvPr>
          <p:cNvSpPr>
            <a:spLocks noGrp="1"/>
          </p:cNvSpPr>
          <p:nvPr/>
        </p:nvSpPr>
        <p:spPr>
          <a:xfrm>
            <a:off x="438150" y="6477000"/>
            <a:ext cx="11315700" cy="0"/>
          </a:xfrm>
          <a:prstGeom prst="line">
            <a:avLst/>
          </a:prstGeom>
          <a:noFill/>
          <a:ln w="19050">
            <a:solidFill>
              <a:srgbClr val="445E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38150" y="6534150"/>
            <a:ext cx="247650" cy="24765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E2B0C5F-34D4-4A58-8BF1-2BB4419C41CC}"/>
              </a:ext>
            </a:extLst>
          </p:cNvPr>
          <p:cNvSpPr>
            <a:spLocks noGrp="1"/>
          </p:cNvSpPr>
          <p:nvPr/>
        </p:nvSpPr>
        <p:spPr>
          <a:xfrm>
            <a:off x="781050" y="6553200"/>
            <a:ext cx="82867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Mesh Denoising | 3D Υπολογιστική Όραση και Γεωμετρία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8BA41B9-FE4F-42D3-AD17-AABC48E140BF}"/>
              </a:ext>
            </a:extLst>
          </p:cNvPr>
          <p:cNvSpPr>
            <a:spLocks noGrp="1"/>
          </p:cNvSpPr>
          <p:nvPr/>
        </p:nvSpPr>
        <p:spPr>
          <a:xfrm>
            <a:off x="11334750" y="6553200"/>
            <a:ext cx="3619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9900490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53F6C738-D7B0-410B-A3A2-ADAC6146E7BE}"/>
              </a:ext>
            </a:extLst>
          </p:cNvPr>
          <p:cNvSpPr>
            <a:spLocks noGrp="1"/>
          </p:cNvSpPr>
          <p:nvPr/>
        </p:nvSpPr>
        <p:spPr>
          <a:xfrm>
            <a:off x="457200" y="381000"/>
            <a:ext cx="2286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00" b="1" i="0">
                <a:solidFill>
                  <a:srgbClr val="445EA3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445EA3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5FE4BCA9-2DCD-4DE3-A8CF-102D9A3855E1}"/>
              </a:ext>
            </a:extLst>
          </p:cNvPr>
          <p:cNvSpPr>
            <a:spLocks noGrp="1"/>
          </p:cNvSpPr>
          <p:nvPr/>
        </p:nvSpPr>
        <p:spPr>
          <a:xfrm>
            <a:off x="714375" y="466725"/>
            <a:ext cx="19050" cy="0"/>
          </a:xfrm>
          <a:prstGeom prst="line">
            <a:avLst/>
          </a:prstGeom>
          <a:noFill/>
          <a:ln w="19050">
            <a:solidFill>
              <a:srgbClr val="445E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21212F8-3934-4018-BD17-AD6AB91167C4}"/>
              </a:ext>
            </a:extLst>
          </p:cNvPr>
          <p:cNvSpPr>
            <a:spLocks noGrp="1"/>
          </p:cNvSpPr>
          <p:nvPr/>
        </p:nvSpPr>
        <p:spPr>
          <a:xfrm>
            <a:off x="838200" y="323850"/>
            <a:ext cx="10715625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550" b="0" i="0">
                <a:solidFill>
                  <a:srgbClr val="445EA3"/>
                </a:solidFill>
                <a:latin typeface="Calibri"/>
                <a:ea typeface="Calibri"/>
                <a:cs typeface="Calibri"/>
              </a:defRPr>
            </a:pPr>
            <a:r>
              <a:rPr sz="2550" b="0" i="0">
                <a:solidFill>
                  <a:srgbClr val="445EA3"/>
                </a:solidFill>
                <a:latin typeface="Calibri"/>
                <a:ea typeface="Calibri"/>
                <a:cs typeface="Calibri"/>
              </a:rPr>
              <a:t>Στόχος της εργασίας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63A38CC3-25D8-4955-843A-9265EABB2873}"/>
              </a:ext>
            </a:extLst>
          </p:cNvPr>
          <p:cNvSpPr>
            <a:spLocks noGrp="1"/>
          </p:cNvSpPr>
          <p:nvPr/>
        </p:nvSpPr>
        <p:spPr>
          <a:xfrm>
            <a:off x="438150" y="6477000"/>
            <a:ext cx="11315700" cy="0"/>
          </a:xfrm>
          <a:prstGeom prst="line">
            <a:avLst/>
          </a:prstGeom>
          <a:noFill/>
          <a:ln w="19050">
            <a:solidFill>
              <a:srgbClr val="445E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38150" y="6534150"/>
            <a:ext cx="247650" cy="24765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31CF820-6FBF-433F-A4A4-F03EA4F0C670}"/>
              </a:ext>
            </a:extLst>
          </p:cNvPr>
          <p:cNvSpPr>
            <a:spLocks noGrp="1"/>
          </p:cNvSpPr>
          <p:nvPr/>
        </p:nvSpPr>
        <p:spPr>
          <a:xfrm>
            <a:off x="781050" y="6553200"/>
            <a:ext cx="82867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Mesh Denoising | 3D Υπολογιστική Όραση και Γεωμετρία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DF5F1FA-70E3-4949-9C4B-2BE86FA99FE0}"/>
              </a:ext>
            </a:extLst>
          </p:cNvPr>
          <p:cNvSpPr>
            <a:spLocks noGrp="1"/>
          </p:cNvSpPr>
          <p:nvPr/>
        </p:nvSpPr>
        <p:spPr>
          <a:xfrm>
            <a:off x="11334750" y="6553200"/>
            <a:ext cx="3619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71500" y="1368188"/>
            <a:ext cx="3143250" cy="2883375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3888649" y="1333500"/>
            <a:ext cx="3138351" cy="295275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D5E6C59-D52B-4DFE-92D5-29DF8E817E89}"/>
              </a:ext>
            </a:extLst>
          </p:cNvPr>
          <p:cNvSpPr>
            <a:spLocks noGrp="1"/>
          </p:cNvSpPr>
          <p:nvPr/>
        </p:nvSpPr>
        <p:spPr>
          <a:xfrm>
            <a:off x="1143000" y="4333875"/>
            <a:ext cx="2000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00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Καθαρό mesh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34C9CC1-7F10-427E-99BC-236F50FB1015}"/>
              </a:ext>
            </a:extLst>
          </p:cNvPr>
          <p:cNvSpPr>
            <a:spLocks noGrp="1"/>
          </p:cNvSpPr>
          <p:nvPr/>
        </p:nvSpPr>
        <p:spPr>
          <a:xfrm>
            <a:off x="4429125" y="4333875"/>
            <a:ext cx="2095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00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Θορυβώδες mesh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009683-AB1B-4928-96A6-52B1D76E47DE}"/>
              </a:ext>
            </a:extLst>
          </p:cNvPr>
          <p:cNvSpPr>
            <a:spLocks noGrp="1"/>
          </p:cNvSpPr>
          <p:nvPr/>
        </p:nvSpPr>
        <p:spPr>
          <a:xfrm>
            <a:off x="7524750" y="1428750"/>
            <a:ext cx="3905250" cy="27146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marL="279400" indent="-139700" algn="l">
              <a:lnSpc>
                <a:spcPct val="108000"/>
              </a:lnSpc>
              <a:spcAft>
                <a:spcPts val="700"/>
              </a:spcAft>
              <a:buNone/>
              <a:defRPr sz="1575" b="0" i="0">
                <a:solidFill>
                  <a:srgbClr val="1E1E1E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Βασικός στόχος: </a:t>
            </a:r>
            <a:r>
              <a:rPr sz="1575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μείωση θορύβου χωρίς απώλεια ακμών, γωνιών και λεπτομερειών.</a:t>
            </a:r>
          </a:p>
          <a:p>
            <a:pPr marL="279400" indent="-139700" algn="l">
              <a:lnSpc>
                <a:spcPct val="108000"/>
              </a:lnSpc>
              <a:spcAft>
                <a:spcPts val="700"/>
              </a:spcAft>
              <a:buNone/>
              <a:defRPr sz="1575" b="0" i="0">
                <a:solidFill>
                  <a:srgbClr val="1E1E1E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Αξιολόγηση: </a:t>
            </a:r>
            <a:r>
              <a:rPr sz="1575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σύγκριση θέσεων, κανονικών, τοπικής τραχύτητας και συνολικής κλίμακας.</a:t>
            </a:r>
          </a:p>
          <a:p>
            <a:pPr marL="279400" indent="-139700" algn="l">
              <a:lnSpc>
                <a:spcPct val="108000"/>
              </a:lnSpc>
              <a:spcAft>
                <a:spcPts val="700"/>
              </a:spcAft>
              <a:buNone/>
              <a:defRPr sz="1575" b="0" i="0">
                <a:solidFill>
                  <a:srgbClr val="1E1E1E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Επέκταση: </a:t>
            </a:r>
            <a:r>
              <a:rPr sz="1575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remeshing, PointNet, δυναμικές ακολουθίες και καρέ χωρίς correspondence.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F5065B6-A4CB-4585-8ADC-D8691FD72C82}"/>
              </a:ext>
            </a:extLst>
          </p:cNvPr>
          <p:cNvSpPr>
            <a:spLocks noGrp="1"/>
          </p:cNvSpPr>
          <p:nvPr/>
        </p:nvSpPr>
        <p:spPr>
          <a:xfrm>
            <a:off x="1524000" y="5191125"/>
            <a:ext cx="89535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800" b="1" i="0">
                <a:solidFill>
                  <a:srgbClr val="304A8C"/>
                </a:solidFill>
                <a:latin typeface="Calibri"/>
                <a:ea typeface="Calibri"/>
                <a:cs typeface="Calibri"/>
              </a:defRPr>
            </a:pPr>
            <a:r>
              <a:rPr sz="1800" b="1" i="0">
                <a:solidFill>
                  <a:srgbClr val="304A8C"/>
                </a:solidFill>
                <a:latin typeface="Calibri"/>
                <a:ea typeface="Calibri"/>
                <a:cs typeface="Calibri"/>
              </a:rPr>
              <a:t>Η οπτικά πιο ομαλή επιφάνεια δεν είναι απαραίτητα η γεωμετρικά σωστότερη.</a:t>
            </a:r>
          </a:p>
        </p:txBody>
      </p:sp>
    </p:spTree>
    <p:extLst>
      <p:ext uri="{BB962C8B-B14F-4D97-AF65-F5344CB8AC3E}">
        <p14:creationId xmlns:p14="http://schemas.microsoft.com/office/powerpoint/2010/main" val="1955175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26B95C1B-011D-43EA-9B7B-3C3613B093AD}"/>
              </a:ext>
            </a:extLst>
          </p:cNvPr>
          <p:cNvSpPr>
            <a:spLocks noGrp="1"/>
          </p:cNvSpPr>
          <p:nvPr/>
        </p:nvSpPr>
        <p:spPr>
          <a:xfrm>
            <a:off x="457200" y="381000"/>
            <a:ext cx="2286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00" b="1" i="0">
                <a:solidFill>
                  <a:srgbClr val="445EA3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445EA3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9ADC704F-844A-426D-A11D-03E1D1792810}"/>
              </a:ext>
            </a:extLst>
          </p:cNvPr>
          <p:cNvSpPr>
            <a:spLocks noGrp="1"/>
          </p:cNvSpPr>
          <p:nvPr/>
        </p:nvSpPr>
        <p:spPr>
          <a:xfrm>
            <a:off x="714375" y="466725"/>
            <a:ext cx="19050" cy="0"/>
          </a:xfrm>
          <a:prstGeom prst="line">
            <a:avLst/>
          </a:prstGeom>
          <a:noFill/>
          <a:ln w="19050">
            <a:solidFill>
              <a:srgbClr val="445E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F8E0DB6-BB01-44A9-B504-2F06D399ECC5}"/>
              </a:ext>
            </a:extLst>
          </p:cNvPr>
          <p:cNvSpPr>
            <a:spLocks noGrp="1"/>
          </p:cNvSpPr>
          <p:nvPr/>
        </p:nvSpPr>
        <p:spPr>
          <a:xfrm>
            <a:off x="838200" y="323850"/>
            <a:ext cx="10715625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550" b="0" i="0">
                <a:solidFill>
                  <a:srgbClr val="445EA3"/>
                </a:solidFill>
                <a:latin typeface="Calibri"/>
                <a:ea typeface="Calibri"/>
                <a:cs typeface="Calibri"/>
              </a:defRPr>
            </a:pPr>
            <a:r>
              <a:rPr sz="2550" b="0" i="0" dirty="0" err="1">
                <a:solidFill>
                  <a:srgbClr val="445EA3"/>
                </a:solidFill>
                <a:latin typeface="Calibri"/>
                <a:ea typeface="Calibri"/>
                <a:cs typeface="Calibri"/>
              </a:rPr>
              <a:t>Συνολική</a:t>
            </a:r>
            <a:r>
              <a:rPr sz="2550" b="0" i="0" dirty="0">
                <a:solidFill>
                  <a:srgbClr val="445EA3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550" b="0" i="0" dirty="0" err="1">
                <a:solidFill>
                  <a:srgbClr val="445EA3"/>
                </a:solidFill>
                <a:latin typeface="Calibri"/>
                <a:ea typeface="Calibri"/>
                <a:cs typeface="Calibri"/>
              </a:rPr>
              <a:t>ροή</a:t>
            </a:r>
            <a:endParaRPr sz="2550" b="0" i="0" dirty="0">
              <a:solidFill>
                <a:srgbClr val="445EA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C13BE85D-4358-44C3-B1CF-4A83111B34E1}"/>
              </a:ext>
            </a:extLst>
          </p:cNvPr>
          <p:cNvSpPr>
            <a:spLocks noGrp="1"/>
          </p:cNvSpPr>
          <p:nvPr/>
        </p:nvSpPr>
        <p:spPr>
          <a:xfrm>
            <a:off x="438150" y="6477000"/>
            <a:ext cx="11315700" cy="0"/>
          </a:xfrm>
          <a:prstGeom prst="line">
            <a:avLst/>
          </a:prstGeom>
          <a:noFill/>
          <a:ln w="19050">
            <a:solidFill>
              <a:srgbClr val="445E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38150" y="6534150"/>
            <a:ext cx="247650" cy="24765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061504F-B22E-4571-9BD4-C57F412D9FE1}"/>
              </a:ext>
            </a:extLst>
          </p:cNvPr>
          <p:cNvSpPr>
            <a:spLocks noGrp="1"/>
          </p:cNvSpPr>
          <p:nvPr/>
        </p:nvSpPr>
        <p:spPr>
          <a:xfrm>
            <a:off x="781050" y="6553200"/>
            <a:ext cx="82867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Mesh Denoising | 3D Υπολογιστική Όραση και Γεωμετρία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17699F-8BA9-4A4A-AD78-FD3A14D67BD7}"/>
              </a:ext>
            </a:extLst>
          </p:cNvPr>
          <p:cNvSpPr>
            <a:spLocks noGrp="1"/>
          </p:cNvSpPr>
          <p:nvPr/>
        </p:nvSpPr>
        <p:spPr>
          <a:xfrm>
            <a:off x="11334750" y="6553200"/>
            <a:ext cx="3619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AEE86C6-E39D-4A83-9068-25B3A349D2AB}"/>
              </a:ext>
            </a:extLst>
          </p:cNvPr>
          <p:cNvSpPr>
            <a:spLocks noGrp="1"/>
          </p:cNvSpPr>
          <p:nvPr/>
        </p:nvSpPr>
        <p:spPr>
          <a:xfrm>
            <a:off x="590550" y="2190750"/>
            <a:ext cx="1809750" cy="933450"/>
          </a:xfrm>
          <a:prstGeom prst="roundRect">
            <a:avLst>
              <a:gd name="adj" fmla="val 10204"/>
            </a:avLst>
          </a:prstGeom>
          <a:solidFill>
            <a:srgbClr val="E8EEF9"/>
          </a:solidFill>
          <a:ln w="13335">
            <a:solidFill>
              <a:srgbClr val="304A8C"/>
            </a:solidFill>
            <a:prstDash val="solid"/>
          </a:ln>
        </p:spPr>
        <p:txBody>
          <a:bodyPr lIns="66675" tIns="47625" rIns="66675" bIns="47625" anchor="ctr">
            <a:normAutofit/>
          </a:bodyPr>
          <a:lstStyle/>
          <a:p>
            <a:pPr algn="ctr">
              <a:defRPr sz="1350" b="1">
                <a:solidFill>
                  <a:srgbClr val="304A8C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304A8C"/>
                </a:solidFill>
                <a:latin typeface="Calibri"/>
                <a:ea typeface="Calibri"/>
                <a:cs typeface="Calibri"/>
              </a:rPr>
              <a:t>Καθαρό mesh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6B6C0D5-6C10-459A-B994-A15EDAC21F80}"/>
              </a:ext>
            </a:extLst>
          </p:cNvPr>
          <p:cNvSpPr>
            <a:spLocks noGrp="1"/>
          </p:cNvSpPr>
          <p:nvPr/>
        </p:nvSpPr>
        <p:spPr>
          <a:xfrm>
            <a:off x="590550" y="323850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25" b="1" i="0">
                <a:solidFill>
                  <a:srgbClr val="304A8C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304A8C"/>
                </a:solidFill>
                <a:latin typeface="Calibri"/>
                <a:ea typeface="Calibri"/>
                <a:cs typeface="Calibri"/>
              </a:rPr>
              <a:t>είσοδος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6FA9536E-654C-451B-86A5-A5A7977F6402}"/>
              </a:ext>
            </a:extLst>
          </p:cNvPr>
          <p:cNvSpPr>
            <a:spLocks noGrp="1"/>
          </p:cNvSpPr>
          <p:nvPr/>
        </p:nvSpPr>
        <p:spPr>
          <a:xfrm>
            <a:off x="2476500" y="2552700"/>
            <a:ext cx="304800" cy="209550"/>
          </a:xfrm>
          <a:prstGeom prst="rightArrow">
            <a:avLst/>
          </a:prstGeom>
          <a:solidFill>
            <a:srgbClr val="AEB6C4"/>
          </a:solidFill>
          <a:ln w="4763">
            <a:solidFill>
              <a:srgbClr val="AEB6C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98A5CEE-C380-476D-A786-4CE4DD1AA5A3}"/>
              </a:ext>
            </a:extLst>
          </p:cNvPr>
          <p:cNvSpPr>
            <a:spLocks noGrp="1"/>
          </p:cNvSpPr>
          <p:nvPr/>
        </p:nvSpPr>
        <p:spPr>
          <a:xfrm>
            <a:off x="2867025" y="2190750"/>
            <a:ext cx="1809750" cy="933450"/>
          </a:xfrm>
          <a:prstGeom prst="roundRect">
            <a:avLst>
              <a:gd name="adj" fmla="val 10204"/>
            </a:avLst>
          </a:prstGeom>
          <a:solidFill>
            <a:srgbClr val="FFF4E6"/>
          </a:solidFill>
          <a:ln w="13335">
            <a:solidFill>
              <a:srgbClr val="9A5A16"/>
            </a:solidFill>
            <a:prstDash val="solid"/>
          </a:ln>
        </p:spPr>
        <p:txBody>
          <a:bodyPr lIns="66675" tIns="47625" rIns="66675" bIns="47625" anchor="ctr">
            <a:normAutofit/>
          </a:bodyPr>
          <a:lstStyle/>
          <a:p>
            <a:pPr algn="ctr">
              <a:defRPr sz="1350" b="1">
                <a:solidFill>
                  <a:srgbClr val="9A5A16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9A5A16"/>
                </a:solidFill>
                <a:latin typeface="Calibri"/>
                <a:ea typeface="Calibri"/>
                <a:cs typeface="Calibri"/>
              </a:rPr>
              <a:t>Συνθετικός</a:t>
            </a:r>
          </a:p>
          <a:p>
            <a:pPr algn="ctr">
              <a:defRPr sz="1350" b="1">
                <a:solidFill>
                  <a:srgbClr val="9A5A16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9A5A16"/>
                </a:solidFill>
                <a:latin typeface="Calibri"/>
                <a:ea typeface="Calibri"/>
                <a:cs typeface="Calibri"/>
              </a:rPr>
              <a:t>θόρυβος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DAC4511-8CE6-457A-9249-9D05043242F4}"/>
              </a:ext>
            </a:extLst>
          </p:cNvPr>
          <p:cNvSpPr>
            <a:spLocks noGrp="1"/>
          </p:cNvSpPr>
          <p:nvPr/>
        </p:nvSpPr>
        <p:spPr>
          <a:xfrm>
            <a:off x="2867025" y="323850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25" b="1" i="0">
                <a:solidFill>
                  <a:srgbClr val="9A5A16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9A5A16"/>
                </a:solidFill>
                <a:latin typeface="Calibri"/>
                <a:ea typeface="Calibri"/>
                <a:cs typeface="Calibri"/>
              </a:rPr>
              <a:t>Ερ. 1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235712F4-4002-40F5-BA33-040AAB268160}"/>
              </a:ext>
            </a:extLst>
          </p:cNvPr>
          <p:cNvSpPr>
            <a:spLocks noGrp="1"/>
          </p:cNvSpPr>
          <p:nvPr/>
        </p:nvSpPr>
        <p:spPr>
          <a:xfrm>
            <a:off x="4752975" y="2552700"/>
            <a:ext cx="304800" cy="209550"/>
          </a:xfrm>
          <a:prstGeom prst="rightArrow">
            <a:avLst/>
          </a:prstGeom>
          <a:solidFill>
            <a:srgbClr val="AEB6C4"/>
          </a:solidFill>
          <a:ln w="4763">
            <a:solidFill>
              <a:srgbClr val="AEB6C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A3511A6-E208-4468-A224-333634AB0383}"/>
              </a:ext>
            </a:extLst>
          </p:cNvPr>
          <p:cNvSpPr>
            <a:spLocks noGrp="1"/>
          </p:cNvSpPr>
          <p:nvPr/>
        </p:nvSpPr>
        <p:spPr>
          <a:xfrm>
            <a:off x="5143500" y="2190750"/>
            <a:ext cx="1809750" cy="933450"/>
          </a:xfrm>
          <a:prstGeom prst="roundRect">
            <a:avLst>
              <a:gd name="adj" fmla="val 10204"/>
            </a:avLst>
          </a:prstGeom>
          <a:solidFill>
            <a:srgbClr val="F1EDFF"/>
          </a:solidFill>
          <a:ln w="13335">
            <a:solidFill>
              <a:srgbClr val="6D5BD0"/>
            </a:solidFill>
            <a:prstDash val="solid"/>
          </a:ln>
        </p:spPr>
        <p:txBody>
          <a:bodyPr lIns="66675" tIns="47625" rIns="66675" bIns="47625" anchor="ctr">
            <a:normAutofit/>
          </a:bodyPr>
          <a:lstStyle/>
          <a:p>
            <a:pPr algn="ctr">
              <a:defRPr sz="1350" b="1">
                <a:solidFill>
                  <a:srgbClr val="6D5BD0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6D5BD0"/>
                </a:solidFill>
                <a:latin typeface="Calibri"/>
                <a:ea typeface="Calibri"/>
                <a:cs typeface="Calibri"/>
              </a:rPr>
              <a:t>Ανάλυση και</a:t>
            </a:r>
          </a:p>
          <a:p>
            <a:pPr algn="ctr">
              <a:defRPr sz="1350" b="1">
                <a:solidFill>
                  <a:srgbClr val="6D5BD0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6D5BD0"/>
                </a:solidFill>
                <a:latin typeface="Calibri"/>
                <a:ea typeface="Calibri"/>
                <a:cs typeface="Calibri"/>
              </a:rPr>
              <a:t>μετρικές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4695A2D-103A-4485-A447-48FAC11173D3}"/>
              </a:ext>
            </a:extLst>
          </p:cNvPr>
          <p:cNvSpPr>
            <a:spLocks noGrp="1"/>
          </p:cNvSpPr>
          <p:nvPr/>
        </p:nvSpPr>
        <p:spPr>
          <a:xfrm>
            <a:off x="5143500" y="323850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25" b="1" i="0">
                <a:solidFill>
                  <a:srgbClr val="6D5BD0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6D5BD0"/>
                </a:solidFill>
                <a:latin typeface="Calibri"/>
                <a:ea typeface="Calibri"/>
                <a:cs typeface="Calibri"/>
              </a:rPr>
              <a:t>Ερ. 2–3</a:t>
            </a: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804BDD8C-17CA-45BC-A275-0B2D4D86A525}"/>
              </a:ext>
            </a:extLst>
          </p:cNvPr>
          <p:cNvSpPr>
            <a:spLocks noGrp="1"/>
          </p:cNvSpPr>
          <p:nvPr/>
        </p:nvSpPr>
        <p:spPr>
          <a:xfrm>
            <a:off x="7029450" y="2552700"/>
            <a:ext cx="304800" cy="209550"/>
          </a:xfrm>
          <a:prstGeom prst="rightArrow">
            <a:avLst/>
          </a:prstGeom>
          <a:solidFill>
            <a:srgbClr val="AEB6C4"/>
          </a:solidFill>
          <a:ln w="4763">
            <a:solidFill>
              <a:srgbClr val="AEB6C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5B79E72-58C2-44E0-AB9A-F15A8F64F75E}"/>
              </a:ext>
            </a:extLst>
          </p:cNvPr>
          <p:cNvSpPr>
            <a:spLocks noGrp="1"/>
          </p:cNvSpPr>
          <p:nvPr/>
        </p:nvSpPr>
        <p:spPr>
          <a:xfrm>
            <a:off x="7419975" y="2190750"/>
            <a:ext cx="1809750" cy="933450"/>
          </a:xfrm>
          <a:prstGeom prst="roundRect">
            <a:avLst>
              <a:gd name="adj" fmla="val 10204"/>
            </a:avLst>
          </a:prstGeom>
          <a:solidFill>
            <a:srgbClr val="EAF4EC"/>
          </a:solidFill>
          <a:ln w="13335">
            <a:solidFill>
              <a:srgbClr val="3A7040"/>
            </a:solidFill>
            <a:prstDash val="solid"/>
          </a:ln>
        </p:spPr>
        <p:txBody>
          <a:bodyPr lIns="66675" tIns="47625" rIns="66675" bIns="47625" anchor="ctr">
            <a:normAutofit/>
          </a:bodyPr>
          <a:lstStyle/>
          <a:p>
            <a:pPr algn="ctr">
              <a:defRPr sz="1350" b="1">
                <a:solidFill>
                  <a:srgbClr val="3A7040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3A7040"/>
                </a:solidFill>
                <a:latin typeface="Calibri"/>
                <a:ea typeface="Calibri"/>
                <a:cs typeface="Calibri"/>
              </a:rPr>
              <a:t>Denoising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85910B3-ED42-4F52-9863-7F20FCCE7D42}"/>
              </a:ext>
            </a:extLst>
          </p:cNvPr>
          <p:cNvSpPr>
            <a:spLocks noGrp="1"/>
          </p:cNvSpPr>
          <p:nvPr/>
        </p:nvSpPr>
        <p:spPr>
          <a:xfrm>
            <a:off x="7419975" y="323850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25" b="1" i="0">
                <a:solidFill>
                  <a:srgbClr val="3A7040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3A7040"/>
                </a:solidFill>
                <a:latin typeface="Calibri"/>
                <a:ea typeface="Calibri"/>
                <a:cs typeface="Calibri"/>
              </a:rPr>
              <a:t>Ερ. 4–7</a:t>
            </a: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961D8CC5-7B97-43E7-8AD4-ED55F9149D68}"/>
              </a:ext>
            </a:extLst>
          </p:cNvPr>
          <p:cNvSpPr>
            <a:spLocks noGrp="1"/>
          </p:cNvSpPr>
          <p:nvPr/>
        </p:nvSpPr>
        <p:spPr>
          <a:xfrm>
            <a:off x="9305925" y="2552700"/>
            <a:ext cx="304800" cy="209550"/>
          </a:xfrm>
          <a:prstGeom prst="rightArrow">
            <a:avLst/>
          </a:prstGeom>
          <a:solidFill>
            <a:srgbClr val="AEB6C4"/>
          </a:solidFill>
          <a:ln w="4763">
            <a:solidFill>
              <a:srgbClr val="AEB6C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F473F8F9-2833-4DAC-A3C7-E9F543E387ED}"/>
              </a:ext>
            </a:extLst>
          </p:cNvPr>
          <p:cNvSpPr>
            <a:spLocks noGrp="1"/>
          </p:cNvSpPr>
          <p:nvPr/>
        </p:nvSpPr>
        <p:spPr>
          <a:xfrm>
            <a:off x="9696450" y="2190750"/>
            <a:ext cx="1809750" cy="933450"/>
          </a:xfrm>
          <a:prstGeom prst="roundRect">
            <a:avLst>
              <a:gd name="adj" fmla="val 10204"/>
            </a:avLst>
          </a:prstGeom>
          <a:solidFill>
            <a:srgbClr val="E7F3F3"/>
          </a:solidFill>
          <a:ln w="13335">
            <a:solidFill>
              <a:srgbClr val="357E80"/>
            </a:solidFill>
            <a:prstDash val="solid"/>
          </a:ln>
        </p:spPr>
        <p:txBody>
          <a:bodyPr lIns="66675" tIns="47625" rIns="66675" bIns="47625" anchor="ctr">
            <a:normAutofit/>
          </a:bodyPr>
          <a:lstStyle/>
          <a:p>
            <a:pPr algn="ctr">
              <a:defRPr sz="1350" b="1">
                <a:solidFill>
                  <a:srgbClr val="357E80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357E80"/>
                </a:solidFill>
                <a:latin typeface="Calibri"/>
                <a:ea typeface="Calibri"/>
                <a:cs typeface="Calibri"/>
              </a:rPr>
              <a:t>Dynamic mesh</a:t>
            </a:r>
          </a:p>
          <a:p>
            <a:pPr algn="ctr">
              <a:defRPr sz="1350" b="1">
                <a:solidFill>
                  <a:srgbClr val="357E80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357E80"/>
                </a:solidFill>
                <a:latin typeface="Calibri"/>
                <a:ea typeface="Calibri"/>
                <a:cs typeface="Calibri"/>
              </a:rPr>
              <a:t>και CPD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2571E5E-1A94-4922-A415-A9748ED3218D}"/>
              </a:ext>
            </a:extLst>
          </p:cNvPr>
          <p:cNvSpPr>
            <a:spLocks noGrp="1"/>
          </p:cNvSpPr>
          <p:nvPr/>
        </p:nvSpPr>
        <p:spPr>
          <a:xfrm>
            <a:off x="9696450" y="3238500"/>
            <a:ext cx="18097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25" b="1" i="0">
                <a:solidFill>
                  <a:srgbClr val="357E80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357E80"/>
                </a:solidFill>
                <a:latin typeface="Calibri"/>
                <a:ea typeface="Calibri"/>
                <a:cs typeface="Calibri"/>
              </a:rPr>
              <a:t>Ερ. 8 + Bonus</a:t>
            </a:r>
          </a:p>
        </p:txBody>
      </p:sp>
      <p:sp>
        <p:nvSpPr>
          <p:cNvPr id="22" name="Straight Connector 21">
            <a:extLst>
              <a:ext uri="{FF2B5EF4-FFF2-40B4-BE49-F238E27FC236}">
                <a16:creationId xmlns:a16="http://schemas.microsoft.com/office/drawing/2014/main" id="{B4E795B7-F241-46C7-BCA7-4E58666635CB}"/>
              </a:ext>
            </a:extLst>
          </p:cNvPr>
          <p:cNvSpPr>
            <a:spLocks noGrp="1"/>
          </p:cNvSpPr>
          <p:nvPr/>
        </p:nvSpPr>
        <p:spPr>
          <a:xfrm>
            <a:off x="1381125" y="4286250"/>
            <a:ext cx="9334500" cy="0"/>
          </a:xfrm>
          <a:prstGeom prst="line">
            <a:avLst/>
          </a:prstGeom>
          <a:noFill/>
          <a:ln w="11430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B17986E-68B4-43D5-838D-2A78CC11259C}"/>
              </a:ext>
            </a:extLst>
          </p:cNvPr>
          <p:cNvSpPr>
            <a:spLocks noGrp="1"/>
          </p:cNvSpPr>
          <p:nvPr/>
        </p:nvSpPr>
        <p:spPr>
          <a:xfrm>
            <a:off x="1619250" y="4524375"/>
            <a:ext cx="25717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575" b="1" i="0">
                <a:solidFill>
                  <a:srgbClr val="304A8C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304A8C"/>
                </a:solidFill>
                <a:latin typeface="Calibri"/>
                <a:ea typeface="Calibri"/>
                <a:cs typeface="Calibri"/>
              </a:rPr>
              <a:t>Στατικά meshes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68BBCA1-8706-4E76-B1C9-BD8167CE12B4}"/>
              </a:ext>
            </a:extLst>
          </p:cNvPr>
          <p:cNvSpPr>
            <a:spLocks noGrp="1"/>
          </p:cNvSpPr>
          <p:nvPr/>
        </p:nvSpPr>
        <p:spPr>
          <a:xfrm>
            <a:off x="1524000" y="4905375"/>
            <a:ext cx="2762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75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γνωστή αντιστοίχιση κορυφών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DA0D7C5-0CA7-4EFF-ABC0-635EEAC3C304}"/>
              </a:ext>
            </a:extLst>
          </p:cNvPr>
          <p:cNvSpPr>
            <a:spLocks noGrp="1"/>
          </p:cNvSpPr>
          <p:nvPr/>
        </p:nvSpPr>
        <p:spPr>
          <a:xfrm>
            <a:off x="7524750" y="4524375"/>
            <a:ext cx="25717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575" b="1" i="0">
                <a:solidFill>
                  <a:srgbClr val="357E80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357E80"/>
                </a:solidFill>
                <a:latin typeface="Calibri"/>
                <a:ea typeface="Calibri"/>
                <a:cs typeface="Calibri"/>
              </a:rPr>
              <a:t>Δυναμικά meshes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BCC32BF-4BD4-4FE2-BBCB-D7658C7ECB47}"/>
              </a:ext>
            </a:extLst>
          </p:cNvPr>
          <p:cNvSpPr>
            <a:spLocks noGrp="1"/>
          </p:cNvSpPr>
          <p:nvPr/>
        </p:nvSpPr>
        <p:spPr>
          <a:xfrm>
            <a:off x="7286625" y="4905375"/>
            <a:ext cx="3048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75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με και χωρίς correspondence</a:t>
            </a:r>
          </a:p>
        </p:txBody>
      </p:sp>
    </p:spTree>
    <p:extLst>
      <p:ext uri="{BB962C8B-B14F-4D97-AF65-F5344CB8AC3E}">
        <p14:creationId xmlns:p14="http://schemas.microsoft.com/office/powerpoint/2010/main" val="8154994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8D8C40D3-6253-498D-8770-687910196BCC}"/>
              </a:ext>
            </a:extLst>
          </p:cNvPr>
          <p:cNvSpPr>
            <a:spLocks noGrp="1"/>
          </p:cNvSpPr>
          <p:nvPr/>
        </p:nvSpPr>
        <p:spPr>
          <a:xfrm>
            <a:off x="457200" y="381000"/>
            <a:ext cx="2286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00" b="1" i="0">
                <a:solidFill>
                  <a:srgbClr val="445EA3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445EA3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436325C3-389F-4786-8878-069CD2B645F7}"/>
              </a:ext>
            </a:extLst>
          </p:cNvPr>
          <p:cNvSpPr>
            <a:spLocks noGrp="1"/>
          </p:cNvSpPr>
          <p:nvPr/>
        </p:nvSpPr>
        <p:spPr>
          <a:xfrm>
            <a:off x="714375" y="466725"/>
            <a:ext cx="19050" cy="0"/>
          </a:xfrm>
          <a:prstGeom prst="line">
            <a:avLst/>
          </a:prstGeom>
          <a:noFill/>
          <a:ln w="19050">
            <a:solidFill>
              <a:srgbClr val="445E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F2F448C-0894-4503-BD7B-EA3F83F640CF}"/>
              </a:ext>
            </a:extLst>
          </p:cNvPr>
          <p:cNvSpPr>
            <a:spLocks noGrp="1"/>
          </p:cNvSpPr>
          <p:nvPr/>
        </p:nvSpPr>
        <p:spPr>
          <a:xfrm>
            <a:off x="838200" y="323850"/>
            <a:ext cx="10715625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550" b="0" i="0">
                <a:solidFill>
                  <a:srgbClr val="445EA3"/>
                </a:solidFill>
                <a:latin typeface="Calibri"/>
                <a:ea typeface="Calibri"/>
                <a:cs typeface="Calibri"/>
              </a:defRPr>
            </a:pPr>
            <a:r>
              <a:rPr sz="2550" b="0" i="0">
                <a:solidFill>
                  <a:srgbClr val="445EA3"/>
                </a:solidFill>
                <a:latin typeface="Calibri"/>
                <a:ea typeface="Calibri"/>
                <a:cs typeface="Calibri"/>
              </a:rPr>
              <a:t>Πέντε τύποι συνθετικού θορύβου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31998A54-253B-43F5-A94F-1E28967FE2B7}"/>
              </a:ext>
            </a:extLst>
          </p:cNvPr>
          <p:cNvSpPr>
            <a:spLocks noGrp="1"/>
          </p:cNvSpPr>
          <p:nvPr/>
        </p:nvSpPr>
        <p:spPr>
          <a:xfrm>
            <a:off x="438150" y="6477000"/>
            <a:ext cx="11315700" cy="0"/>
          </a:xfrm>
          <a:prstGeom prst="line">
            <a:avLst/>
          </a:prstGeom>
          <a:noFill/>
          <a:ln w="19050">
            <a:solidFill>
              <a:srgbClr val="445E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38150" y="6534150"/>
            <a:ext cx="247650" cy="24765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4C78CFB-9CDA-4ADB-B84A-4BC173DD8983}"/>
              </a:ext>
            </a:extLst>
          </p:cNvPr>
          <p:cNvSpPr>
            <a:spLocks noGrp="1"/>
          </p:cNvSpPr>
          <p:nvPr/>
        </p:nvSpPr>
        <p:spPr>
          <a:xfrm>
            <a:off x="781050" y="6553200"/>
            <a:ext cx="82867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Mesh Denoising | 3D Υπολογιστική Όραση και Γεωμετρία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EDE9670-697C-4948-9A2D-6923B80B9280}"/>
              </a:ext>
            </a:extLst>
          </p:cNvPr>
          <p:cNvSpPr>
            <a:spLocks noGrp="1"/>
          </p:cNvSpPr>
          <p:nvPr/>
        </p:nvSpPr>
        <p:spPr>
          <a:xfrm>
            <a:off x="11334750" y="6553200"/>
            <a:ext cx="3619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857250" y="1052055"/>
            <a:ext cx="4429125" cy="315240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429375" y="1050360"/>
            <a:ext cx="4476750" cy="318630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438150" y="2311219"/>
            <a:ext cx="1762125" cy="1616437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8FB35CD-9EF9-4E55-BEE1-2D5D01C0AD97}"/>
              </a:ext>
            </a:extLst>
          </p:cNvPr>
          <p:cNvSpPr>
            <a:spLocks noGrp="1"/>
          </p:cNvSpPr>
          <p:nvPr/>
        </p:nvSpPr>
        <p:spPr>
          <a:xfrm>
            <a:off x="438150" y="4333875"/>
            <a:ext cx="176212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25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Καθαρό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2371725" y="2290481"/>
            <a:ext cx="1762125" cy="1657913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11EDD9A5-84F5-49EE-B904-D81F3401571C}"/>
              </a:ext>
            </a:extLst>
          </p:cNvPr>
          <p:cNvSpPr>
            <a:spLocks noGrp="1"/>
          </p:cNvSpPr>
          <p:nvPr/>
        </p:nvSpPr>
        <p:spPr>
          <a:xfrm>
            <a:off x="2371725" y="4333875"/>
            <a:ext cx="176212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25" b="1" i="0">
                <a:solidFill>
                  <a:srgbClr val="304A8C"/>
                </a:solidFill>
                <a:latin typeface="Calibri"/>
                <a:ea typeface="Calibri"/>
                <a:cs typeface="Calibri"/>
              </a:defRPr>
            </a:pPr>
            <a:r>
              <a:rPr sz="1125" b="1" i="0" dirty="0">
                <a:solidFill>
                  <a:srgbClr val="304A8C"/>
                </a:solidFill>
                <a:latin typeface="Calibri"/>
                <a:ea typeface="Calibri"/>
                <a:cs typeface="Calibri"/>
              </a:rPr>
              <a:t>Gaussian</a:t>
            </a:r>
          </a:p>
        </p:txBody>
      </p:sp>
      <p:pic>
        <p:nvPicPr>
          <p:cNvPr id="36" name="Picture 35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4305300" y="2283927"/>
            <a:ext cx="1762125" cy="1671022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A408A9A4-0E0D-405D-822D-3081FC81BA33}"/>
              </a:ext>
            </a:extLst>
          </p:cNvPr>
          <p:cNvSpPr>
            <a:spLocks noGrp="1"/>
          </p:cNvSpPr>
          <p:nvPr/>
        </p:nvSpPr>
        <p:spPr>
          <a:xfrm>
            <a:off x="4305300" y="4333875"/>
            <a:ext cx="176212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25" b="1" i="0">
                <a:solidFill>
                  <a:srgbClr val="304A8C"/>
                </a:solidFill>
                <a:latin typeface="Calibri"/>
                <a:ea typeface="Calibri"/>
                <a:cs typeface="Calibri"/>
              </a:defRPr>
            </a:pPr>
            <a:r>
              <a:rPr sz="1125" b="1" i="0" dirty="0">
                <a:solidFill>
                  <a:srgbClr val="304A8C"/>
                </a:solidFill>
                <a:latin typeface="Calibri"/>
                <a:ea typeface="Calibri"/>
                <a:cs typeface="Calibri"/>
              </a:rPr>
              <a:t>Normal</a:t>
            </a:r>
          </a:p>
        </p:txBody>
      </p:sp>
      <p:pic>
        <p:nvPicPr>
          <p:cNvPr id="38" name="Picture 37"/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6238875" y="2284684"/>
            <a:ext cx="1762125" cy="1669507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9E7A8D1A-8AC2-4F47-940A-D0D7FED3212A}"/>
              </a:ext>
            </a:extLst>
          </p:cNvPr>
          <p:cNvSpPr>
            <a:spLocks noGrp="1"/>
          </p:cNvSpPr>
          <p:nvPr/>
        </p:nvSpPr>
        <p:spPr>
          <a:xfrm>
            <a:off x="6238875" y="4333875"/>
            <a:ext cx="176212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25" b="1" i="0">
                <a:solidFill>
                  <a:srgbClr val="304A8C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304A8C"/>
                </a:solidFill>
                <a:latin typeface="Calibri"/>
                <a:ea typeface="Calibri"/>
                <a:cs typeface="Calibri"/>
              </a:rPr>
              <a:t>Uniform</a:t>
            </a:r>
          </a:p>
        </p:txBody>
      </p:sp>
      <p:pic>
        <p:nvPicPr>
          <p:cNvPr id="40" name="Picture 39"/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8172450" y="2308814"/>
            <a:ext cx="1762125" cy="1621247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3D11FC0B-EF1C-4C0A-902F-22C8DC95618E}"/>
              </a:ext>
            </a:extLst>
          </p:cNvPr>
          <p:cNvSpPr>
            <a:spLocks noGrp="1"/>
          </p:cNvSpPr>
          <p:nvPr/>
        </p:nvSpPr>
        <p:spPr>
          <a:xfrm>
            <a:off x="8172450" y="4333875"/>
            <a:ext cx="176212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25" b="1" i="0">
                <a:solidFill>
                  <a:srgbClr val="304A8C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304A8C"/>
                </a:solidFill>
                <a:latin typeface="Calibri"/>
                <a:ea typeface="Calibri"/>
                <a:cs typeface="Calibri"/>
              </a:rPr>
              <a:t>Impulse</a:t>
            </a:r>
          </a:p>
        </p:txBody>
      </p:sp>
      <p:pic>
        <p:nvPicPr>
          <p:cNvPr id="42" name="Picture 41"/>
          <p:cNvPicPr>
            <a:picLocks noChangeAspect="1"/>
          </p:cNvPicPr>
          <p:nvPr/>
        </p:nvPicPr>
        <p:blipFill>
          <a:blip r:embed="rId11"/>
          <a:stretch/>
        </p:blipFill>
        <p:spPr>
          <a:xfrm>
            <a:off x="10106025" y="2279076"/>
            <a:ext cx="1762125" cy="1680722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6B261567-6540-4C21-977C-3E3DD98956AC}"/>
              </a:ext>
            </a:extLst>
          </p:cNvPr>
          <p:cNvSpPr>
            <a:spLocks noGrp="1"/>
          </p:cNvSpPr>
          <p:nvPr/>
        </p:nvSpPr>
        <p:spPr>
          <a:xfrm>
            <a:off x="10106025" y="4333875"/>
            <a:ext cx="176212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25" b="1" i="0">
                <a:solidFill>
                  <a:srgbClr val="304A8C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304A8C"/>
                </a:solidFill>
                <a:latin typeface="Calibri"/>
                <a:ea typeface="Calibri"/>
                <a:cs typeface="Calibri"/>
              </a:rPr>
              <a:t>Quantization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6F93DBF-00B5-4B75-9639-2259077227AD}"/>
              </a:ext>
            </a:extLst>
          </p:cNvPr>
          <p:cNvSpPr>
            <a:spLocks noGrp="1"/>
          </p:cNvSpPr>
          <p:nvPr/>
        </p:nvSpPr>
        <p:spPr>
          <a:xfrm>
            <a:off x="1238250" y="5048250"/>
            <a:ext cx="97155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500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Χρησιμοποιείται σταθερό random seed και κοινή αδιάστατη παράμετρος α, ώστε τα πειράματα να είναι αναπαραγώγιμα και συγκρίσιμα.</a:t>
            </a:r>
          </a:p>
        </p:txBody>
      </p:sp>
    </p:spTree>
    <p:extLst>
      <p:ext uri="{BB962C8B-B14F-4D97-AF65-F5344CB8AC3E}">
        <p14:creationId xmlns:p14="http://schemas.microsoft.com/office/powerpoint/2010/main" val="7748984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03BEABD1-5463-8DE5-36CB-7466C7670338}"/>
              </a:ext>
            </a:extLst>
          </p:cNvPr>
          <p:cNvSpPr>
            <a:spLocks noGrp="1"/>
          </p:cNvSpPr>
          <p:nvPr/>
        </p:nvSpPr>
        <p:spPr>
          <a:xfrm>
            <a:off x="457200" y="381000"/>
            <a:ext cx="2286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00" b="1" i="0">
                <a:solidFill>
                  <a:srgbClr val="445EA3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445EA3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45" name="Straight Connector 44">
            <a:extLst>
              <a:ext uri="{FF2B5EF4-FFF2-40B4-BE49-F238E27FC236}">
                <a16:creationId xmlns:a16="http://schemas.microsoft.com/office/drawing/2014/main" id="{E4C3561D-FE1D-CD6E-917A-E11511C2E832}"/>
              </a:ext>
            </a:extLst>
          </p:cNvPr>
          <p:cNvSpPr>
            <a:spLocks noGrp="1"/>
          </p:cNvSpPr>
          <p:nvPr/>
        </p:nvSpPr>
        <p:spPr>
          <a:xfrm>
            <a:off x="714375" y="466725"/>
            <a:ext cx="19050" cy="0"/>
          </a:xfrm>
          <a:prstGeom prst="line">
            <a:avLst/>
          </a:prstGeom>
          <a:noFill/>
          <a:ln w="19050">
            <a:solidFill>
              <a:srgbClr val="445E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178EB74-9929-C2FC-655C-CD2AD5F43889}"/>
              </a:ext>
            </a:extLst>
          </p:cNvPr>
          <p:cNvSpPr>
            <a:spLocks noGrp="1"/>
          </p:cNvSpPr>
          <p:nvPr/>
        </p:nvSpPr>
        <p:spPr>
          <a:xfrm>
            <a:off x="838200" y="323850"/>
            <a:ext cx="10715625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550" b="0" i="0">
                <a:solidFill>
                  <a:srgbClr val="445EA3"/>
                </a:solidFill>
                <a:latin typeface="Calibri"/>
                <a:ea typeface="Calibri"/>
                <a:cs typeface="Calibri"/>
              </a:defRPr>
            </a:pPr>
            <a:r>
              <a:rPr lang="el-GR" sz="2550" dirty="0">
                <a:solidFill>
                  <a:srgbClr val="445EA3"/>
                </a:solidFill>
                <a:latin typeface="Calibri"/>
                <a:ea typeface="Calibri"/>
                <a:cs typeface="Calibri"/>
              </a:rPr>
              <a:t>Εφαρμοζόμενοι θόρυβοι</a:t>
            </a:r>
            <a:endParaRPr sz="2550" b="0" i="0" dirty="0">
              <a:solidFill>
                <a:srgbClr val="445EA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9" name="Straight Connector 48">
            <a:extLst>
              <a:ext uri="{FF2B5EF4-FFF2-40B4-BE49-F238E27FC236}">
                <a16:creationId xmlns:a16="http://schemas.microsoft.com/office/drawing/2014/main" id="{4F114350-6A4A-79E4-7A05-5023430F09C6}"/>
              </a:ext>
            </a:extLst>
          </p:cNvPr>
          <p:cNvSpPr>
            <a:spLocks noGrp="1"/>
          </p:cNvSpPr>
          <p:nvPr/>
        </p:nvSpPr>
        <p:spPr>
          <a:xfrm>
            <a:off x="438150" y="6477000"/>
            <a:ext cx="11315700" cy="0"/>
          </a:xfrm>
          <a:prstGeom prst="line">
            <a:avLst/>
          </a:prstGeom>
          <a:noFill/>
          <a:ln w="19050">
            <a:solidFill>
              <a:srgbClr val="445E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1E703788-ED99-4EBF-E15D-652DA17D48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438150" y="6534150"/>
            <a:ext cx="247650" cy="247650"/>
          </a:xfrm>
          <a:prstGeom prst="rect">
            <a:avLst/>
          </a:prstGeom>
        </p:spPr>
      </p:pic>
      <p:sp>
        <p:nvSpPr>
          <p:cNvPr id="53" name="Rectangle 52">
            <a:extLst>
              <a:ext uri="{FF2B5EF4-FFF2-40B4-BE49-F238E27FC236}">
                <a16:creationId xmlns:a16="http://schemas.microsoft.com/office/drawing/2014/main" id="{D1042E3D-669D-70FD-438D-A9EE36C47117}"/>
              </a:ext>
            </a:extLst>
          </p:cNvPr>
          <p:cNvSpPr>
            <a:spLocks noGrp="1"/>
          </p:cNvSpPr>
          <p:nvPr/>
        </p:nvSpPr>
        <p:spPr>
          <a:xfrm>
            <a:off x="781050" y="6553200"/>
            <a:ext cx="82867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Mesh Denoising | 3D Υπολογιστική Όραση και Γεωμετρία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8D04E439-17C6-6098-499C-A8AC56E7A36F}"/>
              </a:ext>
            </a:extLst>
          </p:cNvPr>
          <p:cNvSpPr>
            <a:spLocks noGrp="1"/>
          </p:cNvSpPr>
          <p:nvPr/>
        </p:nvSpPr>
        <p:spPr>
          <a:xfrm>
            <a:off x="11334750" y="6553200"/>
            <a:ext cx="3619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33C77BB8-BACE-7527-5A8E-B4529FC7F171}"/>
              </a:ext>
            </a:extLst>
          </p:cNvPr>
          <p:cNvSpPr>
            <a:spLocks noGrp="1"/>
          </p:cNvSpPr>
          <p:nvPr/>
        </p:nvSpPr>
        <p:spPr>
          <a:xfrm>
            <a:off x="619125" y="1047750"/>
            <a:ext cx="23336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>
              <a:lnSpc>
                <a:spcPct val="105000"/>
              </a:lnSpc>
              <a:defRPr sz="1350" b="1" i="0">
                <a:solidFill>
                  <a:srgbClr val="304A8C"/>
                </a:solidFill>
                <a:latin typeface="Calibri"/>
                <a:ea typeface="Calibri"/>
                <a:cs typeface="Calibri"/>
              </a:defRPr>
            </a:pPr>
            <a:r>
              <a:rPr lang="en-US" sz="1400" b="1" dirty="0">
                <a:solidFill>
                  <a:srgbClr val="304A8C"/>
                </a:solidFill>
                <a:latin typeface="Calibri"/>
                <a:ea typeface="Calibri"/>
                <a:cs typeface="Calibri"/>
              </a:rPr>
              <a:t>Gaussian</a:t>
            </a:r>
            <a:endParaRPr sz="1350" b="1" i="0" dirty="0">
              <a:solidFill>
                <a:srgbClr val="304A8C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9" name="Straight Connector 58">
            <a:extLst>
              <a:ext uri="{FF2B5EF4-FFF2-40B4-BE49-F238E27FC236}">
                <a16:creationId xmlns:a16="http://schemas.microsoft.com/office/drawing/2014/main" id="{D32B3060-D08E-09D6-3A02-F42CF0E21A12}"/>
              </a:ext>
            </a:extLst>
          </p:cNvPr>
          <p:cNvSpPr>
            <a:spLocks noGrp="1"/>
          </p:cNvSpPr>
          <p:nvPr/>
        </p:nvSpPr>
        <p:spPr>
          <a:xfrm>
            <a:off x="619125" y="1343025"/>
            <a:ext cx="2333625" cy="0"/>
          </a:xfrm>
          <a:prstGeom prst="line">
            <a:avLst/>
          </a:prstGeom>
          <a:noFill/>
          <a:ln w="14288">
            <a:solidFill>
              <a:srgbClr val="304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9BCE78EA-87BF-A8C9-E150-A5140B9121B4}"/>
              </a:ext>
            </a:extLst>
          </p:cNvPr>
          <p:cNvSpPr>
            <a:spLocks noGrp="1"/>
          </p:cNvSpPr>
          <p:nvPr/>
        </p:nvSpPr>
        <p:spPr>
          <a:xfrm>
            <a:off x="8534400" y="757505"/>
            <a:ext cx="3124200" cy="1009434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Autofit/>
          </a:bodyPr>
          <a:lstStyle/>
          <a:p>
            <a:pPr algn="l">
              <a:lnSpc>
                <a:spcPct val="105000"/>
              </a:lnSpc>
              <a:buNone/>
              <a:defRPr sz="1350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lang="el-GR" sz="1300" b="0" i="0" dirty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Μετακινεί κάθε κορυφή προς οποιαδήποτε διεύθυνση του τρισδιάστατου χώρου. Για τον λόγο αυτό προκαλεί έντονη τοπική παραμόρφωση και αλλαγές στις διευθύνσεις των εδρών.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A03DACF4-D7EC-FEA5-49AB-F144922F7062}"/>
              </a:ext>
            </a:extLst>
          </p:cNvPr>
          <p:cNvSpPr>
            <a:spLocks noGrp="1"/>
          </p:cNvSpPr>
          <p:nvPr/>
        </p:nvSpPr>
        <p:spPr>
          <a:xfrm>
            <a:off x="619125" y="1805038"/>
            <a:ext cx="23336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Autofit/>
          </a:bodyPr>
          <a:lstStyle/>
          <a:p>
            <a:pPr>
              <a:defRPr sz="1350" b="1" i="0">
                <a:solidFill>
                  <a:srgbClr val="304A8C"/>
                </a:solidFill>
                <a:latin typeface="Calibri"/>
                <a:ea typeface="Calibri"/>
                <a:cs typeface="Calibri"/>
              </a:defRPr>
            </a:pPr>
            <a:r>
              <a:rPr lang="en-US" sz="1400" b="1" dirty="0">
                <a:solidFill>
                  <a:srgbClr val="304A8C"/>
                </a:solidFill>
                <a:latin typeface="Calibri"/>
              </a:rPr>
              <a:t>Gaussian </a:t>
            </a:r>
            <a:r>
              <a:rPr lang="el-GR" sz="1400" b="1" dirty="0">
                <a:solidFill>
                  <a:srgbClr val="304A8C"/>
                </a:solidFill>
                <a:latin typeface="Calibri"/>
              </a:rPr>
              <a:t>κατά το κανονικό διάνυσμα της επιφάνειας</a:t>
            </a:r>
            <a:endParaRPr sz="1400" b="1" i="0" dirty="0">
              <a:solidFill>
                <a:srgbClr val="304A8C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7" name="Straight Connector 66">
            <a:extLst>
              <a:ext uri="{FF2B5EF4-FFF2-40B4-BE49-F238E27FC236}">
                <a16:creationId xmlns:a16="http://schemas.microsoft.com/office/drawing/2014/main" id="{28D68EE6-EC62-74CD-7518-80D89AB64470}"/>
              </a:ext>
            </a:extLst>
          </p:cNvPr>
          <p:cNvSpPr>
            <a:spLocks noGrp="1"/>
          </p:cNvSpPr>
          <p:nvPr/>
        </p:nvSpPr>
        <p:spPr>
          <a:xfrm>
            <a:off x="619125" y="2393390"/>
            <a:ext cx="2333625" cy="0"/>
          </a:xfrm>
          <a:prstGeom prst="line">
            <a:avLst/>
          </a:prstGeom>
          <a:noFill/>
          <a:ln w="14288">
            <a:solidFill>
              <a:srgbClr val="304A8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69DE7F9F-2089-6FDC-EC77-CEB80703AFA2}"/>
              </a:ext>
            </a:extLst>
          </p:cNvPr>
          <p:cNvSpPr>
            <a:spLocks noGrp="1"/>
          </p:cNvSpPr>
          <p:nvPr/>
        </p:nvSpPr>
        <p:spPr>
          <a:xfrm>
            <a:off x="8572500" y="1962394"/>
            <a:ext cx="28575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 fontScale="97397" lnSpcReduction="10000"/>
          </a:bodyPr>
          <a:lstStyle/>
          <a:p>
            <a:pPr>
              <a:defRPr sz="1350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lang="el-GR" sz="1350" dirty="0">
                <a:solidFill>
                  <a:srgbClr val="666C78"/>
                </a:solidFill>
                <a:latin typeface="Calibri"/>
              </a:rPr>
              <a:t>κάθε κορυφή μετακινείται αποκλειστικά κατά τη διεύθυνση της μοναδιαίας κανονικής της</a:t>
            </a:r>
            <a:endParaRPr sz="1350" b="0" i="0" dirty="0">
              <a:solidFill>
                <a:srgbClr val="666C78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F1298D47-0DDE-0DB0-45CD-61C00EBD7875}"/>
              </a:ext>
            </a:extLst>
          </p:cNvPr>
          <p:cNvSpPr>
            <a:spLocks noGrp="1"/>
          </p:cNvSpPr>
          <p:nvPr/>
        </p:nvSpPr>
        <p:spPr>
          <a:xfrm>
            <a:off x="619125" y="2775716"/>
            <a:ext cx="23336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>
              <a:defRPr sz="1350" b="1" i="0">
                <a:solidFill>
                  <a:srgbClr val="304A8C"/>
                </a:solidFill>
                <a:latin typeface="Calibri"/>
                <a:ea typeface="Calibri"/>
                <a:cs typeface="Calibri"/>
              </a:defRPr>
            </a:pPr>
            <a:r>
              <a:rPr lang="en-US" sz="1350" b="1" dirty="0">
                <a:solidFill>
                  <a:srgbClr val="304A8C"/>
                </a:solidFill>
                <a:latin typeface="Calibri"/>
              </a:rPr>
              <a:t>Uniform</a:t>
            </a:r>
            <a:endParaRPr sz="1350" b="1" i="0" dirty="0">
              <a:solidFill>
                <a:srgbClr val="304A8C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5" name="Straight Connector 74">
            <a:extLst>
              <a:ext uri="{FF2B5EF4-FFF2-40B4-BE49-F238E27FC236}">
                <a16:creationId xmlns:a16="http://schemas.microsoft.com/office/drawing/2014/main" id="{8C8997A3-6960-9853-0AED-3386E1848430}"/>
              </a:ext>
            </a:extLst>
          </p:cNvPr>
          <p:cNvSpPr>
            <a:spLocks noGrp="1"/>
          </p:cNvSpPr>
          <p:nvPr/>
        </p:nvSpPr>
        <p:spPr>
          <a:xfrm>
            <a:off x="619125" y="3104328"/>
            <a:ext cx="2333625" cy="0"/>
          </a:xfrm>
          <a:prstGeom prst="line">
            <a:avLst/>
          </a:prstGeom>
          <a:noFill/>
          <a:ln w="14288">
            <a:solidFill>
              <a:srgbClr val="304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FC7284E5-5F62-CE67-1727-89E5F123AD16}"/>
              </a:ext>
            </a:extLst>
          </p:cNvPr>
          <p:cNvSpPr>
            <a:spLocks noGrp="1"/>
          </p:cNvSpPr>
          <p:nvPr/>
        </p:nvSpPr>
        <p:spPr>
          <a:xfrm>
            <a:off x="8572500" y="2847153"/>
            <a:ext cx="28575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Autofit/>
          </a:bodyPr>
          <a:lstStyle/>
          <a:p>
            <a:pPr>
              <a:defRPr sz="1350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lang="el-GR" sz="1300" dirty="0">
                <a:solidFill>
                  <a:srgbClr val="666C78"/>
                </a:solidFill>
                <a:latin typeface="Calibri"/>
              </a:rPr>
              <a:t>κάθε συντεταγμένη μεταβάλλεται ανεξάρτητα μέσα σε ένα φραγμένο διάστημα</a:t>
            </a:r>
            <a:endParaRPr sz="1300" b="0" i="0" dirty="0">
              <a:solidFill>
                <a:srgbClr val="666C78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A7576A7F-4A3E-F405-AA7D-D4B7B9A976A0}"/>
              </a:ext>
            </a:extLst>
          </p:cNvPr>
          <p:cNvSpPr>
            <a:spLocks noGrp="1"/>
          </p:cNvSpPr>
          <p:nvPr/>
        </p:nvSpPr>
        <p:spPr>
          <a:xfrm>
            <a:off x="619125" y="3577188"/>
            <a:ext cx="23336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>
              <a:defRPr sz="1350" b="1" i="0">
                <a:solidFill>
                  <a:srgbClr val="304A8C"/>
                </a:solidFill>
                <a:latin typeface="Calibri"/>
                <a:ea typeface="Calibri"/>
                <a:cs typeface="Calibri"/>
              </a:defRPr>
            </a:pPr>
            <a:r>
              <a:rPr lang="en-US" sz="1350" b="1" dirty="0">
                <a:solidFill>
                  <a:srgbClr val="304A8C"/>
                </a:solidFill>
                <a:latin typeface="Calibri"/>
              </a:rPr>
              <a:t>Impulse</a:t>
            </a:r>
            <a:endParaRPr sz="1350" b="1" i="0" dirty="0">
              <a:solidFill>
                <a:srgbClr val="304A8C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3" name="Straight Connector 82">
            <a:extLst>
              <a:ext uri="{FF2B5EF4-FFF2-40B4-BE49-F238E27FC236}">
                <a16:creationId xmlns:a16="http://schemas.microsoft.com/office/drawing/2014/main" id="{CD5AF85C-5FCB-4679-AADC-69BB1D7D77E8}"/>
              </a:ext>
            </a:extLst>
          </p:cNvPr>
          <p:cNvSpPr>
            <a:spLocks noGrp="1"/>
          </p:cNvSpPr>
          <p:nvPr/>
        </p:nvSpPr>
        <p:spPr>
          <a:xfrm>
            <a:off x="619125" y="3872463"/>
            <a:ext cx="2333625" cy="0"/>
          </a:xfrm>
          <a:prstGeom prst="line">
            <a:avLst/>
          </a:prstGeom>
          <a:noFill/>
          <a:ln w="14288">
            <a:solidFill>
              <a:srgbClr val="304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5" name="Rectangle 84">
                <a:extLst>
                  <a:ext uri="{FF2B5EF4-FFF2-40B4-BE49-F238E27FC236}">
                    <a16:creationId xmlns:a16="http://schemas.microsoft.com/office/drawing/2014/main" id="{520EC7A1-081A-0099-3EDE-E511D2150D6B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133725" y="3558573"/>
                <a:ext cx="4953000" cy="6286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19050" tIns="19050" rIns="19050" bIns="19050" anchor="ctr">
                <a:normAutofit/>
              </a:bodyPr>
              <a:lstStyle/>
              <a:p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400" i="1"/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sz="1400" b="0" i="1"/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US" sz="1400" b="0" i="1"/>
                                <m:t>v</m:t>
                              </m:r>
                            </m:e>
                          </m:acc>
                        </m:e>
                        <m:sub>
                          <m:r>
                            <a:rPr lang="en-US" sz="1400" b="0" i="1"/>
                            <m:t>𝑖</m:t>
                          </m:r>
                        </m:sub>
                      </m:sSub>
                      <m:r>
                        <a:rPr lang="en-US" sz="1400" b="0" i="1"/>
                        <m:t>=</m:t>
                      </m:r>
                      <m:sSub>
                        <m:sSubPr>
                          <m:ctrlPr>
                            <a:rPr lang="en-US" sz="1400" b="0" i="1"/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 b="0" i="1"/>
                            <m:t>v</m:t>
                          </m:r>
                        </m:e>
                        <m:sub>
                          <m:r>
                            <a:rPr lang="en-US" sz="1400" b="0" i="1"/>
                            <m:t>𝑖</m:t>
                          </m:r>
                        </m:sub>
                      </m:sSub>
                      <m:r>
                        <a:rPr lang="en-US" sz="1400" b="0" i="1"/>
                        <m:t>+5</m:t>
                      </m:r>
                      <m:r>
                        <a:rPr lang="en-US" sz="1400" b="0" i="1"/>
                        <m:t>𝜎</m:t>
                      </m:r>
                      <m:sSub>
                        <m:sSubPr>
                          <m:ctrlPr>
                            <a:rPr lang="en-US" sz="1400" b="0" i="1"/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 b="0" i="1"/>
                            <m:t>u</m:t>
                          </m:r>
                        </m:e>
                        <m:sub>
                          <m:r>
                            <a:rPr lang="en-US" sz="1400" b="0" i="1"/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85" name="Rectangle 84">
                <a:extLst>
                  <a:ext uri="{FF2B5EF4-FFF2-40B4-BE49-F238E27FC236}">
                    <a16:creationId xmlns:a16="http://schemas.microsoft.com/office/drawing/2014/main" id="{520EC7A1-081A-0099-3EDE-E511D2150D6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3725" y="3558573"/>
                <a:ext cx="4953000" cy="6286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7" name="Rectangle 86">
                <a:extLst>
                  <a:ext uri="{FF2B5EF4-FFF2-40B4-BE49-F238E27FC236}">
                    <a16:creationId xmlns:a16="http://schemas.microsoft.com/office/drawing/2014/main" id="{933A1129-7F49-22E1-5CF6-6275B6136AF0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8572500" y="3615288"/>
                <a:ext cx="2981325" cy="729992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19050" tIns="19050" rIns="19050" bIns="19050" anchor="ctr">
                <a:normAutofit/>
              </a:bodyPr>
              <a:lstStyle/>
              <a:p>
                <a:pPr>
                  <a:lnSpc>
                    <a:spcPct val="100000"/>
                  </a:lnSpc>
                  <a:defRPr sz="1350" b="0" i="0">
                    <a:solidFill>
                      <a:srgbClr val="666C78"/>
                    </a:solidFill>
                    <a:latin typeface="Calibri"/>
                    <a:ea typeface="Calibri"/>
                    <a:cs typeface="Calibri"/>
                  </a:defRPr>
                </a:pPr>
                <a:r>
                  <a:rPr lang="el-GR" sz="1300" dirty="0">
                    <a:solidFill>
                      <a:srgbClr val="666C78"/>
                    </a:solidFill>
                    <a:latin typeface="Calibri"/>
                  </a:rPr>
                  <a:t>επηρεάζει μόνο ένα μικρό ποσοστό </a:t>
                </a:r>
                <a14:m>
                  <m:oMath xmlns:m="http://schemas.openxmlformats.org/officeDocument/2006/math">
                    <m:r>
                      <a:rPr lang="en-US" sz="1300" i="1">
                        <a:solidFill>
                          <a:srgbClr val="666C78"/>
                        </a:solidFill>
                        <a:latin typeface="Cambria Math" panose="02040503050406030204" pitchFamily="18" charset="0"/>
                      </a:rPr>
                      <m:t>2%</m:t>
                    </m:r>
                  </m:oMath>
                </a14:m>
                <a:r>
                  <a:rPr lang="el-GR" sz="1300" dirty="0">
                    <a:solidFill>
                      <a:srgbClr val="666C78"/>
                    </a:solidFill>
                    <a:latin typeface="Calibri"/>
                  </a:rPr>
                  <a:t> των κορυφών.</a:t>
                </a:r>
                <a:endParaRPr sz="1300" b="0" i="0" dirty="0">
                  <a:solidFill>
                    <a:srgbClr val="666C78"/>
                  </a:solidFill>
                  <a:latin typeface="Calibri"/>
                  <a:ea typeface="Calibri"/>
                  <a:cs typeface="Calibri"/>
                </a:endParaRPr>
              </a:p>
            </p:txBody>
          </p:sp>
        </mc:Choice>
        <mc:Fallback>
          <p:sp>
            <p:nvSpPr>
              <p:cNvPr id="87" name="Rectangle 86">
                <a:extLst>
                  <a:ext uri="{FF2B5EF4-FFF2-40B4-BE49-F238E27FC236}">
                    <a16:creationId xmlns:a16="http://schemas.microsoft.com/office/drawing/2014/main" id="{933A1129-7F49-22E1-5CF6-6275B6136A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2500" y="3615288"/>
                <a:ext cx="2981325" cy="729992"/>
              </a:xfrm>
              <a:prstGeom prst="rect">
                <a:avLst/>
              </a:prstGeom>
              <a:blipFill>
                <a:blip r:embed="rId4"/>
                <a:stretch>
                  <a:fillRect l="-2658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9" name="Rectangle 88">
            <a:extLst>
              <a:ext uri="{FF2B5EF4-FFF2-40B4-BE49-F238E27FC236}">
                <a16:creationId xmlns:a16="http://schemas.microsoft.com/office/drawing/2014/main" id="{D9ABCB87-4F3B-B3CB-06A7-7E2B171A4304}"/>
              </a:ext>
            </a:extLst>
          </p:cNvPr>
          <p:cNvSpPr>
            <a:spLocks noGrp="1"/>
          </p:cNvSpPr>
          <p:nvPr/>
        </p:nvSpPr>
        <p:spPr>
          <a:xfrm>
            <a:off x="2047875" y="5743575"/>
            <a:ext cx="80962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425" b="1" i="0">
                <a:solidFill>
                  <a:srgbClr val="A64337"/>
                </a:solidFill>
                <a:latin typeface="Calibri"/>
                <a:ea typeface="Calibri"/>
                <a:cs typeface="Calibri"/>
              </a:defRPr>
            </a:pPr>
            <a:endParaRPr sz="1425" b="1" i="0" dirty="0">
              <a:solidFill>
                <a:srgbClr val="A64337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2AFE0213-A0F9-55E1-0B11-218D6AC4AEEA}"/>
              </a:ext>
            </a:extLst>
          </p:cNvPr>
          <p:cNvSpPr>
            <a:spLocks noGrp="1"/>
          </p:cNvSpPr>
          <p:nvPr/>
        </p:nvSpPr>
        <p:spPr>
          <a:xfrm>
            <a:off x="685800" y="4526435"/>
            <a:ext cx="23336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>
              <a:defRPr sz="1350" b="1" i="0">
                <a:solidFill>
                  <a:srgbClr val="304A8C"/>
                </a:solidFill>
                <a:latin typeface="Calibri"/>
                <a:ea typeface="Calibri"/>
                <a:cs typeface="Calibri"/>
              </a:defRPr>
            </a:pPr>
            <a:r>
              <a:rPr lang="en-US" sz="1350" b="1" dirty="0">
                <a:solidFill>
                  <a:srgbClr val="304A8C"/>
                </a:solidFill>
                <a:latin typeface="Calibri"/>
              </a:rPr>
              <a:t>Quantization </a:t>
            </a:r>
            <a:endParaRPr sz="1350" b="1" i="0" dirty="0">
              <a:solidFill>
                <a:srgbClr val="304A8C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4" name="Straight Connector 93">
            <a:extLst>
              <a:ext uri="{FF2B5EF4-FFF2-40B4-BE49-F238E27FC236}">
                <a16:creationId xmlns:a16="http://schemas.microsoft.com/office/drawing/2014/main" id="{ECA9056A-4BE4-B9B9-4025-CEC3DC6C1854}"/>
              </a:ext>
            </a:extLst>
          </p:cNvPr>
          <p:cNvSpPr>
            <a:spLocks noGrp="1"/>
          </p:cNvSpPr>
          <p:nvPr/>
        </p:nvSpPr>
        <p:spPr>
          <a:xfrm>
            <a:off x="685800" y="4855047"/>
            <a:ext cx="2333625" cy="0"/>
          </a:xfrm>
          <a:prstGeom prst="line">
            <a:avLst/>
          </a:prstGeom>
          <a:noFill/>
          <a:ln w="14288">
            <a:solidFill>
              <a:srgbClr val="304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BC1D7749-E810-2EC4-E4E9-8AF61A3ABBED}"/>
                  </a:ext>
                </a:extLst>
              </p:cNvPr>
              <p:cNvSpPr txBox="1"/>
              <p:nvPr/>
            </p:nvSpPr>
            <p:spPr>
              <a:xfrm>
                <a:off x="4079630" y="1108073"/>
                <a:ext cx="3642945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sz="1400" b="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400" b="0" i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sz="1400" b="0" i="0">
                        <a:latin typeface="Cambria Math" panose="02040503050406030204" pitchFamily="18" charset="0"/>
                      </a:rPr>
                      <m:t>𝒩</m:t>
                    </m:r>
                    <m:d>
                      <m:dPr>
                        <m:sepChr m:val=","/>
                        <m:ctrlPr>
                          <a:rPr lang="en-US" sz="1400" b="0" i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b="0" i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e>
                        <m:sSup>
                          <m:sSupPr>
                            <m:ctrlPr>
                              <a:rPr lang="en-US" sz="1400" b="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400" b="0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sz="1400" b="0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b>
                          <m:sSubPr>
                            <m:ctrlPr>
                              <a:rPr lang="en-US" sz="14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</m:oMath>
                </a14:m>
                <a:r>
                  <a:rPr lang="el-GR" sz="1400" dirty="0"/>
                  <a:t>,         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sz="1400" i="1"/>
                        </m:ctrlPr>
                      </m:accPr>
                      <m:e>
                        <m:sSub>
                          <m:sSubPr>
                            <m:ctrlPr>
                              <a:rPr lang="en-US" sz="1400" b="0" i="1"/>
                            </m:ctrlPr>
                          </m:sSubPr>
                          <m:e>
                            <m:r>
                              <a:rPr lang="en-US" sz="1400" b="0" i="1"/>
                              <m:t>𝑣</m:t>
                            </m:r>
                          </m:e>
                          <m:sub>
                            <m:r>
                              <a:rPr lang="en-US" sz="1400" b="0" i="1"/>
                              <m:t>𝑖</m:t>
                            </m:r>
                          </m:sub>
                        </m:sSub>
                      </m:e>
                    </m:acc>
                    <m:r>
                      <a:rPr lang="en-US" sz="1400" b="0" i="1"/>
                      <m:t>=</m:t>
                    </m:r>
                    <m:sSub>
                      <m:sSubPr>
                        <m:ctrlPr>
                          <a:rPr lang="en-US" sz="1400" b="0" i="1"/>
                        </m:ctrlPr>
                      </m:sSubPr>
                      <m:e>
                        <m:r>
                          <a:rPr lang="en-US" sz="1400" b="0" i="1"/>
                          <m:t>𝑣</m:t>
                        </m:r>
                      </m:e>
                      <m:sub>
                        <m:r>
                          <a:rPr lang="en-US" sz="1400" b="0" i="1"/>
                          <m:t>𝑖</m:t>
                        </m:r>
                      </m:sub>
                    </m:sSub>
                    <m:r>
                      <a:rPr lang="en-US" sz="1400" b="0" i="1"/>
                      <m:t>+</m:t>
                    </m:r>
                    <m:sSub>
                      <m:sSubPr>
                        <m:ctrlPr>
                          <a:rPr lang="en-US" sz="1400" b="0" i="1"/>
                        </m:ctrlPr>
                      </m:sSubPr>
                      <m:e>
                        <m:r>
                          <a:rPr lang="en-US" sz="1400" b="0" i="1"/>
                          <m:t>𝜀</m:t>
                        </m:r>
                      </m:e>
                      <m:sub>
                        <m:r>
                          <a:rPr lang="en-US" sz="1400" b="0" i="1"/>
                          <m:t>𝑖</m:t>
                        </m:r>
                      </m:sub>
                    </m:sSub>
                  </m:oMath>
                </a14:m>
                <a:endParaRPr lang="en-US" sz="1400" dirty="0"/>
              </a:p>
            </p:txBody>
          </p:sp>
        </mc:Choice>
        <mc:Fallback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BC1D7749-E810-2EC4-E4E9-8AF61A3ABB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9630" y="1108073"/>
                <a:ext cx="3642945" cy="307777"/>
              </a:xfrm>
              <a:prstGeom prst="rect">
                <a:avLst/>
              </a:prstGeom>
              <a:blipFill>
                <a:blip r:embed="rId5"/>
                <a:stretch>
                  <a:fillRect t="-2000" b="-2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CEDF9651-99C6-44B8-8B99-9836584341DB}"/>
                  </a:ext>
                </a:extLst>
              </p:cNvPr>
              <p:cNvSpPr txBox="1"/>
              <p:nvPr/>
            </p:nvSpPr>
            <p:spPr>
              <a:xfrm>
                <a:off x="2209800" y="2114742"/>
                <a:ext cx="609600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400" i="0"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US" sz="1400" i="0">
                          <a:latin typeface="Cambria Math" panose="02040503050406030204" pitchFamily="18" charset="0"/>
                        </a:rPr>
                        <m:t>𝒩</m:t>
                      </m:r>
                      <m:d>
                        <m:dPr>
                          <m:sepChr m:val=","/>
                          <m:ctrlPr>
                            <a:rPr lang="en-US" sz="1400" i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e>
                          <m:sSup>
                            <m:sSup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sz="14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l-GR" sz="1400" b="0" i="1" smtClean="0">
                          <a:latin typeface="Cambria Math" panose="02040503050406030204" pitchFamily="18" charset="0"/>
                        </a:rPr>
                        <m:t>      </m:t>
                      </m:r>
                      <m:acc>
                        <m:accPr>
                          <m:chr m:val="̃"/>
                          <m:ctrlPr>
                            <a:rPr lang="en-US" sz="1400" i="1"/>
                          </m:ctrlPr>
                        </m:accPr>
                        <m:e>
                          <m:sSub>
                            <m:sSubPr>
                              <m:ctrlPr>
                                <a:rPr lang="en-US" sz="1400" b="0" i="1"/>
                              </m:ctrlPr>
                            </m:sSubPr>
                            <m:e>
                              <m:r>
                                <a:rPr lang="en-US" sz="1400" b="0" i="1"/>
                                <m:t>𝑣</m:t>
                              </m:r>
                            </m:e>
                            <m:sub>
                              <m:r>
                                <a:rPr lang="en-US" sz="1400" b="0" i="1"/>
                                <m:t>𝑖</m:t>
                              </m:r>
                            </m:sub>
                          </m:sSub>
                        </m:e>
                      </m:acc>
                      <m:r>
                        <a:rPr lang="en-US" sz="1400" b="0" i="1"/>
                        <m:t>=</m:t>
                      </m:r>
                      <m:sSub>
                        <m:sSubPr>
                          <m:ctrlPr>
                            <a:rPr lang="en-US" sz="1400" b="0" i="1"/>
                          </m:ctrlPr>
                        </m:sSubPr>
                        <m:e>
                          <m:r>
                            <a:rPr lang="en-US" sz="1400" b="0" i="1"/>
                            <m:t>𝑣</m:t>
                          </m:r>
                        </m:e>
                        <m:sub>
                          <m:r>
                            <a:rPr lang="en-US" sz="1400" b="0" i="1"/>
                            <m:t>𝑖</m:t>
                          </m:r>
                        </m:sub>
                      </m:sSub>
                      <m:r>
                        <a:rPr lang="en-US" sz="1400" b="0" i="1"/>
                        <m:t>+</m:t>
                      </m:r>
                      <m:sSub>
                        <m:sSubPr>
                          <m:ctrlPr>
                            <a:rPr lang="en-US" sz="1400" b="0" i="1"/>
                          </m:ctrlPr>
                        </m:sSubPr>
                        <m:e>
                          <m:r>
                            <a:rPr lang="en-US" sz="1400" b="0" i="1"/>
                            <m:t>𝑠</m:t>
                          </m:r>
                        </m:e>
                        <m:sub>
                          <m:r>
                            <a:rPr lang="en-US" sz="1400" b="0" i="1"/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sz="1400" b="0" i="1"/>
                          </m:ctrlPr>
                        </m:sSubPr>
                        <m:e>
                          <m:r>
                            <a:rPr lang="en-US" sz="1400" b="0" i="1"/>
                            <m:t>𝑛</m:t>
                          </m:r>
                        </m:e>
                        <m:sub>
                          <m:r>
                            <a:rPr lang="en-US" sz="1400" b="0" i="1"/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  <a:p>
                <a:pPr/>
                <a:endParaRPr lang="en-US" dirty="0"/>
              </a:p>
            </p:txBody>
          </p:sp>
        </mc:Choice>
        <mc:Fallback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CEDF9651-99C6-44B8-8B99-9836584341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9800" y="2114742"/>
                <a:ext cx="6096000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584B9D63-DF6F-EF49-F2C8-EC254A19BED6}"/>
                  </a:ext>
                </a:extLst>
              </p:cNvPr>
              <p:cNvSpPr txBox="1"/>
              <p:nvPr/>
            </p:nvSpPr>
            <p:spPr>
              <a:xfrm>
                <a:off x="2476500" y="2872083"/>
                <a:ext cx="6096000" cy="3247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sz="1400" b="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400" b="0" i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400" b="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400" b="0" i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14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sz="1400" b="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1400" b="0" i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400" b="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400" b="0" i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14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sz="1400" b="0" i="1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sz="1400" b="0" i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400" b="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400" b="0" i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sz="1400" b="0" i="0">
                        <a:latin typeface="Cambria Math" panose="02040503050406030204" pitchFamily="18" charset="0"/>
                      </a:rPr>
                      <m:t>𝒰</m:t>
                    </m:r>
                    <m:r>
                      <a:rPr lang="el-GR" sz="1400" b="0" i="0" smtClean="0">
                        <a:latin typeface="Cambria Math" panose="02040503050406030204" pitchFamily="18" charset="0"/>
                      </a:rPr>
                      <m:t>(−</m:t>
                    </m:r>
                    <m:r>
                      <m:rPr>
                        <m:sty m:val="p"/>
                      </m:rPr>
                      <a:rPr lang="el-GR" sz="1400" b="0" i="0" smtClean="0">
                        <a:latin typeface="Cambria Math" panose="02040503050406030204" pitchFamily="18" charset="0"/>
                      </a:rPr>
                      <m:t>σ</m:t>
                    </m:r>
                    <m:r>
                      <a:rPr lang="el-GR" sz="1400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l-GR" sz="1400" b="0" i="0" smtClean="0">
                        <a:latin typeface="Cambria Math" panose="02040503050406030204" pitchFamily="18" charset="0"/>
                      </a:rPr>
                      <m:t>σ</m:t>
                    </m:r>
                    <m:r>
                      <a:rPr lang="el-GR" sz="1400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l-GR" sz="1400" dirty="0"/>
                  <a:t>    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sz="1400" i="1"/>
                        </m:ctrlPr>
                      </m:accPr>
                      <m:e>
                        <m:sSub>
                          <m:sSubPr>
                            <m:ctrlPr>
                              <a:rPr lang="en-US" sz="1400" b="0" i="1"/>
                            </m:ctrlPr>
                          </m:sSubPr>
                          <m:e>
                            <m:r>
                              <a:rPr lang="en-US" sz="1400" b="0" i="1"/>
                              <m:t>𝑣</m:t>
                            </m:r>
                          </m:e>
                          <m:sub>
                            <m:r>
                              <a:rPr lang="en-US" sz="1400" b="0" i="1"/>
                              <m:t>𝑖</m:t>
                            </m:r>
                          </m:sub>
                        </m:sSub>
                      </m:e>
                    </m:acc>
                    <m:r>
                      <a:rPr lang="en-US" sz="1400" b="0" i="1"/>
                      <m:t>=</m:t>
                    </m:r>
                    <m:sSub>
                      <m:sSubPr>
                        <m:ctrlPr>
                          <a:rPr lang="en-US" sz="1400" b="0" i="1"/>
                        </m:ctrlPr>
                      </m:sSubPr>
                      <m:e>
                        <m:r>
                          <a:rPr lang="en-US" sz="1400" b="0" i="1"/>
                          <m:t>𝑣</m:t>
                        </m:r>
                      </m:e>
                      <m:sub>
                        <m:r>
                          <a:rPr lang="en-US" sz="1400" b="0" i="1"/>
                          <m:t>𝑖</m:t>
                        </m:r>
                      </m:sub>
                    </m:sSub>
                    <m:r>
                      <a:rPr lang="en-US" sz="1400" b="0" i="1"/>
                      <m:t>+</m:t>
                    </m:r>
                    <m:sSub>
                      <m:sSubPr>
                        <m:ctrlPr>
                          <a:rPr lang="en-US" sz="1400" b="0" i="1"/>
                        </m:ctrlPr>
                      </m:sSubPr>
                      <m:e>
                        <m:r>
                          <a:rPr lang="en-US" sz="1400" b="0" i="1"/>
                          <m:t>𝜀</m:t>
                        </m:r>
                      </m:e>
                      <m:sub>
                        <m:r>
                          <a:rPr lang="en-US" sz="1400" b="0" i="1"/>
                          <m:t>𝑖</m:t>
                        </m:r>
                      </m:sub>
                    </m:sSub>
                  </m:oMath>
                </a14:m>
                <a:r>
                  <a:rPr lang="el-GR" sz="1400" dirty="0"/>
                  <a:t>.</a:t>
                </a:r>
                <a:endParaRPr lang="en-US" sz="1400" dirty="0"/>
              </a:p>
            </p:txBody>
          </p:sp>
        </mc:Choice>
        <mc:Fallback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584B9D63-DF6F-EF49-F2C8-EC254A19BE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6500" y="2872083"/>
                <a:ext cx="6096000" cy="324769"/>
              </a:xfrm>
              <a:prstGeom prst="rect">
                <a:avLst/>
              </a:prstGeom>
              <a:blipFill>
                <a:blip r:embed="rId7"/>
                <a:stretch>
                  <a:fillRect t="-1887" b="-169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D9F6B6BB-2AAE-A996-A51D-EE979BFF9FDF}"/>
                  </a:ext>
                </a:extLst>
              </p:cNvPr>
              <p:cNvSpPr txBox="1"/>
              <p:nvPr/>
            </p:nvSpPr>
            <p:spPr>
              <a:xfrm>
                <a:off x="2562225" y="4460048"/>
                <a:ext cx="6096000" cy="5763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sz="1400" b="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400" b="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e>
                        <m:sub>
                          <m:r>
                            <a:rPr lang="en-US" sz="1400" b="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400" b="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b="0" i="1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sz="1400" b="0" i="0">
                          <a:latin typeface="Cambria Math" panose="02040503050406030204" pitchFamily="18" charset="0"/>
                        </a:rPr>
                        <m:t>⋅</m:t>
                      </m:r>
                      <m:func>
                        <m:funcPr>
                          <m:ctrlPr>
                            <a:rPr lang="en-US" sz="1400" b="0" i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400" b="0" i="0">
                              <a:latin typeface="Cambria Math" panose="02040503050406030204" pitchFamily="18" charset="0"/>
                            </a:rPr>
                            <m:t>round</m:t>
                          </m:r>
                        </m:fName>
                        <m:e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1400" b="0" i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400" b="0" i="0">
                                          <a:latin typeface="Cambria Math" panose="02040503050406030204" pitchFamily="18" charset="0"/>
                                        </a:rPr>
                                        <m:t>v</m:t>
                                      </m:r>
                                    </m:e>
                                    <m:sub>
                                      <m:r>
                                        <a:rPr lang="en-US" sz="1400" b="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sz="1400" b="0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D9F6B6BB-2AAE-A996-A51D-EE979BFF9F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2225" y="4460048"/>
                <a:ext cx="6096000" cy="57637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D863AAAF-FBC0-5279-E3F4-6AD066004158}"/>
                  </a:ext>
                </a:extLst>
              </p:cNvPr>
              <p:cNvSpPr txBox="1"/>
              <p:nvPr/>
            </p:nvSpPr>
            <p:spPr>
              <a:xfrm>
                <a:off x="8572499" y="4525735"/>
                <a:ext cx="2857501" cy="71558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00000"/>
                  </a:lnSpc>
                  <a:defRPr sz="1350" b="0" i="0">
                    <a:solidFill>
                      <a:srgbClr val="666C78"/>
                    </a:solidFill>
                    <a:latin typeface="Calibri"/>
                    <a:ea typeface="Calibri"/>
                    <a:cs typeface="Calibri"/>
                  </a:defRPr>
                </a:pPr>
                <a:r>
                  <a:rPr lang="el-GR" sz="1350" dirty="0">
                    <a:solidFill>
                      <a:srgbClr val="666C78"/>
                    </a:solidFill>
                    <a:latin typeface="Calibri"/>
                  </a:rPr>
                  <a:t>Κάθε συντεταγμένη στρογγυλοποιείται στο πλησιέστερο πολλαπλάσιο ενός βήματος </a:t>
                </a:r>
                <a14:m>
                  <m:oMath xmlns:m="http://schemas.openxmlformats.org/officeDocument/2006/math">
                    <m:r>
                      <a:rPr lang="en-US" sz="1350" i="1">
                        <a:solidFill>
                          <a:srgbClr val="666C78"/>
                        </a:solidFill>
                      </a:rPr>
                      <m:t>𝑞</m:t>
                    </m:r>
                  </m:oMath>
                </a14:m>
                <a:endParaRPr lang="el-GR" sz="1300" b="0" i="0" dirty="0">
                  <a:solidFill>
                    <a:srgbClr val="666C78"/>
                  </a:solidFill>
                  <a:latin typeface="Calibri"/>
                  <a:ea typeface="Calibri"/>
                  <a:cs typeface="Calibri"/>
                </a:endParaRPr>
              </a:p>
            </p:txBody>
          </p:sp>
        </mc:Choice>
        <mc:Fallback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D863AAAF-FBC0-5279-E3F4-6AD0660041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2499" y="4525735"/>
                <a:ext cx="2857501" cy="715581"/>
              </a:xfrm>
              <a:prstGeom prst="rect">
                <a:avLst/>
              </a:prstGeom>
              <a:blipFill>
                <a:blip r:embed="rId9"/>
                <a:stretch>
                  <a:fillRect l="-426" t="-847" b="-76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016494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19824A2D-8047-405B-8686-3C97358C96DB}"/>
              </a:ext>
            </a:extLst>
          </p:cNvPr>
          <p:cNvSpPr>
            <a:spLocks noGrp="1"/>
          </p:cNvSpPr>
          <p:nvPr/>
        </p:nvSpPr>
        <p:spPr>
          <a:xfrm>
            <a:off x="457200" y="381000"/>
            <a:ext cx="2286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00" b="1" i="0">
                <a:solidFill>
                  <a:srgbClr val="445EA3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445EA3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DC9BF86E-3143-40E3-AC34-DF07F1604E88}"/>
              </a:ext>
            </a:extLst>
          </p:cNvPr>
          <p:cNvSpPr>
            <a:spLocks noGrp="1"/>
          </p:cNvSpPr>
          <p:nvPr/>
        </p:nvSpPr>
        <p:spPr>
          <a:xfrm>
            <a:off x="714375" y="466725"/>
            <a:ext cx="19050" cy="0"/>
          </a:xfrm>
          <a:prstGeom prst="line">
            <a:avLst/>
          </a:prstGeom>
          <a:noFill/>
          <a:ln w="19050">
            <a:solidFill>
              <a:srgbClr val="445E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0887A15-20FB-48A3-ACFA-D3EBEB6A8562}"/>
              </a:ext>
            </a:extLst>
          </p:cNvPr>
          <p:cNvSpPr>
            <a:spLocks noGrp="1"/>
          </p:cNvSpPr>
          <p:nvPr/>
        </p:nvSpPr>
        <p:spPr>
          <a:xfrm>
            <a:off x="838200" y="323850"/>
            <a:ext cx="10715625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550" b="0" i="0">
                <a:solidFill>
                  <a:srgbClr val="445EA3"/>
                </a:solidFill>
                <a:latin typeface="Calibri"/>
                <a:ea typeface="Calibri"/>
                <a:cs typeface="Calibri"/>
              </a:defRPr>
            </a:pPr>
            <a:r>
              <a:rPr sz="2550" b="0" i="0">
                <a:solidFill>
                  <a:srgbClr val="445EA3"/>
                </a:solidFill>
                <a:latin typeface="Calibri"/>
                <a:ea typeface="Calibri"/>
                <a:cs typeface="Calibri"/>
              </a:rPr>
              <a:t>Μετρικές που απαντούν διαφορετικές ερωτήσεις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827C1332-4BFB-4C4C-84C1-40D9BF21FE36}"/>
              </a:ext>
            </a:extLst>
          </p:cNvPr>
          <p:cNvSpPr>
            <a:spLocks noGrp="1"/>
          </p:cNvSpPr>
          <p:nvPr/>
        </p:nvSpPr>
        <p:spPr>
          <a:xfrm>
            <a:off x="438150" y="6477000"/>
            <a:ext cx="11315700" cy="0"/>
          </a:xfrm>
          <a:prstGeom prst="line">
            <a:avLst/>
          </a:prstGeom>
          <a:noFill/>
          <a:ln w="19050">
            <a:solidFill>
              <a:srgbClr val="445E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38150" y="6534150"/>
            <a:ext cx="247650" cy="24765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C2B9A44-6B93-441C-A4C5-87C2A6F43028}"/>
              </a:ext>
            </a:extLst>
          </p:cNvPr>
          <p:cNvSpPr>
            <a:spLocks noGrp="1"/>
          </p:cNvSpPr>
          <p:nvPr/>
        </p:nvSpPr>
        <p:spPr>
          <a:xfrm>
            <a:off x="781050" y="6553200"/>
            <a:ext cx="82867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Mesh Denoising | 3D Υπολογιστική Όραση και Γεωμετρία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01AE3A7-EB88-4ADB-9C2F-463BD3B45D71}"/>
              </a:ext>
            </a:extLst>
          </p:cNvPr>
          <p:cNvSpPr>
            <a:spLocks noGrp="1"/>
          </p:cNvSpPr>
          <p:nvPr/>
        </p:nvSpPr>
        <p:spPr>
          <a:xfrm>
            <a:off x="11334750" y="6553200"/>
            <a:ext cx="3619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lang="en-US" sz="975" dirty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7</a:t>
            </a:r>
            <a:endParaRPr sz="975" b="0" i="0" dirty="0">
              <a:solidFill>
                <a:srgbClr val="666C78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FC94746-FFC4-40E5-BC7F-A77268E49035}"/>
              </a:ext>
            </a:extLst>
          </p:cNvPr>
          <p:cNvSpPr>
            <a:spLocks noGrp="1"/>
          </p:cNvSpPr>
          <p:nvPr/>
        </p:nvSpPr>
        <p:spPr>
          <a:xfrm>
            <a:off x="619125" y="1047749"/>
            <a:ext cx="2434737" cy="275379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1" i="0">
                <a:solidFill>
                  <a:srgbClr val="304A8C"/>
                </a:solidFill>
                <a:latin typeface="Calibri"/>
                <a:ea typeface="Calibri"/>
                <a:cs typeface="Calibri"/>
              </a:defRPr>
            </a:pPr>
            <a:r>
              <a:rPr lang="en-US" sz="1350" b="1" i="0" dirty="0">
                <a:solidFill>
                  <a:srgbClr val="304A8C"/>
                </a:solidFill>
                <a:latin typeface="Calibri"/>
                <a:ea typeface="Calibri"/>
                <a:cs typeface="Calibri"/>
              </a:rPr>
              <a:t>Mean Face Normal Angular Error</a:t>
            </a:r>
            <a:endParaRPr sz="1350" b="1" i="0" dirty="0">
              <a:solidFill>
                <a:srgbClr val="304A8C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3636E522-D873-4120-8713-9BD0B167B711}"/>
              </a:ext>
            </a:extLst>
          </p:cNvPr>
          <p:cNvSpPr>
            <a:spLocks noGrp="1"/>
          </p:cNvSpPr>
          <p:nvPr/>
        </p:nvSpPr>
        <p:spPr>
          <a:xfrm>
            <a:off x="619125" y="1343025"/>
            <a:ext cx="2333625" cy="0"/>
          </a:xfrm>
          <a:prstGeom prst="line">
            <a:avLst/>
          </a:prstGeom>
          <a:noFill/>
          <a:ln w="14288">
            <a:solidFill>
              <a:srgbClr val="304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EEA5EB9-A194-4AE2-BDC0-C6B1AFAD06B3}"/>
              </a:ext>
            </a:extLst>
          </p:cNvPr>
          <p:cNvSpPr>
            <a:spLocks noGrp="1"/>
          </p:cNvSpPr>
          <p:nvPr/>
        </p:nvSpPr>
        <p:spPr>
          <a:xfrm>
            <a:off x="8572500" y="1085850"/>
            <a:ext cx="28575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350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Πόσο άλλαξε ο προσανατολισμός της επιφάνειας;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E1653F-6FC7-4450-BBA5-751EB105BA10}"/>
              </a:ext>
            </a:extLst>
          </p:cNvPr>
          <p:cNvSpPr>
            <a:spLocks noGrp="1"/>
          </p:cNvSpPr>
          <p:nvPr/>
        </p:nvSpPr>
        <p:spPr>
          <a:xfrm>
            <a:off x="619124" y="2009775"/>
            <a:ext cx="2610584" cy="495299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>
              <a:defRPr sz="1350" b="1" i="0">
                <a:solidFill>
                  <a:srgbClr val="304A8C"/>
                </a:solidFill>
                <a:latin typeface="Calibri"/>
                <a:ea typeface="Calibri"/>
                <a:cs typeface="Calibri"/>
              </a:defRPr>
            </a:pPr>
            <a:r>
              <a:rPr lang="en-US" sz="1350" b="1" dirty="0">
                <a:solidFill>
                  <a:srgbClr val="304A8C"/>
                </a:solidFill>
                <a:latin typeface="Calibri"/>
              </a:rPr>
              <a:t>Area-weighted L2 vertex-to-surface distance</a:t>
            </a:r>
            <a:endParaRPr sz="1350" b="1" i="0" dirty="0">
              <a:solidFill>
                <a:srgbClr val="304A8C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1285C6DC-94D3-4809-9046-788969B38C2E}"/>
              </a:ext>
            </a:extLst>
          </p:cNvPr>
          <p:cNvSpPr>
            <a:spLocks noGrp="1"/>
          </p:cNvSpPr>
          <p:nvPr/>
        </p:nvSpPr>
        <p:spPr>
          <a:xfrm>
            <a:off x="619125" y="2533650"/>
            <a:ext cx="2333625" cy="0"/>
          </a:xfrm>
          <a:prstGeom prst="line">
            <a:avLst/>
          </a:prstGeom>
          <a:noFill/>
          <a:ln w="14288">
            <a:solidFill>
              <a:srgbClr val="304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8" name="Picture 3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3286125" y="2876549"/>
            <a:ext cx="4953000" cy="352527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7683AE25-7D50-415B-8C3A-B58126EAF5F2}"/>
              </a:ext>
            </a:extLst>
          </p:cNvPr>
          <p:cNvSpPr>
            <a:spLocks noGrp="1"/>
          </p:cNvSpPr>
          <p:nvPr/>
        </p:nvSpPr>
        <p:spPr>
          <a:xfrm>
            <a:off x="8572500" y="2276475"/>
            <a:ext cx="28575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 fontScale="97397"/>
          </a:bodyPr>
          <a:lstStyle/>
          <a:p>
            <a:pPr algn="l">
              <a:lnSpc>
                <a:spcPct val="105000"/>
              </a:lnSpc>
              <a:buNone/>
              <a:defRPr sz="1350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Πόσο μακριά βρίσκεται το processed mesh και ποιο είναι το χειρότερο σημείο;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65B1FE5-EF2B-49FE-A359-AF588811DB73}"/>
              </a:ext>
            </a:extLst>
          </p:cNvPr>
          <p:cNvSpPr>
            <a:spLocks noGrp="1"/>
          </p:cNvSpPr>
          <p:nvPr/>
        </p:nvSpPr>
        <p:spPr>
          <a:xfrm>
            <a:off x="619125" y="3429000"/>
            <a:ext cx="23336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1" i="0">
                <a:solidFill>
                  <a:srgbClr val="304A8C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304A8C"/>
                </a:solidFill>
                <a:latin typeface="Calibri"/>
                <a:ea typeface="Calibri"/>
                <a:cs typeface="Calibri"/>
              </a:rPr>
              <a:t>Αντίστοιχες κορυφές</a:t>
            </a:r>
          </a:p>
        </p:txBody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1F5A02E3-575A-41EE-A119-9D09A2DCE527}"/>
              </a:ext>
            </a:extLst>
          </p:cNvPr>
          <p:cNvSpPr>
            <a:spLocks noGrp="1"/>
          </p:cNvSpPr>
          <p:nvPr/>
        </p:nvSpPr>
        <p:spPr>
          <a:xfrm>
            <a:off x="619125" y="3724275"/>
            <a:ext cx="2333625" cy="0"/>
          </a:xfrm>
          <a:prstGeom prst="line">
            <a:avLst/>
          </a:prstGeom>
          <a:noFill/>
          <a:ln w="14288">
            <a:solidFill>
              <a:srgbClr val="304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2" name="Picture 41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3286125" y="3491760"/>
            <a:ext cx="4953000" cy="52218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CA2F5016-7614-4BE9-B311-32AA48F95036}"/>
              </a:ext>
            </a:extLst>
          </p:cNvPr>
          <p:cNvSpPr>
            <a:spLocks noGrp="1"/>
          </p:cNvSpPr>
          <p:nvPr/>
        </p:nvSpPr>
        <p:spPr>
          <a:xfrm>
            <a:off x="8572500" y="3467100"/>
            <a:ext cx="28575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350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Πόσο μετακινήθηκε κατά μέσο όρο η ίδια κορυφή;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99126CF-A2AE-4A98-B461-3423FD39741B}"/>
              </a:ext>
            </a:extLst>
          </p:cNvPr>
          <p:cNvSpPr>
            <a:spLocks noGrp="1"/>
          </p:cNvSpPr>
          <p:nvPr/>
        </p:nvSpPr>
        <p:spPr>
          <a:xfrm>
            <a:off x="619125" y="4695825"/>
            <a:ext cx="23336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1" i="0">
                <a:solidFill>
                  <a:srgbClr val="304A8C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304A8C"/>
                </a:solidFill>
                <a:latin typeface="Calibri"/>
                <a:ea typeface="Calibri"/>
                <a:cs typeface="Calibri"/>
              </a:rPr>
              <a:t>Τραχύτητα και κλίμακα</a:t>
            </a:r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B72B4237-9FB6-416C-B0B0-59F8E09DDE1E}"/>
              </a:ext>
            </a:extLst>
          </p:cNvPr>
          <p:cNvSpPr>
            <a:spLocks noGrp="1"/>
          </p:cNvSpPr>
          <p:nvPr/>
        </p:nvSpPr>
        <p:spPr>
          <a:xfrm>
            <a:off x="619125" y="4991100"/>
            <a:ext cx="2333625" cy="0"/>
          </a:xfrm>
          <a:prstGeom prst="line">
            <a:avLst/>
          </a:prstGeom>
          <a:noFill/>
          <a:ln w="14288">
            <a:solidFill>
              <a:srgbClr val="304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CA5C5A9-108C-437A-BB1B-4F0BC1368539}"/>
              </a:ext>
            </a:extLst>
          </p:cNvPr>
          <p:cNvSpPr>
            <a:spLocks noGrp="1"/>
          </p:cNvSpPr>
          <p:nvPr/>
        </p:nvSpPr>
        <p:spPr>
          <a:xfrm>
            <a:off x="3286125" y="4695825"/>
            <a:ext cx="49530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500" b="1" i="0">
                <a:solidFill>
                  <a:srgbClr val="6D5BD0"/>
                </a:solidFill>
                <a:latin typeface="Calibri"/>
                <a:ea typeface="Calibri"/>
                <a:cs typeface="Calibri"/>
              </a:defRPr>
            </a:pPr>
            <a:r>
              <a:rPr sz="1500" b="1" i="0">
                <a:solidFill>
                  <a:srgbClr val="6D5BD0"/>
                </a:solidFill>
                <a:latin typeface="Calibri"/>
                <a:ea typeface="Calibri"/>
                <a:cs typeface="Calibri"/>
              </a:rPr>
              <a:t>HF energy ratio, mean-radius ratio, AABB-volume ratio, surface-area ratio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0827B96-6BB4-4D9A-BEB7-24DC09F57F23}"/>
              </a:ext>
            </a:extLst>
          </p:cNvPr>
          <p:cNvSpPr>
            <a:spLocks noGrp="1"/>
          </p:cNvSpPr>
          <p:nvPr/>
        </p:nvSpPr>
        <p:spPr>
          <a:xfrm>
            <a:off x="8572500" y="4733925"/>
            <a:ext cx="28575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350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Ανιχνεύουν over-smoothing, shrinkage και μεταβολή του συνολικού σχήματος.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854156D-EBC8-476B-9713-C7E009D8E3B3}"/>
              </a:ext>
            </a:extLst>
          </p:cNvPr>
          <p:cNvSpPr>
            <a:spLocks noGrp="1"/>
          </p:cNvSpPr>
          <p:nvPr/>
        </p:nvSpPr>
        <p:spPr>
          <a:xfrm>
            <a:off x="2047875" y="5743575"/>
            <a:ext cx="80962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425" b="1" i="0">
                <a:solidFill>
                  <a:srgbClr val="A64337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A64337"/>
                </a:solidFill>
                <a:latin typeface="Calibri"/>
                <a:ea typeface="Calibri"/>
                <a:cs typeface="Calibri"/>
              </a:rPr>
              <a:t>Το RMSE απαιτεί γνωστή correspondence. Οι point-to-surface μετρικές δεν την απαιτούν.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AB41E2B-D1FF-91AD-F1BF-B8D04BF48758}"/>
                  </a:ext>
                </a:extLst>
              </p:cNvPr>
              <p:cNvSpPr txBox="1"/>
              <p:nvPr/>
            </p:nvSpPr>
            <p:spPr>
              <a:xfrm>
                <a:off x="2375388" y="942976"/>
                <a:ext cx="6096000" cy="6394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m:rPr>
                          <m:sty m:val="p"/>
                        </m:rPr>
                        <a:rPr lang="en-US" sz="1400" b="0" i="0" smtClean="0">
                          <a:latin typeface="Cambria Math" panose="02040503050406030204" pitchFamily="18" charset="0"/>
                        </a:rPr>
                        <m:t>SAE</m:t>
                      </m:r>
                      <m:r>
                        <a:rPr lang="en-US" sz="1400" b="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b="0" i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US" sz="14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0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  <m:r>
                                <a:rPr lang="en-US" sz="1400" b="0" i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e>
                          </m:d>
                        </m:den>
                      </m:f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en-US" sz="1400" b="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400" b="0" i="1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1400" b="0" i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1400" b="0" i="1"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en-US" sz="1400" b="0" i="0">
                              <a:latin typeface="Cambria Math" panose="02040503050406030204" pitchFamily="18" charset="0"/>
                            </a:rPr>
                            <m:t>′</m:t>
                          </m:r>
                        </m:sub>
                        <m:sup/>
                        <m:e>
                          <m:func>
                            <m:funcPr>
                              <m:ctrlPr>
                                <a:rPr lang="en-US" sz="1400" b="0" i="1"/>
                              </m:ctrlPr>
                            </m:funcPr>
                            <m:fName>
                              <m:r>
                                <a:rPr lang="en-US" sz="1400" b="0" i="1"/>
                                <m:t>𝑎𝑟𝑐𝑐𝑜𝑠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1400" i="1"/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en-US" sz="1400" b="0" i="1"/>
                                      </m:ctrlPr>
                                    </m:funcPr>
                                    <m:fName>
                                      <m:r>
                                        <a:rPr lang="en-US" sz="1400" b="0" i="1"/>
                                        <m:t>𝑐𝑙𝑖𝑝</m:t>
                                      </m:r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en-US" sz="1400" i="1"/>
                                          </m:ctrlPr>
                                        </m:dPr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US" sz="1400" b="0" i="1"/>
                                              </m:ctrlPr>
                                            </m:sSubSup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1400" b="0" i="1"/>
                                                <m:t>n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400" b="0" i="1"/>
                                                <m:t>𝑓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sz="1400" b="0" i="1"/>
                                                <m:t>𝑟𝑒𝑓</m:t>
                                              </m:r>
                                            </m:sup>
                                          </m:sSubSup>
                                          <m:r>
                                            <a:rPr lang="en-US" sz="1400" b="0" i="1"/>
                                            <m:t>⋅</m:t>
                                          </m:r>
                                          <m:sSubSup>
                                            <m:sSubSupPr>
                                              <m:ctrlPr>
                                                <a:rPr lang="en-US" sz="1400" b="0" i="1"/>
                                              </m:ctrlPr>
                                            </m:sSubSup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1400" b="0" i="1"/>
                                                <m:t>n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400" b="0" i="1"/>
                                                <m:t>𝑓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sz="1400" b="0" i="1"/>
                                                <m:t>𝑡𝑒𝑠𝑡</m:t>
                                              </m:r>
                                            </m:sup>
                                          </m:sSubSup>
                                          <m:r>
                                            <a:rPr lang="en-US" sz="1400" b="0" i="1"/>
                                            <m:t>,−1,1</m:t>
                                          </m:r>
                                        </m:e>
                                      </m:d>
                                    </m:e>
                                  </m:func>
                                </m:e>
                              </m:d>
                            </m:e>
                          </m:func>
                        </m:e>
                      </m:nary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AB41E2B-D1FF-91AD-F1BF-B8D04BF48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5388" y="942976"/>
                <a:ext cx="6096000" cy="639470"/>
              </a:xfrm>
              <a:prstGeom prst="rect">
                <a:avLst/>
              </a:prstGeom>
              <a:blipFill>
                <a:blip r:embed="rId6"/>
                <a:stretch>
                  <a:fillRect t="-111429" b="-1561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11124E6-1A1A-9EAA-1055-8DA9B92A0A3F}"/>
                  </a:ext>
                </a:extLst>
              </p:cNvPr>
              <p:cNvSpPr txBox="1"/>
              <p:nvPr/>
            </p:nvSpPr>
            <p:spPr>
              <a:xfrm>
                <a:off x="2199542" y="1695450"/>
                <a:ext cx="6096000" cy="11459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4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1400" b="0" i="1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  <m:r>
                        <a:rPr lang="en-US" sz="1400" b="0" i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1400" b="0" i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400" b="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1400" b="0" i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sSub>
                                <m:sSubPr>
                                  <m:ctrlPr>
                                    <a:rPr lang="en-US" sz="14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sz="1400" b="0" i="1">
                                      <a:latin typeface="Cambria Math" panose="02040503050406030204" pitchFamily="18" charset="0"/>
                                    </a:rPr>
                                    <m:t>𝑟𝑒𝑓</m:t>
                                  </m:r>
                                </m:sub>
                              </m:sSub>
                            </m:den>
                          </m:f>
                          <m:nary>
                            <m:naryPr>
                              <m:chr m:val="∑"/>
                              <m:limLoc m:val="undOvr"/>
                              <m:ctrlPr>
                                <a:rPr lang="en-US" sz="1400" b="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1400" b="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400" b="0" i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1400" b="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r>
                                <a:rPr lang="en-US" sz="1400" b="0" i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400" b="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sz="1400" b="0" i="0">
                                  <a:latin typeface="Cambria Math" panose="02040503050406030204" pitchFamily="18" charset="0"/>
                                </a:rPr>
                                <m:t>ᵢ </m:t>
                              </m:r>
                              <m:sSubSup>
                                <m:sSubSupPr>
                                  <m:ctrlPr>
                                    <a:rPr lang="en-US" sz="14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400" b="0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sz="1400" b="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sz="1400" b="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sz="1400" b="0" i="0">
                                  <a:latin typeface="Cambria Math" panose="02040503050406030204" pitchFamily="18" charset="0"/>
                                </a:rPr>
                                <m:t>​​</m:t>
                              </m:r>
                            </m:e>
                          </m:nary>
                        </m:e>
                      </m:rad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       </m:t>
                          </m:r>
                          <m:r>
                            <a:rPr lang="en-US" sz="1400" b="0" i="1"/>
                            <m:t>𝐴</m:t>
                          </m:r>
                        </m:e>
                        <m:sub>
                          <m:r>
                            <a:rPr lang="en-US" sz="1400" b="0" i="1"/>
                            <m:t>𝑟𝑒𝑓</m:t>
                          </m:r>
                        </m:sub>
                      </m:sSub>
                      <m:r>
                        <a:rPr lang="en-US" sz="1400" b="0" i="1"/>
                        <m:t>=</m:t>
                      </m:r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en-US" sz="1400" b="0" i="1"/>
                          </m:ctrlPr>
                        </m:naryPr>
                        <m:sub>
                          <m:r>
                            <a:rPr lang="en-US" sz="1400" b="0" i="1"/>
                            <m:t>𝑓</m:t>
                          </m:r>
                          <m:r>
                            <a:rPr lang="en-US" sz="1400" b="0" i="1"/>
                            <m:t>∈</m:t>
                          </m:r>
                          <m:r>
                            <a:rPr lang="en-US" sz="1400" b="0" i="1"/>
                            <m:t>𝐹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US" sz="1400" b="0" i="1"/>
                              </m:ctrlPr>
                            </m:sSubSupPr>
                            <m:e>
                              <m:r>
                                <a:rPr lang="en-US" sz="1400" b="0" i="1"/>
                                <m:t>𝐴</m:t>
                              </m:r>
                            </m:e>
                            <m:sub>
                              <m:r>
                                <a:rPr lang="en-US" sz="1400" b="0" i="1"/>
                                <m:t>𝑓</m:t>
                              </m:r>
                            </m:sub>
                            <m:sup>
                              <m:r>
                                <a:rPr lang="en-US" sz="1400" b="0" i="1"/>
                                <m:t>𝑟𝑒𝑓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US" sz="1400" dirty="0"/>
              </a:p>
              <a:p>
                <a:pPr/>
                <a:endParaRPr lang="en-US" sz="1400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11124E6-1A1A-9EAA-1055-8DA9B92A0A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9542" y="1695450"/>
                <a:ext cx="6096000" cy="114595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57260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AC1DA1A-9FD1-43A3-95EF-E7FAA0CAD492}"/>
              </a:ext>
            </a:extLst>
          </p:cNvPr>
          <p:cNvSpPr>
            <a:spLocks noGrp="1"/>
          </p:cNvSpPr>
          <p:nvPr/>
        </p:nvSpPr>
        <p:spPr>
          <a:xfrm>
            <a:off x="457200" y="381000"/>
            <a:ext cx="2286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00" b="1" i="0">
                <a:solidFill>
                  <a:srgbClr val="445EA3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445EA3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47807F79-3646-4DA7-8918-A97AD4A23C02}"/>
              </a:ext>
            </a:extLst>
          </p:cNvPr>
          <p:cNvSpPr>
            <a:spLocks noGrp="1"/>
          </p:cNvSpPr>
          <p:nvPr/>
        </p:nvSpPr>
        <p:spPr>
          <a:xfrm>
            <a:off x="714375" y="466725"/>
            <a:ext cx="19050" cy="0"/>
          </a:xfrm>
          <a:prstGeom prst="line">
            <a:avLst/>
          </a:prstGeom>
          <a:noFill/>
          <a:ln w="19050">
            <a:solidFill>
              <a:srgbClr val="445E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00034C3-3C41-445B-8F4A-D672550B32EF}"/>
              </a:ext>
            </a:extLst>
          </p:cNvPr>
          <p:cNvSpPr>
            <a:spLocks noGrp="1"/>
          </p:cNvSpPr>
          <p:nvPr/>
        </p:nvSpPr>
        <p:spPr>
          <a:xfrm>
            <a:off x="838200" y="323850"/>
            <a:ext cx="10715625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550" b="0" i="0">
                <a:solidFill>
                  <a:srgbClr val="445EA3"/>
                </a:solidFill>
                <a:latin typeface="Calibri"/>
                <a:ea typeface="Calibri"/>
                <a:cs typeface="Calibri"/>
              </a:defRPr>
            </a:pPr>
            <a:r>
              <a:rPr sz="2550" b="0" i="0">
                <a:solidFill>
                  <a:srgbClr val="445EA3"/>
                </a:solidFill>
                <a:latin typeface="Calibri"/>
                <a:ea typeface="Calibri"/>
                <a:cs typeface="Calibri"/>
              </a:rPr>
              <a:t>Ο Gaussian θόρυβος μεταβάλλει εντονότερα τη γεωμετρία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590F73BB-5604-420F-99B4-3657B9033943}"/>
              </a:ext>
            </a:extLst>
          </p:cNvPr>
          <p:cNvSpPr>
            <a:spLocks noGrp="1"/>
          </p:cNvSpPr>
          <p:nvPr/>
        </p:nvSpPr>
        <p:spPr>
          <a:xfrm>
            <a:off x="438150" y="6477000"/>
            <a:ext cx="11315700" cy="0"/>
          </a:xfrm>
          <a:prstGeom prst="line">
            <a:avLst/>
          </a:prstGeom>
          <a:noFill/>
          <a:ln w="19050">
            <a:solidFill>
              <a:srgbClr val="445E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38150" y="6534150"/>
            <a:ext cx="247650" cy="24765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D7EA927-4394-4EB6-A8A5-CAD485CE5012}"/>
              </a:ext>
            </a:extLst>
          </p:cNvPr>
          <p:cNvSpPr>
            <a:spLocks noGrp="1"/>
          </p:cNvSpPr>
          <p:nvPr/>
        </p:nvSpPr>
        <p:spPr>
          <a:xfrm>
            <a:off x="781050" y="6553200"/>
            <a:ext cx="82867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Mesh Denoising | 3D Υπολογιστική Όραση και Γεωμετρία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3CEFFDC-0B25-4692-9F37-59FE4F87A8A5}"/>
              </a:ext>
            </a:extLst>
          </p:cNvPr>
          <p:cNvSpPr>
            <a:spLocks noGrp="1"/>
          </p:cNvSpPr>
          <p:nvPr/>
        </p:nvSpPr>
        <p:spPr>
          <a:xfrm>
            <a:off x="11334750" y="6553200"/>
            <a:ext cx="3619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  <p:graphicFrame>
        <p:nvGraphicFramePr>
          <p:cNvPr id="18" name="Table 17"/>
          <p:cNvGraphicFramePr/>
          <p:nvPr/>
        </p:nvGraphicFramePr>
        <p:xfrm>
          <a:off x="495300" y="1200150"/>
          <a:ext cx="7048500" cy="3429000"/>
        </p:xfrm>
        <a:graphic>
          <a:graphicData uri="http://schemas.openxmlformats.org/drawingml/2006/table">
            <a:tbl>
              <a:tblPr/>
              <a:tblGrid>
                <a:gridCol w="200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38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r>
                        <a:t>Θόρυβος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MSAE (°)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Hausdorff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HF ratio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t>Gaussian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A64337"/>
                          </a:solidFill>
                          <a:latin typeface="Calibri"/>
                          <a:ea typeface="Calibri"/>
                          <a:cs typeface="Calibri"/>
                        </a:rPr>
                        <a:t>12.262</a:t>
                      </a:r>
                    </a:p>
                  </a:txBody>
                  <a:tcPr anchor="ctr">
                    <a:solidFill>
                      <a:srgbClr val="FFF0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A64337"/>
                          </a:solidFill>
                          <a:latin typeface="Calibri"/>
                          <a:ea typeface="Calibri"/>
                          <a:cs typeface="Calibri"/>
                        </a:rPr>
                        <a:t>0.002196</a:t>
                      </a:r>
                    </a:p>
                  </a:txBody>
                  <a:tcPr anchor="ctr">
                    <a:solidFill>
                      <a:srgbClr val="FFF0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0.005831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2.114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11.533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0.001265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0.005720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1.370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t>Uniform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7.116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0.001270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0.002044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1.371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t>Impulse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1.225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0.000898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A64337"/>
                          </a:solidFill>
                          <a:latin typeface="Calibri"/>
                          <a:ea typeface="Calibri"/>
                          <a:cs typeface="Calibri"/>
                        </a:rPr>
                        <a:t>0.006330</a:t>
                      </a:r>
                    </a:p>
                  </a:txBody>
                  <a:tcPr anchor="ctr">
                    <a:solidFill>
                      <a:srgbClr val="FFF0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1.184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t>Quantization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3.512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0.000635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0.001054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1.087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19" name="Picture 18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8083868" y="1238250"/>
            <a:ext cx="2834640" cy="2667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FBCF56C-55B6-4019-A990-B7E007598BB2}"/>
              </a:ext>
            </a:extLst>
          </p:cNvPr>
          <p:cNvSpPr>
            <a:spLocks noGrp="1"/>
          </p:cNvSpPr>
          <p:nvPr/>
        </p:nvSpPr>
        <p:spPr>
          <a:xfrm>
            <a:off x="7810500" y="4095750"/>
            <a:ext cx="3714750" cy="17145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marL="279400" indent="-139700" algn="l">
              <a:lnSpc>
                <a:spcPct val="108000"/>
              </a:lnSpc>
              <a:spcAft>
                <a:spcPts val="700"/>
              </a:spcAft>
              <a:buNone/>
              <a:defRPr sz="1350" b="0" i="0">
                <a:solidFill>
                  <a:srgbClr val="1E1E1E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Gaussian: </a:t>
            </a:r>
            <a:r>
              <a:rPr sz="1350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μεγαλύτερο MSAE, RMSE και HF ratio.</a:t>
            </a:r>
          </a:p>
          <a:p>
            <a:pPr marL="279400" indent="-139700" algn="l">
              <a:lnSpc>
                <a:spcPct val="108000"/>
              </a:lnSpc>
              <a:spcAft>
                <a:spcPts val="700"/>
              </a:spcAft>
              <a:buNone/>
              <a:defRPr sz="1350" b="0" i="0">
                <a:solidFill>
                  <a:srgbClr val="1E1E1E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Impulse: </a:t>
            </a:r>
            <a:r>
              <a:rPr sz="1350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μικρός μέσος όρος αλλά μέγιστη Hausdorff λόγω λίγων spikes.</a:t>
            </a:r>
          </a:p>
          <a:p>
            <a:pPr marL="279400" indent="-139700" algn="l">
              <a:lnSpc>
                <a:spcPct val="108000"/>
              </a:lnSpc>
              <a:spcAft>
                <a:spcPts val="700"/>
              </a:spcAft>
              <a:buNone/>
              <a:defRPr sz="1350" b="0" i="0">
                <a:solidFill>
                  <a:srgbClr val="1E1E1E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Radius ratio: </a:t>
            </a:r>
            <a:r>
              <a:rPr sz="1350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παραμένει περίπου 1 για όλους τους θορύβους.</a:t>
            </a:r>
          </a:p>
        </p:txBody>
      </p:sp>
    </p:spTree>
    <p:extLst>
      <p:ext uri="{BB962C8B-B14F-4D97-AF65-F5344CB8AC3E}">
        <p14:creationId xmlns:p14="http://schemas.microsoft.com/office/powerpoint/2010/main" val="5413369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F5356CAD-A5FB-4074-96EA-77DCF180C275}"/>
              </a:ext>
            </a:extLst>
          </p:cNvPr>
          <p:cNvSpPr>
            <a:spLocks noGrp="1"/>
          </p:cNvSpPr>
          <p:nvPr/>
        </p:nvSpPr>
        <p:spPr>
          <a:xfrm>
            <a:off x="533400" y="552450"/>
            <a:ext cx="723900" cy="723900"/>
          </a:xfrm>
          <a:prstGeom prst="rect">
            <a:avLst/>
          </a:prstGeom>
          <a:solidFill>
            <a:srgbClr val="E8EEF9"/>
          </a:solidFill>
          <a:ln w="9525">
            <a:solidFill>
              <a:srgbClr val="BFCB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8D8524-A251-4F70-A095-2A7EE5A62274}"/>
              </a:ext>
            </a:extLst>
          </p:cNvPr>
          <p:cNvSpPr>
            <a:spLocks noGrp="1"/>
          </p:cNvSpPr>
          <p:nvPr/>
        </p:nvSpPr>
        <p:spPr>
          <a:xfrm>
            <a:off x="533400" y="552450"/>
            <a:ext cx="7239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2100" b="0" i="0">
                <a:solidFill>
                  <a:srgbClr val="304A8C"/>
                </a:solidFill>
                <a:latin typeface="Calibri"/>
                <a:ea typeface="Calibri"/>
                <a:cs typeface="Calibri"/>
              </a:defRPr>
            </a:pPr>
            <a:r>
              <a:rPr sz="2100" b="0" i="0">
                <a:solidFill>
                  <a:srgbClr val="304A8C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549751C-8803-4F20-AC83-97BAF9A66F6E}"/>
              </a:ext>
            </a:extLst>
          </p:cNvPr>
          <p:cNvSpPr>
            <a:spLocks noGrp="1"/>
          </p:cNvSpPr>
          <p:nvPr/>
        </p:nvSpPr>
        <p:spPr>
          <a:xfrm>
            <a:off x="1762125" y="2333625"/>
            <a:ext cx="49530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 fontScale="86805"/>
          </a:bodyPr>
          <a:lstStyle/>
          <a:p>
            <a:pPr algn="ctr">
              <a:lnSpc>
                <a:spcPct val="105000"/>
              </a:lnSpc>
              <a:buNone/>
              <a:defRPr sz="2400" b="0" i="0">
                <a:solidFill>
                  <a:srgbClr val="445EA3"/>
                </a:solidFill>
                <a:latin typeface="Calibri"/>
                <a:ea typeface="Calibri"/>
                <a:cs typeface="Calibri"/>
              </a:defRPr>
            </a:pPr>
            <a:r>
              <a:rPr sz="2400" b="0" i="0">
                <a:solidFill>
                  <a:srgbClr val="445EA3"/>
                </a:solidFill>
                <a:latin typeface="Calibri"/>
                <a:ea typeface="Calibri"/>
                <a:cs typeface="Calibri"/>
              </a:rPr>
              <a:t>Ανίχνευση και στατική αποθορυβοποίηση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B82DCFFE-737B-484A-BFCF-E1E34A0F11BC}"/>
              </a:ext>
            </a:extLst>
          </p:cNvPr>
          <p:cNvSpPr>
            <a:spLocks noGrp="1"/>
          </p:cNvSpPr>
          <p:nvPr/>
        </p:nvSpPr>
        <p:spPr>
          <a:xfrm>
            <a:off x="2667000" y="3095625"/>
            <a:ext cx="3143250" cy="0"/>
          </a:xfrm>
          <a:prstGeom prst="line">
            <a:avLst/>
          </a:prstGeom>
          <a:noFill/>
          <a:ln w="19050">
            <a:solidFill>
              <a:srgbClr val="445E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D30FA45-E559-44EC-8A21-522C4D46A69C}"/>
              </a:ext>
            </a:extLst>
          </p:cNvPr>
          <p:cNvSpPr>
            <a:spLocks noGrp="1"/>
          </p:cNvSpPr>
          <p:nvPr/>
        </p:nvSpPr>
        <p:spPr>
          <a:xfrm>
            <a:off x="2762250" y="3333750"/>
            <a:ext cx="3048000" cy="15240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marL="279400" indent="-139700" algn="l">
              <a:lnSpc>
                <a:spcPct val="108000"/>
              </a:lnSpc>
              <a:spcAft>
                <a:spcPts val="700"/>
              </a:spcAft>
              <a:buNone/>
              <a:defRPr sz="1425" b="0" i="0">
                <a:solidFill>
                  <a:srgbClr val="304A8C"/>
                </a:solidFill>
                <a:latin typeface="Calibri"/>
                <a:ea typeface="Calibri"/>
                <a:cs typeface="Calibri"/>
              </a:defRPr>
            </a:pPr>
            <a:r>
              <a:rPr sz="1425">
                <a:solidFill>
                  <a:srgbClr val="304A8C"/>
                </a:solidFill>
                <a:latin typeface="Calibri"/>
                <a:ea typeface="Calibri"/>
                <a:cs typeface="Calibri"/>
              </a:rPr>
              <a:t>Κανονικά και candidate regions</a:t>
            </a:r>
          </a:p>
          <a:p>
            <a:pPr marL="279400" indent="-139700" algn="l">
              <a:lnSpc>
                <a:spcPct val="108000"/>
              </a:lnSpc>
              <a:spcAft>
                <a:spcPts val="700"/>
              </a:spcAft>
              <a:buNone/>
              <a:defRPr sz="1425" b="0" i="0">
                <a:solidFill>
                  <a:srgbClr val="304A8C"/>
                </a:solidFill>
                <a:latin typeface="Calibri"/>
                <a:ea typeface="Calibri"/>
                <a:cs typeface="Calibri"/>
              </a:defRPr>
            </a:pPr>
            <a:r>
              <a:rPr sz="1425">
                <a:solidFill>
                  <a:srgbClr val="304A8C"/>
                </a:solidFill>
                <a:latin typeface="Calibri"/>
                <a:ea typeface="Calibri"/>
                <a:cs typeface="Calibri"/>
              </a:rPr>
              <a:t>Laplacian, Taubin, feature-aware</a:t>
            </a:r>
          </a:p>
          <a:p>
            <a:pPr marL="279400" indent="-139700" algn="l">
              <a:lnSpc>
                <a:spcPct val="108000"/>
              </a:lnSpc>
              <a:spcAft>
                <a:spcPts val="700"/>
              </a:spcAft>
              <a:buNone/>
              <a:defRPr sz="1425" b="0" i="0">
                <a:solidFill>
                  <a:srgbClr val="304A8C"/>
                </a:solidFill>
                <a:latin typeface="Calibri"/>
                <a:ea typeface="Calibri"/>
                <a:cs typeface="Calibri"/>
              </a:defRPr>
            </a:pPr>
            <a:r>
              <a:rPr sz="1425">
                <a:solidFill>
                  <a:srgbClr val="304A8C"/>
                </a:solidFill>
                <a:latin typeface="Calibri"/>
                <a:ea typeface="Calibri"/>
                <a:cs typeface="Calibri"/>
              </a:rPr>
              <a:t>Remeshing και οπές</a:t>
            </a:r>
          </a:p>
        </p:txBody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07C39EF5-EFC1-415C-91D3-F34C4A0AE97A}"/>
              </a:ext>
            </a:extLst>
          </p:cNvPr>
          <p:cNvSpPr>
            <a:spLocks noGrp="1"/>
          </p:cNvSpPr>
          <p:nvPr/>
        </p:nvSpPr>
        <p:spPr>
          <a:xfrm>
            <a:off x="7239000" y="809625"/>
            <a:ext cx="0" cy="0"/>
          </a:xfrm>
          <a:prstGeom prst="line">
            <a:avLst/>
          </a:prstGeom>
          <a:noFill/>
          <a:ln w="9525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858125" y="1738250"/>
            <a:ext cx="3143250" cy="2905249"/>
          </a:xfrm>
          <a:prstGeom prst="roundRect">
            <a:avLst>
              <a:gd name="adj" fmla="val 3636"/>
            </a:avLst>
          </a:prstGeom>
        </p:spPr>
      </p:pic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AFFC539B-D386-4CB5-A27D-ECF019FA97EB}"/>
              </a:ext>
            </a:extLst>
          </p:cNvPr>
          <p:cNvSpPr>
            <a:spLocks noGrp="1"/>
          </p:cNvSpPr>
          <p:nvPr/>
        </p:nvSpPr>
        <p:spPr>
          <a:xfrm>
            <a:off x="438150" y="6477000"/>
            <a:ext cx="11315700" cy="0"/>
          </a:xfrm>
          <a:prstGeom prst="line">
            <a:avLst/>
          </a:prstGeom>
          <a:noFill/>
          <a:ln w="19050">
            <a:solidFill>
              <a:srgbClr val="445E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38150" y="6534150"/>
            <a:ext cx="247650" cy="24765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8BE69751-777A-40A7-AE9B-CBA2EA677AF4}"/>
              </a:ext>
            </a:extLst>
          </p:cNvPr>
          <p:cNvSpPr>
            <a:spLocks noGrp="1"/>
          </p:cNvSpPr>
          <p:nvPr/>
        </p:nvSpPr>
        <p:spPr>
          <a:xfrm>
            <a:off x="781050" y="6553200"/>
            <a:ext cx="82867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Mesh Denoising | 3D Υπολογιστική Όραση και Γεωμετρία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6D42A18-F143-46F4-8DB8-6ECC88B3C19F}"/>
              </a:ext>
            </a:extLst>
          </p:cNvPr>
          <p:cNvSpPr>
            <a:spLocks noGrp="1"/>
          </p:cNvSpPr>
          <p:nvPr/>
        </p:nvSpPr>
        <p:spPr>
          <a:xfrm>
            <a:off x="11334750" y="6553200"/>
            <a:ext cx="3619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655805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2532E3B4-5738-477A-BEAD-054739CE3198}"/>
              </a:ext>
            </a:extLst>
          </p:cNvPr>
          <p:cNvSpPr>
            <a:spLocks noGrp="1"/>
          </p:cNvSpPr>
          <p:nvPr/>
        </p:nvSpPr>
        <p:spPr>
          <a:xfrm>
            <a:off x="457200" y="381000"/>
            <a:ext cx="2286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00" b="1" i="0">
                <a:solidFill>
                  <a:srgbClr val="445EA3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445EA3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AFD573F3-18C3-46E4-B215-6EEB06DC082F}"/>
              </a:ext>
            </a:extLst>
          </p:cNvPr>
          <p:cNvSpPr>
            <a:spLocks noGrp="1"/>
          </p:cNvSpPr>
          <p:nvPr/>
        </p:nvSpPr>
        <p:spPr>
          <a:xfrm>
            <a:off x="714375" y="466725"/>
            <a:ext cx="19050" cy="0"/>
          </a:xfrm>
          <a:prstGeom prst="line">
            <a:avLst/>
          </a:prstGeom>
          <a:noFill/>
          <a:ln w="19050">
            <a:solidFill>
              <a:srgbClr val="445E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72B4BBA-27A6-4FE0-9249-504C83139192}"/>
              </a:ext>
            </a:extLst>
          </p:cNvPr>
          <p:cNvSpPr>
            <a:spLocks noGrp="1"/>
          </p:cNvSpPr>
          <p:nvPr/>
        </p:nvSpPr>
        <p:spPr>
          <a:xfrm>
            <a:off x="838200" y="323850"/>
            <a:ext cx="10715625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550" b="0" i="0">
                <a:solidFill>
                  <a:srgbClr val="445EA3"/>
                </a:solidFill>
                <a:latin typeface="Calibri"/>
                <a:ea typeface="Calibri"/>
                <a:cs typeface="Calibri"/>
              </a:defRPr>
            </a:pPr>
            <a:r>
              <a:rPr sz="2550" b="0" i="0">
                <a:solidFill>
                  <a:srgbClr val="445EA3"/>
                </a:solidFill>
                <a:latin typeface="Calibri"/>
                <a:ea typeface="Calibri"/>
                <a:cs typeface="Calibri"/>
              </a:rPr>
              <a:t>Κανονικά εδρών και τοπικές γειτονιές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7903BD30-1602-4A32-8E86-F623B11463E1}"/>
              </a:ext>
            </a:extLst>
          </p:cNvPr>
          <p:cNvSpPr>
            <a:spLocks noGrp="1"/>
          </p:cNvSpPr>
          <p:nvPr/>
        </p:nvSpPr>
        <p:spPr>
          <a:xfrm>
            <a:off x="438150" y="6477000"/>
            <a:ext cx="11315700" cy="0"/>
          </a:xfrm>
          <a:prstGeom prst="line">
            <a:avLst/>
          </a:prstGeom>
          <a:noFill/>
          <a:ln w="19050">
            <a:solidFill>
              <a:srgbClr val="445E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38150" y="6534150"/>
            <a:ext cx="247650" cy="24765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02F5887-24D4-41BF-A212-2820B36E1C68}"/>
              </a:ext>
            </a:extLst>
          </p:cNvPr>
          <p:cNvSpPr>
            <a:spLocks noGrp="1"/>
          </p:cNvSpPr>
          <p:nvPr/>
        </p:nvSpPr>
        <p:spPr>
          <a:xfrm>
            <a:off x="781050" y="6553200"/>
            <a:ext cx="82867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Mesh Denoising | 3D Υπολογιστική Όραση και Γεωμετρία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404A13C-B763-4F7E-A402-A0445B934D0F}"/>
              </a:ext>
            </a:extLst>
          </p:cNvPr>
          <p:cNvSpPr>
            <a:spLocks noGrp="1"/>
          </p:cNvSpPr>
          <p:nvPr/>
        </p:nvSpPr>
        <p:spPr>
          <a:xfrm>
            <a:off x="11334750" y="6553200"/>
            <a:ext cx="3619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28625" y="1262370"/>
            <a:ext cx="4524375" cy="2428261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5619750" y="1343703"/>
            <a:ext cx="5334000" cy="37964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2E55D31-F1EF-4BE5-B8E9-ABCFFC834BE1}"/>
              </a:ext>
            </a:extLst>
          </p:cNvPr>
          <p:cNvSpPr>
            <a:spLocks noGrp="1"/>
          </p:cNvSpPr>
          <p:nvPr/>
        </p:nvSpPr>
        <p:spPr>
          <a:xfrm>
            <a:off x="5715000" y="2143125"/>
            <a:ext cx="5238750" cy="16192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marL="279400" indent="-139700" algn="l">
              <a:lnSpc>
                <a:spcPct val="108000"/>
              </a:lnSpc>
              <a:spcAft>
                <a:spcPts val="700"/>
              </a:spcAft>
              <a:buNone/>
              <a:defRPr sz="1425" b="0" i="0">
                <a:solidFill>
                  <a:srgbClr val="1E1E1E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Patch: </a:t>
            </a:r>
            <a:r>
              <a:rPr sz="1425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k=20 πλησιέστερες έδρες ως προς τα κέντρα τους.</a:t>
            </a:r>
          </a:p>
          <a:p>
            <a:pPr marL="279400" indent="-139700" algn="l">
              <a:lnSpc>
                <a:spcPct val="108000"/>
              </a:lnSpc>
              <a:spcAft>
                <a:spcPts val="700"/>
              </a:spcAft>
              <a:buNone/>
              <a:defRPr sz="1425" b="0" i="0">
                <a:solidFill>
                  <a:srgbClr val="1E1E1E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Απεικόνιση: </a:t>
            </a:r>
            <a:r>
              <a:rPr sz="1425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υποδειγματοληψία normals μόνο για να παραμένει ευανάγνωστη η εικόνα.</a:t>
            </a:r>
          </a:p>
          <a:p>
            <a:pPr marL="279400" indent="-139700" algn="l">
              <a:lnSpc>
                <a:spcPct val="108000"/>
              </a:lnSpc>
              <a:spcAft>
                <a:spcPts val="700"/>
              </a:spcAft>
              <a:buNone/>
              <a:defRPr sz="1425" b="0" i="0">
                <a:solidFill>
                  <a:srgbClr val="1E1E1E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Bilateral βήμα: </a:t>
            </a:r>
            <a:r>
              <a:rPr sz="1425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ένα iteration πριν από την eigenvalue analysis.</a:t>
            </a: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3286125" y="4523006"/>
            <a:ext cx="6191250" cy="459937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75EC714D-A8E7-45F7-88B7-E5C93F953E3F}"/>
              </a:ext>
            </a:extLst>
          </p:cNvPr>
          <p:cNvSpPr>
            <a:spLocks noGrp="1"/>
          </p:cNvSpPr>
          <p:nvPr/>
        </p:nvSpPr>
        <p:spPr>
          <a:xfrm>
            <a:off x="2143125" y="5381625"/>
            <a:ext cx="7905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 fontScale="96074" lnSpcReduction="10000"/>
          </a:bodyPr>
          <a:lstStyle/>
          <a:p>
            <a:pPr algn="ctr">
              <a:lnSpc>
                <a:spcPct val="105000"/>
              </a:lnSpc>
              <a:buNone/>
              <a:defRPr sz="1425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1425" b="0" i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Το spatial weight κρατά την τοπικότητα. Το normal weight περιορίζει την ανάμειξη των δύο πλευρών μιας sharp edge.</a:t>
            </a:r>
          </a:p>
        </p:txBody>
      </p:sp>
    </p:spTree>
    <p:extLst>
      <p:ext uri="{BB962C8B-B14F-4D97-AF65-F5344CB8AC3E}">
        <p14:creationId xmlns:p14="http://schemas.microsoft.com/office/powerpoint/2010/main" val="5309492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B81FD38C-EC12-4ED8-9E08-A620716A4FF9}"/>
              </a:ext>
            </a:extLst>
          </p:cNvPr>
          <p:cNvSpPr>
            <a:spLocks noGrp="1"/>
          </p:cNvSpPr>
          <p:nvPr/>
        </p:nvSpPr>
        <p:spPr>
          <a:xfrm>
            <a:off x="457200" y="381000"/>
            <a:ext cx="2286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00" b="1" i="0">
                <a:solidFill>
                  <a:srgbClr val="445EA3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445EA3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2BC2A15E-ADAD-4B10-9AC1-F9BB2888CC8D}"/>
              </a:ext>
            </a:extLst>
          </p:cNvPr>
          <p:cNvSpPr>
            <a:spLocks noGrp="1"/>
          </p:cNvSpPr>
          <p:nvPr/>
        </p:nvSpPr>
        <p:spPr>
          <a:xfrm>
            <a:off x="714375" y="466725"/>
            <a:ext cx="19050" cy="0"/>
          </a:xfrm>
          <a:prstGeom prst="line">
            <a:avLst/>
          </a:prstGeom>
          <a:noFill/>
          <a:ln w="19050">
            <a:solidFill>
              <a:srgbClr val="445E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FB404F6-6ED3-41E8-B0DB-811156FAEAE2}"/>
              </a:ext>
            </a:extLst>
          </p:cNvPr>
          <p:cNvSpPr>
            <a:spLocks noGrp="1"/>
          </p:cNvSpPr>
          <p:nvPr/>
        </p:nvSpPr>
        <p:spPr>
          <a:xfrm>
            <a:off x="838200" y="323850"/>
            <a:ext cx="10715625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550" b="0" i="0">
                <a:solidFill>
                  <a:srgbClr val="445EA3"/>
                </a:solidFill>
                <a:latin typeface="Calibri"/>
                <a:ea typeface="Calibri"/>
                <a:cs typeface="Calibri"/>
              </a:defRPr>
            </a:pPr>
            <a:r>
              <a:rPr sz="2550" b="0" i="0">
                <a:solidFill>
                  <a:srgbClr val="445EA3"/>
                </a:solidFill>
                <a:latin typeface="Calibri"/>
                <a:ea typeface="Calibri"/>
                <a:cs typeface="Calibri"/>
              </a:rPr>
              <a:t>Διαχωρισμός χαρακτηριστικού από θόρυβο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163FAE61-9B00-4CB8-84D5-6B570843358A}"/>
              </a:ext>
            </a:extLst>
          </p:cNvPr>
          <p:cNvSpPr>
            <a:spLocks noGrp="1"/>
          </p:cNvSpPr>
          <p:nvPr/>
        </p:nvSpPr>
        <p:spPr>
          <a:xfrm>
            <a:off x="438150" y="6477000"/>
            <a:ext cx="11315700" cy="0"/>
          </a:xfrm>
          <a:prstGeom prst="line">
            <a:avLst/>
          </a:prstGeom>
          <a:noFill/>
          <a:ln w="19050">
            <a:solidFill>
              <a:srgbClr val="445E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38150" y="6534150"/>
            <a:ext cx="247650" cy="24765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3758C83-8884-4EE4-A8BF-C4B5F69D7307}"/>
              </a:ext>
            </a:extLst>
          </p:cNvPr>
          <p:cNvSpPr>
            <a:spLocks noGrp="1"/>
          </p:cNvSpPr>
          <p:nvPr/>
        </p:nvSpPr>
        <p:spPr>
          <a:xfrm>
            <a:off x="781050" y="6553200"/>
            <a:ext cx="82867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Mesh Denoising | 3D Υπολογιστική Όραση και Γεωμετρία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6E8942B-2202-496A-9EBE-F87A48780FC8}"/>
              </a:ext>
            </a:extLst>
          </p:cNvPr>
          <p:cNvSpPr>
            <a:spLocks noGrp="1"/>
          </p:cNvSpPr>
          <p:nvPr/>
        </p:nvSpPr>
        <p:spPr>
          <a:xfrm>
            <a:off x="11334750" y="6553200"/>
            <a:ext cx="3619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714500" y="1070122"/>
            <a:ext cx="8763000" cy="717256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DCFA197B-5CE7-4E96-AD6E-2ECAB57725ED}"/>
              </a:ext>
            </a:extLst>
          </p:cNvPr>
          <p:cNvSpPr>
            <a:spLocks noGrp="1"/>
          </p:cNvSpPr>
          <p:nvPr/>
        </p:nvSpPr>
        <p:spPr>
          <a:xfrm>
            <a:off x="666750" y="2238375"/>
            <a:ext cx="3143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725" b="1" i="0">
                <a:solidFill>
                  <a:srgbClr val="6D5BD0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6D5BD0"/>
                </a:solidFill>
                <a:latin typeface="Calibri"/>
                <a:ea typeface="Calibri"/>
                <a:cs typeface="Calibri"/>
              </a:rPr>
              <a:t>Feature score 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3B49D9-C78B-4C90-99E3-90712AC97A48}"/>
              </a:ext>
            </a:extLst>
          </p:cNvPr>
          <p:cNvSpPr>
            <a:spLocks noGrp="1"/>
          </p:cNvSpPr>
          <p:nvPr/>
        </p:nvSpPr>
        <p:spPr>
          <a:xfrm>
            <a:off x="809625" y="2714625"/>
            <a:ext cx="2857500" cy="9048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350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Μετρά πόση normal πληροφορία βρίσκεται έξω από την κυρίαρχη ιδιοδιεύθυνση.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511C9E4-450F-40A6-B948-9C0A46766924}"/>
              </a:ext>
            </a:extLst>
          </p:cNvPr>
          <p:cNvSpPr>
            <a:spLocks noGrp="1"/>
          </p:cNvSpPr>
          <p:nvPr/>
        </p:nvSpPr>
        <p:spPr>
          <a:xfrm>
            <a:off x="4191000" y="2238375"/>
            <a:ext cx="3143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725" b="1" i="0">
                <a:solidFill>
                  <a:srgbClr val="F2A33A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F2A33A"/>
                </a:solidFill>
                <a:latin typeface="Calibri"/>
                <a:ea typeface="Calibri"/>
                <a:cs typeface="Calibri"/>
              </a:rPr>
              <a:t>Roughness 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5BD9BBC-DF99-4A61-A99E-0D53ADDDA10A}"/>
              </a:ext>
            </a:extLst>
          </p:cNvPr>
          <p:cNvSpPr>
            <a:spLocks noGrp="1"/>
          </p:cNvSpPr>
          <p:nvPr/>
        </p:nvSpPr>
        <p:spPr>
          <a:xfrm>
            <a:off x="4333875" y="2714625"/>
            <a:ext cx="2857500" cy="9048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350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Μέση γωνιακή ασυνέπεια των αρχικών face normals μέσα στο patch.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FA27FA3-6CAB-4E6F-8954-15AAE9D7FC5F}"/>
              </a:ext>
            </a:extLst>
          </p:cNvPr>
          <p:cNvSpPr>
            <a:spLocks noGrp="1"/>
          </p:cNvSpPr>
          <p:nvPr/>
        </p:nvSpPr>
        <p:spPr>
          <a:xfrm>
            <a:off x="7715250" y="2238375"/>
            <a:ext cx="3143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725" b="1" i="0">
                <a:solidFill>
                  <a:srgbClr val="357E80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357E80"/>
                </a:solidFill>
                <a:latin typeface="Calibri"/>
                <a:ea typeface="Calibri"/>
                <a:cs typeface="Calibri"/>
              </a:rPr>
              <a:t>Candidate C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3386E2D-428B-40AD-88E1-DE5DFA21F1F2}"/>
              </a:ext>
            </a:extLst>
          </p:cNvPr>
          <p:cNvSpPr>
            <a:spLocks noGrp="1"/>
          </p:cNvSpPr>
          <p:nvPr/>
        </p:nvSpPr>
        <p:spPr>
          <a:xfrm>
            <a:off x="7858125" y="2714625"/>
            <a:ext cx="2857500" cy="9048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350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Υψηλό όταν η περιοχή είναι τραχιά αλλά παραμένει τοπικά flat-like.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FBF1EF0-A2AC-4F87-BC06-E8E6141D3213}"/>
              </a:ext>
            </a:extLst>
          </p:cNvPr>
          <p:cNvSpPr>
            <a:spLocks noGrp="1"/>
          </p:cNvSpPr>
          <p:nvPr/>
        </p:nvSpPr>
        <p:spPr>
          <a:xfrm>
            <a:off x="523875" y="4476750"/>
            <a:ext cx="1571625" cy="552450"/>
          </a:xfrm>
          <a:prstGeom prst="roundRect">
            <a:avLst>
              <a:gd name="adj" fmla="val 17241"/>
            </a:avLst>
          </a:prstGeom>
          <a:solidFill>
            <a:srgbClr val="E8EEF9"/>
          </a:solidFill>
          <a:ln w="13335">
            <a:solidFill>
              <a:srgbClr val="304A8C"/>
            </a:solidFill>
            <a:prstDash val="solid"/>
          </a:ln>
        </p:spPr>
        <p:txBody>
          <a:bodyPr lIns="66675" tIns="47625" rIns="66675" bIns="47625" anchor="ctr">
            <a:normAutofit/>
          </a:bodyPr>
          <a:lstStyle/>
          <a:p>
            <a:pPr algn="ctr">
              <a:defRPr sz="1350" b="1">
                <a:solidFill>
                  <a:srgbClr val="304A8C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304A8C"/>
                </a:solidFill>
                <a:latin typeface="Calibri"/>
                <a:ea typeface="Calibri"/>
                <a:cs typeface="Calibri"/>
              </a:rPr>
              <a:t>Bilateral normals</a:t>
            </a: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4A02926E-23EA-49C3-A837-865A963DD294}"/>
              </a:ext>
            </a:extLst>
          </p:cNvPr>
          <p:cNvSpPr>
            <a:spLocks noGrp="1"/>
          </p:cNvSpPr>
          <p:nvPr/>
        </p:nvSpPr>
        <p:spPr>
          <a:xfrm>
            <a:off x="2143125" y="4648200"/>
            <a:ext cx="238125" cy="190500"/>
          </a:xfrm>
          <a:prstGeom prst="rightArrow">
            <a:avLst/>
          </a:prstGeom>
          <a:solidFill>
            <a:srgbClr val="AEB6C4"/>
          </a:solidFill>
          <a:ln w="4763">
            <a:solidFill>
              <a:srgbClr val="AEB6C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61482C8-397E-4366-B744-6D03D95D108B}"/>
              </a:ext>
            </a:extLst>
          </p:cNvPr>
          <p:cNvSpPr>
            <a:spLocks noGrp="1"/>
          </p:cNvSpPr>
          <p:nvPr/>
        </p:nvSpPr>
        <p:spPr>
          <a:xfrm>
            <a:off x="2447925" y="4476750"/>
            <a:ext cx="1571625" cy="552450"/>
          </a:xfrm>
          <a:prstGeom prst="roundRect">
            <a:avLst>
              <a:gd name="adj" fmla="val 17241"/>
            </a:avLst>
          </a:prstGeom>
          <a:solidFill>
            <a:srgbClr val="E8EEF9"/>
          </a:solidFill>
          <a:ln w="13335">
            <a:solidFill>
              <a:srgbClr val="304A8C"/>
            </a:solidFill>
            <a:prstDash val="solid"/>
          </a:ln>
        </p:spPr>
        <p:txBody>
          <a:bodyPr lIns="66675" tIns="47625" rIns="66675" bIns="47625" anchor="ctr">
            <a:normAutofit/>
          </a:bodyPr>
          <a:lstStyle/>
          <a:p>
            <a:pPr algn="ctr">
              <a:defRPr sz="1350" b="1">
                <a:solidFill>
                  <a:srgbClr val="304A8C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304A8C"/>
                </a:solidFill>
                <a:latin typeface="Calibri"/>
                <a:ea typeface="Calibri"/>
                <a:cs typeface="Calibri"/>
              </a:rPr>
              <a:t>Covariance</a:t>
            </a:r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0395CF2F-D5B2-4535-AD67-551CC7EEF4C5}"/>
              </a:ext>
            </a:extLst>
          </p:cNvPr>
          <p:cNvSpPr>
            <a:spLocks noGrp="1"/>
          </p:cNvSpPr>
          <p:nvPr/>
        </p:nvSpPr>
        <p:spPr>
          <a:xfrm>
            <a:off x="4067175" y="4648200"/>
            <a:ext cx="238125" cy="190500"/>
          </a:xfrm>
          <a:prstGeom prst="rightArrow">
            <a:avLst/>
          </a:prstGeom>
          <a:solidFill>
            <a:srgbClr val="AEB6C4"/>
          </a:solidFill>
          <a:ln w="4763">
            <a:solidFill>
              <a:srgbClr val="AEB6C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E54213A7-FFBC-4AD9-97F8-62A33B66AB8A}"/>
              </a:ext>
            </a:extLst>
          </p:cNvPr>
          <p:cNvSpPr>
            <a:spLocks noGrp="1"/>
          </p:cNvSpPr>
          <p:nvPr/>
        </p:nvSpPr>
        <p:spPr>
          <a:xfrm>
            <a:off x="4371975" y="4476750"/>
            <a:ext cx="1571625" cy="552450"/>
          </a:xfrm>
          <a:prstGeom prst="roundRect">
            <a:avLst>
              <a:gd name="adj" fmla="val 17241"/>
            </a:avLst>
          </a:prstGeom>
          <a:solidFill>
            <a:srgbClr val="E8EEF9"/>
          </a:solidFill>
          <a:ln w="13335">
            <a:solidFill>
              <a:srgbClr val="304A8C"/>
            </a:solidFill>
            <a:prstDash val="solid"/>
          </a:ln>
        </p:spPr>
        <p:txBody>
          <a:bodyPr lIns="66675" tIns="47625" rIns="66675" bIns="47625" anchor="ctr">
            <a:normAutofit/>
          </a:bodyPr>
          <a:lstStyle/>
          <a:p>
            <a:pPr algn="ctr">
              <a:defRPr sz="1350" b="1">
                <a:solidFill>
                  <a:srgbClr val="304A8C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304A8C"/>
                </a:solidFill>
                <a:latin typeface="Calibri"/>
                <a:ea typeface="Calibri"/>
                <a:cs typeface="Calibri"/>
              </a:rPr>
              <a:t>Eigenvalues</a:t>
            </a:r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8223F9A7-5FDA-4682-BEB0-7EB17FF4E43B}"/>
              </a:ext>
            </a:extLst>
          </p:cNvPr>
          <p:cNvSpPr>
            <a:spLocks noGrp="1"/>
          </p:cNvSpPr>
          <p:nvPr/>
        </p:nvSpPr>
        <p:spPr>
          <a:xfrm>
            <a:off x="5991225" y="4648200"/>
            <a:ext cx="238125" cy="190500"/>
          </a:xfrm>
          <a:prstGeom prst="rightArrow">
            <a:avLst/>
          </a:prstGeom>
          <a:solidFill>
            <a:srgbClr val="AEB6C4"/>
          </a:solidFill>
          <a:ln w="4763">
            <a:solidFill>
              <a:srgbClr val="AEB6C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FBAD72BD-A8D3-4854-B568-D74394B3732A}"/>
              </a:ext>
            </a:extLst>
          </p:cNvPr>
          <p:cNvSpPr>
            <a:spLocks noGrp="1"/>
          </p:cNvSpPr>
          <p:nvPr/>
        </p:nvSpPr>
        <p:spPr>
          <a:xfrm>
            <a:off x="6296025" y="4476750"/>
            <a:ext cx="1571625" cy="552450"/>
          </a:xfrm>
          <a:prstGeom prst="roundRect">
            <a:avLst>
              <a:gd name="adj" fmla="val 17241"/>
            </a:avLst>
          </a:prstGeom>
          <a:solidFill>
            <a:srgbClr val="E8EEF9"/>
          </a:solidFill>
          <a:ln w="13335">
            <a:solidFill>
              <a:srgbClr val="304A8C"/>
            </a:solidFill>
            <a:prstDash val="solid"/>
          </a:ln>
        </p:spPr>
        <p:txBody>
          <a:bodyPr lIns="66675" tIns="47625" rIns="66675" bIns="47625" anchor="ctr">
            <a:normAutofit/>
          </a:bodyPr>
          <a:lstStyle/>
          <a:p>
            <a:pPr algn="ctr">
              <a:defRPr sz="1350" b="1">
                <a:solidFill>
                  <a:srgbClr val="304A8C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304A8C"/>
                </a:solidFill>
                <a:latin typeface="Calibri"/>
                <a:ea typeface="Calibri"/>
                <a:cs typeface="Calibri"/>
              </a:rPr>
              <a:t>k-means</a:t>
            </a:r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92CAC5D8-E1EC-4AF5-B3AF-98B08023230E}"/>
              </a:ext>
            </a:extLst>
          </p:cNvPr>
          <p:cNvSpPr>
            <a:spLocks noGrp="1"/>
          </p:cNvSpPr>
          <p:nvPr/>
        </p:nvSpPr>
        <p:spPr>
          <a:xfrm>
            <a:off x="7915275" y="4648200"/>
            <a:ext cx="238125" cy="190500"/>
          </a:xfrm>
          <a:prstGeom prst="rightArrow">
            <a:avLst/>
          </a:prstGeom>
          <a:solidFill>
            <a:srgbClr val="AEB6C4"/>
          </a:solidFill>
          <a:ln w="4763">
            <a:solidFill>
              <a:srgbClr val="AEB6C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57857CE7-1325-48CB-8A8C-A8C404D0C863}"/>
              </a:ext>
            </a:extLst>
          </p:cNvPr>
          <p:cNvSpPr>
            <a:spLocks noGrp="1"/>
          </p:cNvSpPr>
          <p:nvPr/>
        </p:nvSpPr>
        <p:spPr>
          <a:xfrm>
            <a:off x="8220075" y="4476750"/>
            <a:ext cx="1571625" cy="552450"/>
          </a:xfrm>
          <a:prstGeom prst="roundRect">
            <a:avLst>
              <a:gd name="adj" fmla="val 17241"/>
            </a:avLst>
          </a:prstGeom>
          <a:solidFill>
            <a:srgbClr val="E7F3F3"/>
          </a:solidFill>
          <a:ln w="13335">
            <a:solidFill>
              <a:srgbClr val="357E80"/>
            </a:solidFill>
            <a:prstDash val="solid"/>
          </a:ln>
        </p:spPr>
        <p:txBody>
          <a:bodyPr lIns="66675" tIns="47625" rIns="66675" bIns="47625" anchor="ctr">
            <a:normAutofit/>
          </a:bodyPr>
          <a:lstStyle/>
          <a:p>
            <a:pPr algn="ctr">
              <a:defRPr sz="1350" b="1">
                <a:solidFill>
                  <a:srgbClr val="357E80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357E80"/>
                </a:solidFill>
                <a:latin typeface="Calibri"/>
                <a:ea typeface="Calibri"/>
                <a:cs typeface="Calibri"/>
              </a:rPr>
              <a:t>Flat candidates</a:t>
            </a:r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6631D77C-4765-423D-97DB-F1BF1503735F}"/>
              </a:ext>
            </a:extLst>
          </p:cNvPr>
          <p:cNvSpPr>
            <a:spLocks noGrp="1"/>
          </p:cNvSpPr>
          <p:nvPr/>
        </p:nvSpPr>
        <p:spPr>
          <a:xfrm>
            <a:off x="9839325" y="4648200"/>
            <a:ext cx="238125" cy="190500"/>
          </a:xfrm>
          <a:prstGeom prst="rightArrow">
            <a:avLst/>
          </a:prstGeom>
          <a:solidFill>
            <a:srgbClr val="AEB6C4"/>
          </a:solidFill>
          <a:ln w="4763">
            <a:solidFill>
              <a:srgbClr val="AEB6C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9D72C512-7F75-43EB-8DCD-8B1BF06F6FB8}"/>
              </a:ext>
            </a:extLst>
          </p:cNvPr>
          <p:cNvSpPr>
            <a:spLocks noGrp="1"/>
          </p:cNvSpPr>
          <p:nvPr/>
        </p:nvSpPr>
        <p:spPr>
          <a:xfrm>
            <a:off x="10144125" y="4476750"/>
            <a:ext cx="1571625" cy="552450"/>
          </a:xfrm>
          <a:prstGeom prst="roundRect">
            <a:avLst>
              <a:gd name="adj" fmla="val 17241"/>
            </a:avLst>
          </a:prstGeom>
          <a:solidFill>
            <a:srgbClr val="E7F3F3"/>
          </a:solidFill>
          <a:ln w="13335">
            <a:solidFill>
              <a:srgbClr val="357E80"/>
            </a:solidFill>
            <a:prstDash val="solid"/>
          </a:ln>
        </p:spPr>
        <p:txBody>
          <a:bodyPr lIns="66675" tIns="47625" rIns="66675" bIns="47625" anchor="ctr">
            <a:normAutofit/>
          </a:bodyPr>
          <a:lstStyle/>
          <a:p>
            <a:pPr algn="ctr">
              <a:defRPr sz="1350" b="1">
                <a:solidFill>
                  <a:srgbClr val="357E80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357E80"/>
                </a:solidFill>
                <a:latin typeface="Calibri"/>
                <a:ea typeface="Calibri"/>
                <a:cs typeface="Calibri"/>
              </a:rPr>
              <a:t>Connected regions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04ED72D-FCE0-41AC-B6B1-D6CAF2811A75}"/>
              </a:ext>
            </a:extLst>
          </p:cNvPr>
          <p:cNvSpPr>
            <a:spLocks noGrp="1"/>
          </p:cNvSpPr>
          <p:nvPr/>
        </p:nvSpPr>
        <p:spPr>
          <a:xfrm>
            <a:off x="1285875" y="5476875"/>
            <a:ext cx="96202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425" b="0" i="0">
                <a:solidFill>
                  <a:srgbClr val="304A8C"/>
                </a:solidFill>
                <a:latin typeface="Calibri"/>
                <a:ea typeface="Calibri"/>
                <a:cs typeface="Calibri"/>
              </a:defRPr>
            </a:pPr>
            <a:r>
              <a:rPr sz="1425" b="0" i="0">
                <a:solidFill>
                  <a:srgbClr val="304A8C"/>
                </a:solidFill>
                <a:latin typeface="Calibri"/>
                <a:ea typeface="Calibri"/>
                <a:cs typeface="Calibri"/>
              </a:rPr>
              <a:t>Τελική επιλογή: flat faces πάνω από το 80ό εκατοστημόριο του C και connected components με τουλάχιστον 5 έδρες.</a:t>
            </a:r>
          </a:p>
        </p:txBody>
      </p:sp>
    </p:spTree>
    <p:extLst>
      <p:ext uri="{BB962C8B-B14F-4D97-AF65-F5344CB8AC3E}">
        <p14:creationId xmlns:p14="http://schemas.microsoft.com/office/powerpoint/2010/main" val="7782214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EB97E845-4BB1-4BC8-B04C-B1F7770EB675}"/>
              </a:ext>
            </a:extLst>
          </p:cNvPr>
          <p:cNvSpPr>
            <a:spLocks noGrp="1"/>
          </p:cNvSpPr>
          <p:nvPr/>
        </p:nvSpPr>
        <p:spPr>
          <a:xfrm>
            <a:off x="457200" y="381000"/>
            <a:ext cx="2286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00" b="1" i="0">
                <a:solidFill>
                  <a:srgbClr val="445EA3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445EA3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7EA57E2E-5C30-44F8-A974-EF9E303D54CC}"/>
              </a:ext>
            </a:extLst>
          </p:cNvPr>
          <p:cNvSpPr>
            <a:spLocks noGrp="1"/>
          </p:cNvSpPr>
          <p:nvPr/>
        </p:nvSpPr>
        <p:spPr>
          <a:xfrm>
            <a:off x="714375" y="466725"/>
            <a:ext cx="19050" cy="0"/>
          </a:xfrm>
          <a:prstGeom prst="line">
            <a:avLst/>
          </a:prstGeom>
          <a:noFill/>
          <a:ln w="19050">
            <a:solidFill>
              <a:srgbClr val="445E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9D372A7-783D-4999-B5AC-7FE3BFB82E1E}"/>
              </a:ext>
            </a:extLst>
          </p:cNvPr>
          <p:cNvSpPr>
            <a:spLocks noGrp="1"/>
          </p:cNvSpPr>
          <p:nvPr/>
        </p:nvSpPr>
        <p:spPr>
          <a:xfrm>
            <a:off x="838200" y="323850"/>
            <a:ext cx="10715625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550" b="0" i="0">
                <a:solidFill>
                  <a:srgbClr val="445EA3"/>
                </a:solidFill>
                <a:latin typeface="Calibri"/>
                <a:ea typeface="Calibri"/>
                <a:cs typeface="Calibri"/>
              </a:defRPr>
            </a:pPr>
            <a:r>
              <a:rPr sz="2550" b="0" i="0">
                <a:solidFill>
                  <a:srgbClr val="445EA3"/>
                </a:solidFill>
                <a:latin typeface="Calibri"/>
                <a:ea typeface="Calibri"/>
                <a:cs typeface="Calibri"/>
              </a:rPr>
              <a:t>Εντοπισμός υποψήφιων περιοχών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B7156B06-5198-45B4-8732-71A53C8CFDB4}"/>
              </a:ext>
            </a:extLst>
          </p:cNvPr>
          <p:cNvSpPr>
            <a:spLocks noGrp="1"/>
          </p:cNvSpPr>
          <p:nvPr/>
        </p:nvSpPr>
        <p:spPr>
          <a:xfrm>
            <a:off x="438150" y="6477000"/>
            <a:ext cx="11315700" cy="0"/>
          </a:xfrm>
          <a:prstGeom prst="line">
            <a:avLst/>
          </a:prstGeom>
          <a:noFill/>
          <a:ln w="19050">
            <a:solidFill>
              <a:srgbClr val="445E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38150" y="6534150"/>
            <a:ext cx="247650" cy="24765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159916D-9267-4817-B85E-E3C2BC43E222}"/>
              </a:ext>
            </a:extLst>
          </p:cNvPr>
          <p:cNvSpPr>
            <a:spLocks noGrp="1"/>
          </p:cNvSpPr>
          <p:nvPr/>
        </p:nvSpPr>
        <p:spPr>
          <a:xfrm>
            <a:off x="781050" y="6553200"/>
            <a:ext cx="82867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Mesh Denoising | 3D Υπολογιστική Όραση και Γεωμετρία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D3EEDB1-5C84-4E5F-BA7C-458258FD1D0E}"/>
              </a:ext>
            </a:extLst>
          </p:cNvPr>
          <p:cNvSpPr>
            <a:spLocks noGrp="1"/>
          </p:cNvSpPr>
          <p:nvPr/>
        </p:nvSpPr>
        <p:spPr>
          <a:xfrm>
            <a:off x="11334750" y="6553200"/>
            <a:ext cx="3619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23875" y="1400641"/>
            <a:ext cx="2571750" cy="229459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8F47071-905A-44C1-B1E3-A306BB848D73}"/>
              </a:ext>
            </a:extLst>
          </p:cNvPr>
          <p:cNvSpPr>
            <a:spLocks noGrp="1"/>
          </p:cNvSpPr>
          <p:nvPr/>
        </p:nvSpPr>
        <p:spPr>
          <a:xfrm>
            <a:off x="523875" y="4000500"/>
            <a:ext cx="257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25" b="1" i="0">
                <a:solidFill>
                  <a:srgbClr val="6D5BD0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6D5BD0"/>
                </a:solidFill>
                <a:latin typeface="Calibri"/>
                <a:ea typeface="Calibri"/>
                <a:cs typeface="Calibri"/>
              </a:rPr>
              <a:t>Feature score</a:t>
            </a:r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3381375" y="1351149"/>
            <a:ext cx="2571750" cy="2393576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6438C55E-41D0-46A6-A67F-B06B05F37DCF}"/>
              </a:ext>
            </a:extLst>
          </p:cNvPr>
          <p:cNvSpPr>
            <a:spLocks noGrp="1"/>
          </p:cNvSpPr>
          <p:nvPr/>
        </p:nvSpPr>
        <p:spPr>
          <a:xfrm>
            <a:off x="3381375" y="4000500"/>
            <a:ext cx="257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25" b="1" i="0">
                <a:solidFill>
                  <a:srgbClr val="6D5BD0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6D5BD0"/>
                </a:solidFill>
                <a:latin typeface="Calibri"/>
                <a:ea typeface="Calibri"/>
                <a:cs typeface="Calibri"/>
              </a:rPr>
              <a:t>Roughness</a:t>
            </a:r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6238875" y="1359426"/>
            <a:ext cx="2571750" cy="2377022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A4402306-E12A-4ED2-A488-9C40B9AAC91C}"/>
              </a:ext>
            </a:extLst>
          </p:cNvPr>
          <p:cNvSpPr>
            <a:spLocks noGrp="1"/>
          </p:cNvSpPr>
          <p:nvPr/>
        </p:nvSpPr>
        <p:spPr>
          <a:xfrm>
            <a:off x="6238875" y="4000500"/>
            <a:ext cx="257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25" b="1" i="0">
                <a:solidFill>
                  <a:srgbClr val="304A8C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304A8C"/>
                </a:solidFill>
                <a:latin typeface="Calibri"/>
                <a:ea typeface="Calibri"/>
                <a:cs typeface="Calibri"/>
              </a:rPr>
              <a:t>Candidates στο Bunny</a:t>
            </a:r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9096375" y="1716522"/>
            <a:ext cx="2571750" cy="166283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87F88F6F-DD06-439F-9D1D-862601E227FA}"/>
              </a:ext>
            </a:extLst>
          </p:cNvPr>
          <p:cNvSpPr>
            <a:spLocks noGrp="1"/>
          </p:cNvSpPr>
          <p:nvPr/>
        </p:nvSpPr>
        <p:spPr>
          <a:xfrm>
            <a:off x="9096375" y="4000500"/>
            <a:ext cx="257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25" b="1" i="0">
                <a:solidFill>
                  <a:srgbClr val="304A8C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304A8C"/>
                </a:solidFill>
                <a:latin typeface="Calibri"/>
                <a:ea typeface="Calibri"/>
                <a:cs typeface="Calibri"/>
              </a:rPr>
              <a:t>Candidates στο Teapot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5288C3C-8120-45D6-91D8-86BECF202D12}"/>
              </a:ext>
            </a:extLst>
          </p:cNvPr>
          <p:cNvSpPr>
            <a:spLocks noGrp="1"/>
          </p:cNvSpPr>
          <p:nvPr/>
        </p:nvSpPr>
        <p:spPr>
          <a:xfrm>
            <a:off x="1333500" y="4810125"/>
            <a:ext cx="9525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725" b="1" i="0">
                <a:solidFill>
                  <a:srgbClr val="304A8C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304A8C"/>
                </a:solidFill>
                <a:latin typeface="Calibri"/>
                <a:ea typeface="Calibri"/>
                <a:cs typeface="Calibri"/>
              </a:rPr>
              <a:t>Η ίδια τιμή k καλύπτει μικρότερη φυσική περιοχή σε πυκνά meshes.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99DE5CE-3F47-4AA9-A0BB-052372AACF33}"/>
              </a:ext>
            </a:extLst>
          </p:cNvPr>
          <p:cNvSpPr>
            <a:spLocks noGrp="1"/>
          </p:cNvSpPr>
          <p:nvPr/>
        </p:nvSpPr>
        <p:spPr>
          <a:xfrm>
            <a:off x="1952625" y="5286375"/>
            <a:ext cx="8382000" cy="9048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marL="279400" indent="-139700" algn="l">
              <a:lnSpc>
                <a:spcPct val="108000"/>
              </a:lnSpc>
              <a:spcAft>
                <a:spcPts val="700"/>
              </a:spcAft>
              <a:buNone/>
              <a:defRPr sz="1275" b="0" i="0">
                <a:solidFill>
                  <a:srgbClr val="1E1E1E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Bunny και Armadillo: </a:t>
            </a:r>
            <a:r>
              <a:rPr sz="1275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πιο ομαλοί και χωρικά εντοπισμένοι δείκτες.</a:t>
            </a:r>
          </a:p>
          <a:p>
            <a:pPr marL="279400" indent="-139700" algn="l">
              <a:lnSpc>
                <a:spcPct val="108000"/>
              </a:lnSpc>
              <a:spcAft>
                <a:spcPts val="700"/>
              </a:spcAft>
              <a:buNone/>
              <a:defRPr sz="1275" b="0" i="0">
                <a:solidFill>
                  <a:srgbClr val="1E1E1E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Teapot: </a:t>
            </a:r>
            <a:r>
              <a:rPr sz="1275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το k=20 καλύπτει μεγαλύτερο γεωμετρικό τμήμα και οι περιοχές γίνονται εκτεταμένες.</a:t>
            </a:r>
          </a:p>
          <a:p>
            <a:pPr marL="279400" indent="-139700" algn="l">
              <a:lnSpc>
                <a:spcPct val="108000"/>
              </a:lnSpc>
              <a:spcAft>
                <a:spcPts val="700"/>
              </a:spcAft>
              <a:buNone/>
              <a:defRPr sz="1275" b="0" i="0">
                <a:solidFill>
                  <a:srgbClr val="1E1E1E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AABB: </a:t>
            </a:r>
            <a:r>
              <a:rPr sz="1275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περικλείει τη συνεκτική περιοχή, αλλά δεν περιγράφει ακριβώς το σχήμα της.</a:t>
            </a:r>
          </a:p>
        </p:txBody>
      </p:sp>
    </p:spTree>
    <p:extLst>
      <p:ext uri="{BB962C8B-B14F-4D97-AF65-F5344CB8AC3E}">
        <p14:creationId xmlns:p14="http://schemas.microsoft.com/office/powerpoint/2010/main" val="11155737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3B46679B-729A-4545-96FB-D814779765DA}"/>
              </a:ext>
            </a:extLst>
          </p:cNvPr>
          <p:cNvSpPr>
            <a:spLocks noGrp="1"/>
          </p:cNvSpPr>
          <p:nvPr/>
        </p:nvSpPr>
        <p:spPr>
          <a:xfrm>
            <a:off x="457200" y="381000"/>
            <a:ext cx="2286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00" b="1" i="0">
                <a:solidFill>
                  <a:srgbClr val="445EA3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445EA3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B2C4EDE6-799D-4C20-B797-C68FC478CBC7}"/>
              </a:ext>
            </a:extLst>
          </p:cNvPr>
          <p:cNvSpPr>
            <a:spLocks noGrp="1"/>
          </p:cNvSpPr>
          <p:nvPr/>
        </p:nvSpPr>
        <p:spPr>
          <a:xfrm>
            <a:off x="714375" y="466725"/>
            <a:ext cx="19050" cy="0"/>
          </a:xfrm>
          <a:prstGeom prst="line">
            <a:avLst/>
          </a:prstGeom>
          <a:noFill/>
          <a:ln w="19050">
            <a:solidFill>
              <a:srgbClr val="445E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50FC667-2024-43AF-8351-ADCFDDF06A14}"/>
              </a:ext>
            </a:extLst>
          </p:cNvPr>
          <p:cNvSpPr>
            <a:spLocks noGrp="1"/>
          </p:cNvSpPr>
          <p:nvPr/>
        </p:nvSpPr>
        <p:spPr>
          <a:xfrm>
            <a:off x="838200" y="323850"/>
            <a:ext cx="10715625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550" b="0" i="0">
                <a:solidFill>
                  <a:srgbClr val="445EA3"/>
                </a:solidFill>
                <a:latin typeface="Calibri"/>
                <a:ea typeface="Calibri"/>
                <a:cs typeface="Calibri"/>
              </a:defRPr>
            </a:pPr>
            <a:r>
              <a:rPr sz="2550" b="0" i="0">
                <a:solidFill>
                  <a:srgbClr val="445EA3"/>
                </a:solidFill>
                <a:latin typeface="Calibri"/>
                <a:ea typeface="Calibri"/>
                <a:cs typeface="Calibri"/>
              </a:rPr>
              <a:t>Laplacian και Taubin smoothing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866FD0CD-0775-4E59-BD97-B170A69B7EE4}"/>
              </a:ext>
            </a:extLst>
          </p:cNvPr>
          <p:cNvSpPr>
            <a:spLocks noGrp="1"/>
          </p:cNvSpPr>
          <p:nvPr/>
        </p:nvSpPr>
        <p:spPr>
          <a:xfrm>
            <a:off x="438150" y="6477000"/>
            <a:ext cx="11315700" cy="0"/>
          </a:xfrm>
          <a:prstGeom prst="line">
            <a:avLst/>
          </a:prstGeom>
          <a:noFill/>
          <a:ln w="19050">
            <a:solidFill>
              <a:srgbClr val="445E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38150" y="6534150"/>
            <a:ext cx="247650" cy="24765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D24C10A-C9CE-4AA1-AC58-BEEFB870F81F}"/>
              </a:ext>
            </a:extLst>
          </p:cNvPr>
          <p:cNvSpPr>
            <a:spLocks noGrp="1"/>
          </p:cNvSpPr>
          <p:nvPr/>
        </p:nvSpPr>
        <p:spPr>
          <a:xfrm>
            <a:off x="781050" y="6553200"/>
            <a:ext cx="82867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Mesh Denoising | 3D Υπολογιστική Όραση και Γεωμετρία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3E99D37-5FD8-4B50-9699-A81A0C9682F2}"/>
              </a:ext>
            </a:extLst>
          </p:cNvPr>
          <p:cNvSpPr>
            <a:spLocks noGrp="1"/>
          </p:cNvSpPr>
          <p:nvPr/>
        </p:nvSpPr>
        <p:spPr>
          <a:xfrm>
            <a:off x="11334750" y="6553200"/>
            <a:ext cx="3619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E93B27A-7CB5-4394-A11D-F7118EBBF1E3}"/>
              </a:ext>
            </a:extLst>
          </p:cNvPr>
          <p:cNvSpPr>
            <a:spLocks noGrp="1"/>
          </p:cNvSpPr>
          <p:nvPr/>
        </p:nvSpPr>
        <p:spPr>
          <a:xfrm>
            <a:off x="619125" y="1000125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1" i="0">
                <a:solidFill>
                  <a:srgbClr val="304A8C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304A8C"/>
                </a:solidFill>
                <a:latin typeface="Calibri"/>
                <a:ea typeface="Calibri"/>
                <a:cs typeface="Calibri"/>
              </a:rPr>
              <a:t>Laplacian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6423D652-622E-4F44-B3FE-08EABA8E1CBB}"/>
              </a:ext>
            </a:extLst>
          </p:cNvPr>
          <p:cNvSpPr>
            <a:spLocks noGrp="1"/>
          </p:cNvSpPr>
          <p:nvPr/>
        </p:nvSpPr>
        <p:spPr>
          <a:xfrm>
            <a:off x="619125" y="1295400"/>
            <a:ext cx="2476500" cy="0"/>
          </a:xfrm>
          <a:prstGeom prst="line">
            <a:avLst/>
          </a:prstGeom>
          <a:noFill/>
          <a:ln w="14288">
            <a:solidFill>
              <a:srgbClr val="304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3190875" y="1115205"/>
            <a:ext cx="5334000" cy="43659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969DC72-3DC1-46D0-A689-0F406758FE56}"/>
              </a:ext>
            </a:extLst>
          </p:cNvPr>
          <p:cNvSpPr>
            <a:spLocks noGrp="1"/>
          </p:cNvSpPr>
          <p:nvPr/>
        </p:nvSpPr>
        <p:spPr>
          <a:xfrm>
            <a:off x="8810625" y="1047750"/>
            <a:ext cx="27622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 fontScale="95683" lnSpcReduction="10000"/>
          </a:bodyPr>
          <a:lstStyle/>
          <a:p>
            <a:pPr algn="l">
              <a:lnSpc>
                <a:spcPct val="105000"/>
              </a:lnSpc>
              <a:buNone/>
              <a:defRPr sz="1350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Απλό και αποτελεσματικό στη μείωση υψηλών συχνοτήτων, αλλά προκαλεί shrinkage.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B25D882-EEA7-42B6-92F0-7234FEA7470B}"/>
              </a:ext>
            </a:extLst>
          </p:cNvPr>
          <p:cNvSpPr>
            <a:spLocks noGrp="1"/>
          </p:cNvSpPr>
          <p:nvPr/>
        </p:nvSpPr>
        <p:spPr>
          <a:xfrm>
            <a:off x="619125" y="219075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1" i="0">
                <a:solidFill>
                  <a:srgbClr val="357E80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357E80"/>
                </a:solidFill>
                <a:latin typeface="Calibri"/>
                <a:ea typeface="Calibri"/>
                <a:cs typeface="Calibri"/>
              </a:rPr>
              <a:t>Taubin</a:t>
            </a:r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D5B599E5-302A-4388-A83D-47BE24977D53}"/>
              </a:ext>
            </a:extLst>
          </p:cNvPr>
          <p:cNvSpPr>
            <a:spLocks noGrp="1"/>
          </p:cNvSpPr>
          <p:nvPr/>
        </p:nvSpPr>
        <p:spPr>
          <a:xfrm>
            <a:off x="619125" y="2486025"/>
            <a:ext cx="2476500" cy="0"/>
          </a:xfrm>
          <a:prstGeom prst="line">
            <a:avLst/>
          </a:prstGeom>
          <a:noFill/>
          <a:ln w="14288">
            <a:solidFill>
              <a:srgbClr val="357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3190875" y="2334303"/>
            <a:ext cx="5334000" cy="379644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E22F3B5-3EB4-428C-99A3-A8A054E5EE50}"/>
              </a:ext>
            </a:extLst>
          </p:cNvPr>
          <p:cNvSpPr>
            <a:spLocks noGrp="1"/>
          </p:cNvSpPr>
          <p:nvPr/>
        </p:nvSpPr>
        <p:spPr>
          <a:xfrm>
            <a:off x="8810625" y="2247900"/>
            <a:ext cx="27622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 fontScale="98264"/>
          </a:bodyPr>
          <a:lstStyle/>
          <a:p>
            <a:pPr algn="l">
              <a:lnSpc>
                <a:spcPct val="105000"/>
              </a:lnSpc>
              <a:buNone/>
              <a:defRPr sz="1350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Το δεύτερο βήμα έχει αντίθετο πρόσημο και αντισταθμίζει τη συστολή.</a:t>
            </a:r>
          </a:p>
        </p:txBody>
      </p:sp>
      <p:pic>
        <p:nvPicPr>
          <p:cNvPr id="35" name="Picture 34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836123" y="3619500"/>
            <a:ext cx="3757254" cy="2095500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6572250" y="3653172"/>
            <a:ext cx="3810000" cy="2028157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5B98A047-E9D3-4CF3-ADCF-31C5D3B0657B}"/>
              </a:ext>
            </a:extLst>
          </p:cNvPr>
          <p:cNvSpPr>
            <a:spLocks noGrp="1"/>
          </p:cNvSpPr>
          <p:nvPr/>
        </p:nvSpPr>
        <p:spPr>
          <a:xfrm>
            <a:off x="1809750" y="5791200"/>
            <a:ext cx="3810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75" b="1" i="0">
                <a:solidFill>
                  <a:srgbClr val="A64337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A64337"/>
                </a:solidFill>
                <a:latin typeface="Calibri"/>
                <a:ea typeface="Calibri"/>
                <a:cs typeface="Calibri"/>
              </a:rPr>
              <a:t>Laplacian: έντονη συρρίκνωση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75EFFEB-FEBD-4097-B836-F25B58CF6E22}"/>
              </a:ext>
            </a:extLst>
          </p:cNvPr>
          <p:cNvSpPr>
            <a:spLocks noGrp="1"/>
          </p:cNvSpPr>
          <p:nvPr/>
        </p:nvSpPr>
        <p:spPr>
          <a:xfrm>
            <a:off x="6572250" y="5791200"/>
            <a:ext cx="3810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75" b="1" i="0">
                <a:solidFill>
                  <a:srgbClr val="59A14F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59A14F"/>
                </a:solidFill>
                <a:latin typeface="Calibri"/>
                <a:ea typeface="Calibri"/>
                <a:cs typeface="Calibri"/>
              </a:rPr>
              <a:t>Taubin: διατήρηση κλίμακας</a:t>
            </a:r>
          </a:p>
        </p:txBody>
      </p:sp>
    </p:spTree>
    <p:extLst>
      <p:ext uri="{BB962C8B-B14F-4D97-AF65-F5344CB8AC3E}">
        <p14:creationId xmlns:p14="http://schemas.microsoft.com/office/powerpoint/2010/main" val="12576497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A168B47D-2C95-4AA3-B96A-C2B392BC8C40}"/>
              </a:ext>
            </a:extLst>
          </p:cNvPr>
          <p:cNvSpPr>
            <a:spLocks noGrp="1"/>
          </p:cNvSpPr>
          <p:nvPr/>
        </p:nvSpPr>
        <p:spPr>
          <a:xfrm>
            <a:off x="457200" y="381000"/>
            <a:ext cx="2286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00" b="1" i="0">
                <a:solidFill>
                  <a:srgbClr val="445EA3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445EA3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270B3F0C-A57B-4B8A-813F-103FB25063F4}"/>
              </a:ext>
            </a:extLst>
          </p:cNvPr>
          <p:cNvSpPr>
            <a:spLocks noGrp="1"/>
          </p:cNvSpPr>
          <p:nvPr/>
        </p:nvSpPr>
        <p:spPr>
          <a:xfrm>
            <a:off x="714375" y="466725"/>
            <a:ext cx="19050" cy="0"/>
          </a:xfrm>
          <a:prstGeom prst="line">
            <a:avLst/>
          </a:prstGeom>
          <a:noFill/>
          <a:ln w="19050">
            <a:solidFill>
              <a:srgbClr val="445E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610101E-AB49-4FBA-89BF-9761B36B31FC}"/>
              </a:ext>
            </a:extLst>
          </p:cNvPr>
          <p:cNvSpPr>
            <a:spLocks noGrp="1"/>
          </p:cNvSpPr>
          <p:nvPr/>
        </p:nvSpPr>
        <p:spPr>
          <a:xfrm>
            <a:off x="838200" y="323850"/>
            <a:ext cx="10715625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550" b="0" i="0">
                <a:solidFill>
                  <a:srgbClr val="445EA3"/>
                </a:solidFill>
                <a:latin typeface="Calibri"/>
                <a:ea typeface="Calibri"/>
                <a:cs typeface="Calibri"/>
              </a:defRPr>
            </a:pPr>
            <a:r>
              <a:rPr sz="2550" b="0" i="0">
                <a:solidFill>
                  <a:srgbClr val="445EA3"/>
                </a:solidFill>
                <a:latin typeface="Calibri"/>
                <a:ea typeface="Calibri"/>
                <a:cs typeface="Calibri"/>
              </a:rPr>
              <a:t>Taubin: καλύτερη ισορροπία στο Bunny και στο Teapot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135D85B3-FEA7-4396-961A-AF92161A0761}"/>
              </a:ext>
            </a:extLst>
          </p:cNvPr>
          <p:cNvSpPr>
            <a:spLocks noGrp="1"/>
          </p:cNvSpPr>
          <p:nvPr/>
        </p:nvSpPr>
        <p:spPr>
          <a:xfrm>
            <a:off x="438150" y="6477000"/>
            <a:ext cx="11315700" cy="0"/>
          </a:xfrm>
          <a:prstGeom prst="line">
            <a:avLst/>
          </a:prstGeom>
          <a:noFill/>
          <a:ln w="19050">
            <a:solidFill>
              <a:srgbClr val="445E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38150" y="6534150"/>
            <a:ext cx="247650" cy="24765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D154721-F6C4-4A8C-95C1-1F809C33426D}"/>
              </a:ext>
            </a:extLst>
          </p:cNvPr>
          <p:cNvSpPr>
            <a:spLocks noGrp="1"/>
          </p:cNvSpPr>
          <p:nvPr/>
        </p:nvSpPr>
        <p:spPr>
          <a:xfrm>
            <a:off x="781050" y="6553200"/>
            <a:ext cx="82867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Mesh Denoising | 3D Υπολογιστική Όραση και Γεωμετρία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374AFF2-981A-4427-A1AF-C24AB033D3DF}"/>
              </a:ext>
            </a:extLst>
          </p:cNvPr>
          <p:cNvSpPr>
            <a:spLocks noGrp="1"/>
          </p:cNvSpPr>
          <p:nvPr/>
        </p:nvSpPr>
        <p:spPr>
          <a:xfrm>
            <a:off x="11334750" y="6553200"/>
            <a:ext cx="3619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13</a:t>
            </a: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39998" y="1095375"/>
            <a:ext cx="2444253" cy="2095500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3256117" y="1095375"/>
            <a:ext cx="2346017" cy="20955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9989D417-030A-467E-9566-A026C325992F}"/>
              </a:ext>
            </a:extLst>
          </p:cNvPr>
          <p:cNvSpPr>
            <a:spLocks noGrp="1"/>
          </p:cNvSpPr>
          <p:nvPr/>
        </p:nvSpPr>
        <p:spPr>
          <a:xfrm>
            <a:off x="523875" y="3219450"/>
            <a:ext cx="2476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 fontScale="99206"/>
          </a:bodyPr>
          <a:lstStyle/>
          <a:p>
            <a:pPr algn="ctr">
              <a:lnSpc>
                <a:spcPct val="105000"/>
              </a:lnSpc>
              <a:buNone/>
              <a:defRPr sz="1200" b="1" i="0">
                <a:solidFill>
                  <a:srgbClr val="A64337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A64337"/>
                </a:solidFill>
                <a:latin typeface="Calibri"/>
                <a:ea typeface="Calibri"/>
                <a:cs typeface="Calibri"/>
              </a:rPr>
              <a:t>Laplacian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C315222-619C-4B18-A899-50F207A5F789}"/>
              </a:ext>
            </a:extLst>
          </p:cNvPr>
          <p:cNvSpPr>
            <a:spLocks noGrp="1"/>
          </p:cNvSpPr>
          <p:nvPr/>
        </p:nvSpPr>
        <p:spPr>
          <a:xfrm>
            <a:off x="3190875" y="3219450"/>
            <a:ext cx="2476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 fontScale="99206"/>
          </a:bodyPr>
          <a:lstStyle/>
          <a:p>
            <a:pPr algn="ctr">
              <a:lnSpc>
                <a:spcPct val="105000"/>
              </a:lnSpc>
              <a:buNone/>
              <a:defRPr sz="1200" b="1" i="0">
                <a:solidFill>
                  <a:srgbClr val="59A14F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59A14F"/>
                </a:solidFill>
                <a:latin typeface="Calibri"/>
                <a:ea typeface="Calibri"/>
                <a:cs typeface="Calibri"/>
              </a:rPr>
              <a:t>Taubin</a:t>
            </a:r>
          </a:p>
        </p:txBody>
      </p:sp>
      <p:graphicFrame>
        <p:nvGraphicFramePr>
          <p:cNvPr id="26" name="Table 25"/>
          <p:cNvGraphicFramePr/>
          <p:nvPr/>
        </p:nvGraphicFramePr>
        <p:xfrm>
          <a:off x="5953125" y="1066800"/>
          <a:ext cx="5619750" cy="2190752"/>
        </p:xfrm>
        <a:graphic>
          <a:graphicData uri="http://schemas.openxmlformats.org/drawingml/2006/table">
            <a:tbl>
              <a:tblPr/>
              <a:tblGrid>
                <a:gridCol w="1428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0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7688">
                <a:tc>
                  <a:txBody>
                    <a:bodyPr/>
                    <a:lstStyle/>
                    <a:p>
                      <a:r>
                        <a:t>Bunny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MSAE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L2 surf.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Area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7688">
                <a:tc>
                  <a:txBody>
                    <a:bodyPr/>
                    <a:lstStyle/>
                    <a:p>
                      <a:r>
                        <a:t>Noisy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12.262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.001301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.002196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1.028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7688">
                <a:tc>
                  <a:txBody>
                    <a:bodyPr/>
                    <a:lstStyle/>
                    <a:p>
                      <a:r>
                        <a:t>Laplacian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5.424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.001585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.003247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.964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7688">
                <a:tc>
                  <a:txBody>
                    <a:bodyPr/>
                    <a:lstStyle/>
                    <a:p>
                      <a:r>
                        <a:t>Taubin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5.629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315F2C"/>
                          </a:solidFill>
                          <a:latin typeface="Calibri"/>
                          <a:ea typeface="Calibri"/>
                          <a:cs typeface="Calibri"/>
                        </a:rPr>
                        <a:t>.000754</a:t>
                      </a:r>
                    </a:p>
                  </a:txBody>
                  <a:tcPr anchor="ctr">
                    <a:solidFill>
                      <a:srgbClr val="EEF6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315F2C"/>
                          </a:solidFill>
                          <a:latin typeface="Calibri"/>
                          <a:ea typeface="Calibri"/>
                          <a:cs typeface="Calibri"/>
                        </a:rPr>
                        <a:t>.001587</a:t>
                      </a:r>
                    </a:p>
                  </a:txBody>
                  <a:tcPr anchor="ctr">
                    <a:solidFill>
                      <a:srgbClr val="EEF6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315F2C"/>
                          </a:solidFill>
                          <a:latin typeface="Calibri"/>
                          <a:ea typeface="Calibri"/>
                          <a:cs typeface="Calibri"/>
                        </a:rPr>
                        <a:t>1.001</a:t>
                      </a:r>
                    </a:p>
                  </a:txBody>
                  <a:tcPr anchor="ctr">
                    <a:solidFill>
                      <a:srgbClr val="EEF6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7" name="Table 26"/>
          <p:cNvGraphicFramePr/>
          <p:nvPr/>
        </p:nvGraphicFramePr>
        <p:xfrm>
          <a:off x="5953125" y="3667125"/>
          <a:ext cx="5619750" cy="2190752"/>
        </p:xfrm>
        <a:graphic>
          <a:graphicData uri="http://schemas.openxmlformats.org/drawingml/2006/table">
            <a:tbl>
              <a:tblPr/>
              <a:tblGrid>
                <a:gridCol w="1428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0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7688">
                <a:tc>
                  <a:txBody>
                    <a:bodyPr/>
                    <a:lstStyle/>
                    <a:p>
                      <a:r>
                        <a:t>Teapot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MSAE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L2 surf.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AABB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7688">
                <a:tc>
                  <a:txBody>
                    <a:bodyPr/>
                    <a:lstStyle/>
                    <a:p>
                      <a:r>
                        <a:t>Noisy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26.147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.012027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.019815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1.049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7688">
                <a:tc>
                  <a:txBody>
                    <a:bodyPr/>
                    <a:lstStyle/>
                    <a:p>
                      <a:r>
                        <a:t>Laplacian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18.716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.046966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.069702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.741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7688">
                <a:tc>
                  <a:txBody>
                    <a:bodyPr/>
                    <a:lstStyle/>
                    <a:p>
                      <a:r>
                        <a:t>Taubin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315F2C"/>
                          </a:solidFill>
                          <a:latin typeface="Calibri"/>
                          <a:ea typeface="Calibri"/>
                          <a:cs typeface="Calibri"/>
                        </a:rPr>
                        <a:t>12.382</a:t>
                      </a:r>
                    </a:p>
                  </a:txBody>
                  <a:tcPr anchor="ctr">
                    <a:solidFill>
                      <a:srgbClr val="EEF6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315F2C"/>
                          </a:solidFill>
                          <a:latin typeface="Calibri"/>
                          <a:ea typeface="Calibri"/>
                          <a:cs typeface="Calibri"/>
                        </a:rPr>
                        <a:t>.007275</a:t>
                      </a:r>
                    </a:p>
                  </a:txBody>
                  <a:tcPr anchor="ctr">
                    <a:solidFill>
                      <a:srgbClr val="EEF6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315F2C"/>
                          </a:solidFill>
                          <a:latin typeface="Calibri"/>
                          <a:ea typeface="Calibri"/>
                          <a:cs typeface="Calibri"/>
                        </a:rPr>
                        <a:t>.014244</a:t>
                      </a:r>
                    </a:p>
                  </a:txBody>
                  <a:tcPr anchor="ctr">
                    <a:solidFill>
                      <a:srgbClr val="EEF6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315F2C"/>
                          </a:solidFill>
                          <a:latin typeface="Calibri"/>
                          <a:ea typeface="Calibri"/>
                          <a:cs typeface="Calibri"/>
                        </a:rPr>
                        <a:t>1.018</a:t>
                      </a:r>
                    </a:p>
                  </a:txBody>
                  <a:tcPr anchor="ctr">
                    <a:solidFill>
                      <a:srgbClr val="EEF6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Rectangle 13">
            <a:extLst>
              <a:ext uri="{FF2B5EF4-FFF2-40B4-BE49-F238E27FC236}">
                <a16:creationId xmlns:a16="http://schemas.microsoft.com/office/drawing/2014/main" id="{182F646B-89DA-4A01-B260-E0ED2A0D1388}"/>
              </a:ext>
            </a:extLst>
          </p:cNvPr>
          <p:cNvSpPr>
            <a:spLocks noGrp="1"/>
          </p:cNvSpPr>
          <p:nvPr/>
        </p:nvSpPr>
        <p:spPr>
          <a:xfrm>
            <a:off x="666750" y="4191000"/>
            <a:ext cx="4762500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575" b="1" i="0">
                <a:solidFill>
                  <a:srgbClr val="304A8C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304A8C"/>
                </a:solidFill>
                <a:latin typeface="Calibri"/>
                <a:ea typeface="Calibri"/>
                <a:cs typeface="Calibri"/>
              </a:rPr>
              <a:t>Το Laplacian μειώνει το MSAE, αλλά αυξάνει τις γεωμετρικές αποστάσεις. Το Taubin βελτιώνει και τις δύο κατηγορίες μετρικών.</a:t>
            </a:r>
          </a:p>
        </p:txBody>
      </p:sp>
    </p:spTree>
    <p:extLst>
      <p:ext uri="{BB962C8B-B14F-4D97-AF65-F5344CB8AC3E}">
        <p14:creationId xmlns:p14="http://schemas.microsoft.com/office/powerpoint/2010/main" val="21014351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5AAB6082-7FBB-43B9-B78B-6F9DFF1FF91E}"/>
              </a:ext>
            </a:extLst>
          </p:cNvPr>
          <p:cNvSpPr>
            <a:spLocks noGrp="1"/>
          </p:cNvSpPr>
          <p:nvPr/>
        </p:nvSpPr>
        <p:spPr>
          <a:xfrm>
            <a:off x="457200" y="381000"/>
            <a:ext cx="2286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00" b="1" i="0">
                <a:solidFill>
                  <a:srgbClr val="445EA3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445EA3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48ED375F-6D89-49E3-BEED-2E102566FFF6}"/>
              </a:ext>
            </a:extLst>
          </p:cNvPr>
          <p:cNvSpPr>
            <a:spLocks noGrp="1"/>
          </p:cNvSpPr>
          <p:nvPr/>
        </p:nvSpPr>
        <p:spPr>
          <a:xfrm>
            <a:off x="714375" y="466725"/>
            <a:ext cx="19050" cy="0"/>
          </a:xfrm>
          <a:prstGeom prst="line">
            <a:avLst/>
          </a:prstGeom>
          <a:noFill/>
          <a:ln w="19050">
            <a:solidFill>
              <a:srgbClr val="445E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113E919-B2DC-4AAE-BD1C-356DA735421F}"/>
              </a:ext>
            </a:extLst>
          </p:cNvPr>
          <p:cNvSpPr>
            <a:spLocks noGrp="1"/>
          </p:cNvSpPr>
          <p:nvPr/>
        </p:nvSpPr>
        <p:spPr>
          <a:xfrm>
            <a:off x="838200" y="323850"/>
            <a:ext cx="10715625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550" b="0" i="0">
                <a:solidFill>
                  <a:srgbClr val="445EA3"/>
                </a:solidFill>
                <a:latin typeface="Calibri"/>
                <a:ea typeface="Calibri"/>
                <a:cs typeface="Calibri"/>
              </a:defRPr>
            </a:pPr>
            <a:r>
              <a:rPr sz="2550" b="0" i="0">
                <a:solidFill>
                  <a:srgbClr val="445EA3"/>
                </a:solidFill>
                <a:latin typeface="Calibri"/>
                <a:ea typeface="Calibri"/>
                <a:cs typeface="Calibri"/>
              </a:rPr>
              <a:t>Feature-aware denoising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2B0BF19A-E807-4E3E-A663-57C484A7D3DA}"/>
              </a:ext>
            </a:extLst>
          </p:cNvPr>
          <p:cNvSpPr>
            <a:spLocks noGrp="1"/>
          </p:cNvSpPr>
          <p:nvPr/>
        </p:nvSpPr>
        <p:spPr>
          <a:xfrm>
            <a:off x="438150" y="6477000"/>
            <a:ext cx="11315700" cy="0"/>
          </a:xfrm>
          <a:prstGeom prst="line">
            <a:avLst/>
          </a:prstGeom>
          <a:noFill/>
          <a:ln w="19050">
            <a:solidFill>
              <a:srgbClr val="445E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38150" y="6534150"/>
            <a:ext cx="247650" cy="24765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E01EF8A-3C04-4D7D-BF61-1B139936006A}"/>
              </a:ext>
            </a:extLst>
          </p:cNvPr>
          <p:cNvSpPr>
            <a:spLocks noGrp="1"/>
          </p:cNvSpPr>
          <p:nvPr/>
        </p:nvSpPr>
        <p:spPr>
          <a:xfrm>
            <a:off x="781050" y="6553200"/>
            <a:ext cx="82867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Mesh Denoising | 3D Υπολογιστική Όραση και Γεωμετρία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BC8106D-BD55-4BE1-8F7B-7FE2A768A905}"/>
              </a:ext>
            </a:extLst>
          </p:cNvPr>
          <p:cNvSpPr>
            <a:spLocks noGrp="1"/>
          </p:cNvSpPr>
          <p:nvPr/>
        </p:nvSpPr>
        <p:spPr>
          <a:xfrm>
            <a:off x="11334750" y="6553200"/>
            <a:ext cx="3619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14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BB1D722-6BEE-4416-8117-99666162A2E3}"/>
              </a:ext>
            </a:extLst>
          </p:cNvPr>
          <p:cNvSpPr>
            <a:spLocks noGrp="1"/>
          </p:cNvSpPr>
          <p:nvPr/>
        </p:nvSpPr>
        <p:spPr>
          <a:xfrm>
            <a:off x="714375" y="1238250"/>
            <a:ext cx="2190750" cy="838200"/>
          </a:xfrm>
          <a:prstGeom prst="roundRect">
            <a:avLst>
              <a:gd name="adj" fmla="val 11364"/>
            </a:avLst>
          </a:prstGeom>
          <a:solidFill>
            <a:srgbClr val="E8EEF9"/>
          </a:solidFill>
          <a:ln w="13335">
            <a:solidFill>
              <a:srgbClr val="304A8C"/>
            </a:solidFill>
            <a:prstDash val="solid"/>
          </a:ln>
        </p:spPr>
        <p:txBody>
          <a:bodyPr lIns="66675" tIns="47625" rIns="66675" bIns="47625" anchor="ctr">
            <a:normAutofit/>
          </a:bodyPr>
          <a:lstStyle/>
          <a:p>
            <a:pPr algn="ctr">
              <a:defRPr sz="1350" b="1">
                <a:solidFill>
                  <a:srgbClr val="304A8C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304A8C"/>
                </a:solidFill>
                <a:latin typeface="Calibri"/>
                <a:ea typeface="Calibri"/>
                <a:cs typeface="Calibri"/>
              </a:rPr>
              <a:t>Flat / salient</a:t>
            </a:r>
          </a:p>
          <a:p>
            <a:pPr algn="ctr">
              <a:defRPr sz="1350" b="1">
                <a:solidFill>
                  <a:srgbClr val="304A8C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304A8C"/>
                </a:solidFill>
                <a:latin typeface="Calibri"/>
                <a:ea typeface="Calibri"/>
                <a:cs typeface="Calibri"/>
              </a:rPr>
              <a:t>classification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79046113-50D6-41DC-BA64-E7954F38347B}"/>
              </a:ext>
            </a:extLst>
          </p:cNvPr>
          <p:cNvSpPr>
            <a:spLocks noGrp="1"/>
          </p:cNvSpPr>
          <p:nvPr/>
        </p:nvSpPr>
        <p:spPr>
          <a:xfrm>
            <a:off x="3000375" y="1562100"/>
            <a:ext cx="361950" cy="209550"/>
          </a:xfrm>
          <a:prstGeom prst="rightArrow">
            <a:avLst/>
          </a:prstGeom>
          <a:solidFill>
            <a:srgbClr val="AEB6C4"/>
          </a:solidFill>
          <a:ln w="4763">
            <a:solidFill>
              <a:srgbClr val="AEB6C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7DF72D7-EC3B-4FC0-9498-6177F9D74D2A}"/>
              </a:ext>
            </a:extLst>
          </p:cNvPr>
          <p:cNvSpPr>
            <a:spLocks noGrp="1"/>
          </p:cNvSpPr>
          <p:nvPr/>
        </p:nvSpPr>
        <p:spPr>
          <a:xfrm>
            <a:off x="3524250" y="1238250"/>
            <a:ext cx="2190750" cy="838200"/>
          </a:xfrm>
          <a:prstGeom prst="roundRect">
            <a:avLst>
              <a:gd name="adj" fmla="val 11364"/>
            </a:avLst>
          </a:prstGeom>
          <a:solidFill>
            <a:srgbClr val="F1EDFF"/>
          </a:solidFill>
          <a:ln w="13335">
            <a:solidFill>
              <a:srgbClr val="6D5BD0"/>
            </a:solidFill>
            <a:prstDash val="solid"/>
          </a:ln>
        </p:spPr>
        <p:txBody>
          <a:bodyPr lIns="66675" tIns="47625" rIns="66675" bIns="47625" anchor="ctr">
            <a:normAutofit/>
          </a:bodyPr>
          <a:lstStyle/>
          <a:p>
            <a:pPr algn="ctr">
              <a:defRPr sz="1350" b="1">
                <a:solidFill>
                  <a:srgbClr val="6D5BD0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6D5BD0"/>
                </a:solidFill>
                <a:latin typeface="Calibri"/>
                <a:ea typeface="Calibri"/>
                <a:cs typeface="Calibri"/>
              </a:rPr>
              <a:t>Patch επιλογή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57AD4643-9C19-474B-B330-4088A821EE48}"/>
              </a:ext>
            </a:extLst>
          </p:cNvPr>
          <p:cNvSpPr>
            <a:spLocks noGrp="1"/>
          </p:cNvSpPr>
          <p:nvPr/>
        </p:nvSpPr>
        <p:spPr>
          <a:xfrm>
            <a:off x="5810250" y="1562100"/>
            <a:ext cx="361950" cy="209550"/>
          </a:xfrm>
          <a:prstGeom prst="rightArrow">
            <a:avLst/>
          </a:prstGeom>
          <a:solidFill>
            <a:srgbClr val="AEB6C4"/>
          </a:solidFill>
          <a:ln w="4763">
            <a:solidFill>
              <a:srgbClr val="AEB6C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A5B7F8B-93F5-4442-AA60-2AFF043C8EE5}"/>
              </a:ext>
            </a:extLst>
          </p:cNvPr>
          <p:cNvSpPr>
            <a:spLocks noGrp="1"/>
          </p:cNvSpPr>
          <p:nvPr/>
        </p:nvSpPr>
        <p:spPr>
          <a:xfrm>
            <a:off x="6334125" y="1238250"/>
            <a:ext cx="2190750" cy="838200"/>
          </a:xfrm>
          <a:prstGeom prst="roundRect">
            <a:avLst>
              <a:gd name="adj" fmla="val 11364"/>
            </a:avLst>
          </a:prstGeom>
          <a:solidFill>
            <a:srgbClr val="FFF4E6"/>
          </a:solidFill>
          <a:ln w="13335">
            <a:solidFill>
              <a:srgbClr val="9A5A16"/>
            </a:solidFill>
            <a:prstDash val="solid"/>
          </a:ln>
        </p:spPr>
        <p:txBody>
          <a:bodyPr lIns="66675" tIns="47625" rIns="66675" bIns="47625" anchor="ctr">
            <a:normAutofit/>
          </a:bodyPr>
          <a:lstStyle/>
          <a:p>
            <a:pPr algn="ctr">
              <a:defRPr sz="1350" b="1">
                <a:solidFill>
                  <a:srgbClr val="9A5A16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9A5A16"/>
                </a:solidFill>
                <a:latin typeface="Calibri"/>
                <a:ea typeface="Calibri"/>
                <a:cs typeface="Calibri"/>
              </a:rPr>
              <a:t>Normal filtering</a:t>
            </a:r>
          </a:p>
          <a:p>
            <a:pPr algn="ctr">
              <a:defRPr sz="1350" b="1">
                <a:solidFill>
                  <a:srgbClr val="9A5A16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9A5A16"/>
                </a:solidFill>
                <a:latin typeface="Calibri"/>
                <a:ea typeface="Calibri"/>
                <a:cs typeface="Calibri"/>
              </a:rPr>
              <a:t>×2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074654A1-F355-4D38-B5CD-6FA2455344FE}"/>
              </a:ext>
            </a:extLst>
          </p:cNvPr>
          <p:cNvSpPr>
            <a:spLocks noGrp="1"/>
          </p:cNvSpPr>
          <p:nvPr/>
        </p:nvSpPr>
        <p:spPr>
          <a:xfrm>
            <a:off x="8620125" y="1562100"/>
            <a:ext cx="361950" cy="209550"/>
          </a:xfrm>
          <a:prstGeom prst="rightArrow">
            <a:avLst/>
          </a:prstGeom>
          <a:solidFill>
            <a:srgbClr val="AEB6C4"/>
          </a:solidFill>
          <a:ln w="4763">
            <a:solidFill>
              <a:srgbClr val="AEB6C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B8B35C1-0137-41F5-B976-E4BA55626F6E}"/>
              </a:ext>
            </a:extLst>
          </p:cNvPr>
          <p:cNvSpPr>
            <a:spLocks noGrp="1"/>
          </p:cNvSpPr>
          <p:nvPr/>
        </p:nvSpPr>
        <p:spPr>
          <a:xfrm>
            <a:off x="9144000" y="1238250"/>
            <a:ext cx="2190750" cy="838200"/>
          </a:xfrm>
          <a:prstGeom prst="roundRect">
            <a:avLst>
              <a:gd name="adj" fmla="val 11364"/>
            </a:avLst>
          </a:prstGeom>
          <a:solidFill>
            <a:srgbClr val="EAF4EC"/>
          </a:solidFill>
          <a:ln w="13335">
            <a:solidFill>
              <a:srgbClr val="3A7040"/>
            </a:solidFill>
            <a:prstDash val="solid"/>
          </a:ln>
        </p:spPr>
        <p:txBody>
          <a:bodyPr lIns="66675" tIns="47625" rIns="66675" bIns="47625" anchor="ctr">
            <a:normAutofit/>
          </a:bodyPr>
          <a:lstStyle/>
          <a:p>
            <a:pPr algn="ctr">
              <a:defRPr sz="1350" b="1">
                <a:solidFill>
                  <a:srgbClr val="3A7040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3A7040"/>
                </a:solidFill>
                <a:latin typeface="Calibri"/>
                <a:ea typeface="Calibri"/>
                <a:cs typeface="Calibri"/>
              </a:rPr>
              <a:t>Vertex update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A067085-E657-40FD-9981-1EB9FA10B199}"/>
              </a:ext>
            </a:extLst>
          </p:cNvPr>
          <p:cNvSpPr>
            <a:spLocks noGrp="1"/>
          </p:cNvSpPr>
          <p:nvPr/>
        </p:nvSpPr>
        <p:spPr>
          <a:xfrm>
            <a:off x="952500" y="2667000"/>
            <a:ext cx="2000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650" b="1" i="0">
                <a:solidFill>
                  <a:srgbClr val="304A8C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304A8C"/>
                </a:solidFill>
                <a:latin typeface="Calibri"/>
                <a:ea typeface="Calibri"/>
                <a:cs typeface="Calibri"/>
              </a:rPr>
              <a:t>Smooth faces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57D6D0E-B2F9-4D4D-9872-4B0204FBE543}"/>
              </a:ext>
            </a:extLst>
          </p:cNvPr>
          <p:cNvSpPr>
            <a:spLocks noGrp="1"/>
          </p:cNvSpPr>
          <p:nvPr/>
        </p:nvSpPr>
        <p:spPr>
          <a:xfrm>
            <a:off x="857250" y="3048000"/>
            <a:ext cx="219075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350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χρήση του αρχικού k-NN patch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78346CB-84B3-4870-B711-B63F2B735B75}"/>
              </a:ext>
            </a:extLst>
          </p:cNvPr>
          <p:cNvSpPr>
            <a:spLocks noGrp="1"/>
          </p:cNvSpPr>
          <p:nvPr/>
        </p:nvSpPr>
        <p:spPr>
          <a:xfrm>
            <a:off x="3619500" y="2667000"/>
            <a:ext cx="2000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650" b="1" i="0">
                <a:solidFill>
                  <a:srgbClr val="6D5BD0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6D5BD0"/>
                </a:solidFill>
                <a:latin typeface="Calibri"/>
                <a:ea typeface="Calibri"/>
                <a:cs typeface="Calibri"/>
              </a:rPr>
              <a:t>Salient faces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0957AF7-C592-4F25-9FA6-F517122A3547}"/>
              </a:ext>
            </a:extLst>
          </p:cNvPr>
          <p:cNvSpPr>
            <a:spLocks noGrp="1"/>
          </p:cNvSpPr>
          <p:nvPr/>
        </p:nvSpPr>
        <p:spPr>
          <a:xfrm>
            <a:off x="3429000" y="3048000"/>
            <a:ext cx="23812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350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επιλογή συνεπούς patch στην ίδια πλευρά της ακμής</a:t>
            </a:r>
          </a:p>
        </p:txBody>
      </p:sp>
      <p:pic>
        <p:nvPicPr>
          <p:cNvPr id="40" name="Picture 39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191250" y="3059822"/>
            <a:ext cx="5143500" cy="404982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C1648446-1DC5-48DA-87BE-3B8BDA7A7E04}"/>
              </a:ext>
            </a:extLst>
          </p:cNvPr>
          <p:cNvSpPr>
            <a:spLocks noGrp="1"/>
          </p:cNvSpPr>
          <p:nvPr/>
        </p:nvSpPr>
        <p:spPr>
          <a:xfrm>
            <a:off x="1619250" y="4619625"/>
            <a:ext cx="89535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575" b="0" i="0">
                <a:solidFill>
                  <a:srgbClr val="304A8C"/>
                </a:solidFill>
                <a:latin typeface="Calibri"/>
                <a:ea typeface="Calibri"/>
                <a:cs typeface="Calibri"/>
              </a:defRPr>
            </a:pPr>
            <a:r>
              <a:rPr sz="1575" b="0" i="0">
                <a:solidFill>
                  <a:srgbClr val="304A8C"/>
                </a:solidFill>
                <a:latin typeface="Calibri"/>
                <a:ea typeface="Calibri"/>
                <a:cs typeface="Calibri"/>
              </a:rPr>
              <a:t>Η μετακίνηση γίνεται κυρίως κατά τις φιλτραρισμένες κανονικές, ώστε να περιορίζεται η εφαπτομενική μετατόπιση.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4D87CD8-7F72-4116-B69C-1467243EA26E}"/>
              </a:ext>
            </a:extLst>
          </p:cNvPr>
          <p:cNvSpPr>
            <a:spLocks noGrp="1"/>
          </p:cNvSpPr>
          <p:nvPr/>
        </p:nvSpPr>
        <p:spPr>
          <a:xfrm>
            <a:off x="1952625" y="5448300"/>
            <a:ext cx="8286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75" b="0" i="1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1275" b="0" i="1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Υλοποίηση εμπνευσμένη από τη βιβλιογραφία, με ρητή επιλογή patch και χωρίς το πλήρες Bayesian coarse-to-fine στάδιο του paper.</a:t>
            </a:r>
          </a:p>
        </p:txBody>
      </p:sp>
    </p:spTree>
    <p:extLst>
      <p:ext uri="{BB962C8B-B14F-4D97-AF65-F5344CB8AC3E}">
        <p14:creationId xmlns:p14="http://schemas.microsoft.com/office/powerpoint/2010/main" val="3396145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918E88A5-60B8-488E-839D-7B834CBC9DA5}"/>
              </a:ext>
            </a:extLst>
          </p:cNvPr>
          <p:cNvSpPr>
            <a:spLocks noGrp="1"/>
          </p:cNvSpPr>
          <p:nvPr/>
        </p:nvSpPr>
        <p:spPr>
          <a:xfrm>
            <a:off x="457200" y="381000"/>
            <a:ext cx="2286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00" b="1" i="0">
                <a:solidFill>
                  <a:srgbClr val="445EA3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445EA3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67D0F615-9118-4B35-8A35-09F0CCFE5F52}"/>
              </a:ext>
            </a:extLst>
          </p:cNvPr>
          <p:cNvSpPr>
            <a:spLocks noGrp="1"/>
          </p:cNvSpPr>
          <p:nvPr/>
        </p:nvSpPr>
        <p:spPr>
          <a:xfrm>
            <a:off x="714375" y="466725"/>
            <a:ext cx="19050" cy="0"/>
          </a:xfrm>
          <a:prstGeom prst="line">
            <a:avLst/>
          </a:prstGeom>
          <a:noFill/>
          <a:ln w="19050">
            <a:solidFill>
              <a:srgbClr val="445E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48D4A2-94B0-42E0-BBA9-563E09ABDCD8}"/>
              </a:ext>
            </a:extLst>
          </p:cNvPr>
          <p:cNvSpPr>
            <a:spLocks noGrp="1"/>
          </p:cNvSpPr>
          <p:nvPr/>
        </p:nvSpPr>
        <p:spPr>
          <a:xfrm>
            <a:off x="838200" y="323850"/>
            <a:ext cx="10715625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550" b="0" i="0">
                <a:solidFill>
                  <a:srgbClr val="445EA3"/>
                </a:solidFill>
                <a:latin typeface="Calibri"/>
                <a:ea typeface="Calibri"/>
                <a:cs typeface="Calibri"/>
              </a:defRPr>
            </a:pPr>
            <a:r>
              <a:rPr sz="2550" b="0" i="0">
                <a:solidFill>
                  <a:srgbClr val="445EA3"/>
                </a:solidFill>
                <a:latin typeface="Calibri"/>
                <a:ea typeface="Calibri"/>
                <a:cs typeface="Calibri"/>
              </a:rPr>
              <a:t>Feature-aware: πλεονέκτημα στο πυκνό Bunny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D0528287-C097-4068-8171-F296BA56BCF6}"/>
              </a:ext>
            </a:extLst>
          </p:cNvPr>
          <p:cNvSpPr>
            <a:spLocks noGrp="1"/>
          </p:cNvSpPr>
          <p:nvPr/>
        </p:nvSpPr>
        <p:spPr>
          <a:xfrm>
            <a:off x="438150" y="6477000"/>
            <a:ext cx="11315700" cy="0"/>
          </a:xfrm>
          <a:prstGeom prst="line">
            <a:avLst/>
          </a:prstGeom>
          <a:noFill/>
          <a:ln w="19050">
            <a:solidFill>
              <a:srgbClr val="445E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38150" y="6534150"/>
            <a:ext cx="247650" cy="24765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93B14D3-3AA3-4C12-A534-4CDF765BEC96}"/>
              </a:ext>
            </a:extLst>
          </p:cNvPr>
          <p:cNvSpPr>
            <a:spLocks noGrp="1"/>
          </p:cNvSpPr>
          <p:nvPr/>
        </p:nvSpPr>
        <p:spPr>
          <a:xfrm>
            <a:off x="781050" y="6553200"/>
            <a:ext cx="82867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Mesh Denoising | 3D Υπολογιστική Όραση και Γεωμετρία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F740861-CB68-44E6-859D-4BCA556D8EF7}"/>
              </a:ext>
            </a:extLst>
          </p:cNvPr>
          <p:cNvSpPr>
            <a:spLocks noGrp="1"/>
          </p:cNvSpPr>
          <p:nvPr/>
        </p:nvSpPr>
        <p:spPr>
          <a:xfrm>
            <a:off x="11334750" y="6553200"/>
            <a:ext cx="3619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15</a:t>
            </a: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23875" y="1237331"/>
            <a:ext cx="3143250" cy="2764088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3905250" y="1764411"/>
            <a:ext cx="3143250" cy="170992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A2C876A-C69A-414A-B472-4965D1B17137}"/>
              </a:ext>
            </a:extLst>
          </p:cNvPr>
          <p:cNvSpPr>
            <a:spLocks noGrp="1"/>
          </p:cNvSpPr>
          <p:nvPr/>
        </p:nvSpPr>
        <p:spPr>
          <a:xfrm>
            <a:off x="523875" y="4095750"/>
            <a:ext cx="3143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00" b="1" i="0">
                <a:solidFill>
                  <a:srgbClr val="304A8C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304A8C"/>
                </a:solidFill>
                <a:latin typeface="Calibri"/>
                <a:ea typeface="Calibri"/>
                <a:cs typeface="Calibri"/>
              </a:rPr>
              <a:t>Bunny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72096E2-98AD-4712-9E54-778B904DA37A}"/>
              </a:ext>
            </a:extLst>
          </p:cNvPr>
          <p:cNvSpPr>
            <a:spLocks noGrp="1"/>
          </p:cNvSpPr>
          <p:nvPr/>
        </p:nvSpPr>
        <p:spPr>
          <a:xfrm>
            <a:off x="3905250" y="4095750"/>
            <a:ext cx="3143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00" b="1" i="0">
                <a:solidFill>
                  <a:srgbClr val="304A8C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304A8C"/>
                </a:solidFill>
                <a:latin typeface="Calibri"/>
                <a:ea typeface="Calibri"/>
                <a:cs typeface="Calibri"/>
              </a:rPr>
              <a:t>Teapot</a:t>
            </a:r>
          </a:p>
        </p:txBody>
      </p:sp>
      <p:graphicFrame>
        <p:nvGraphicFramePr>
          <p:cNvPr id="25" name="Table 24"/>
          <p:cNvGraphicFramePr/>
          <p:nvPr/>
        </p:nvGraphicFramePr>
        <p:xfrm>
          <a:off x="7334250" y="1190625"/>
          <a:ext cx="4476750" cy="3200400"/>
        </p:xfrm>
        <a:graphic>
          <a:graphicData uri="http://schemas.openxmlformats.org/drawingml/2006/table">
            <a:tbl>
              <a:tblPr/>
              <a:tblGrid>
                <a:gridCol w="1619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00075">
                <a:tc>
                  <a:txBody>
                    <a:bodyPr/>
                    <a:lstStyle/>
                    <a:p>
                      <a:r>
                        <a:t>Μοντέλο · μέθοδος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MSAE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r>
                        <a:t>Bunny · Taubin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5.629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.000754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.001587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.545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r>
                        <a:t>Bunny · F-aware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315F2C"/>
                          </a:solidFill>
                          <a:latin typeface="Calibri"/>
                          <a:ea typeface="Calibri"/>
                          <a:cs typeface="Calibri"/>
                        </a:rPr>
                        <a:t>4.505</a:t>
                      </a:r>
                    </a:p>
                  </a:txBody>
                  <a:tcPr anchor="ctr">
                    <a:solidFill>
                      <a:srgbClr val="EEF6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315F2C"/>
                          </a:solidFill>
                          <a:latin typeface="Calibri"/>
                          <a:ea typeface="Calibri"/>
                          <a:cs typeface="Calibri"/>
                        </a:rPr>
                        <a:t>.000674</a:t>
                      </a:r>
                    </a:p>
                  </a:txBody>
                  <a:tcPr anchor="ctr">
                    <a:solidFill>
                      <a:srgbClr val="EEF6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.001924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1.699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r>
                        <a:t>Teapot · Taubin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315F2C"/>
                          </a:solidFill>
                          <a:latin typeface="Calibri"/>
                          <a:ea typeface="Calibri"/>
                          <a:cs typeface="Calibri"/>
                        </a:rPr>
                        <a:t>12.382</a:t>
                      </a:r>
                    </a:p>
                  </a:txBody>
                  <a:tcPr anchor="ctr">
                    <a:solidFill>
                      <a:srgbClr val="EEF6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315F2C"/>
                          </a:solidFill>
                          <a:latin typeface="Calibri"/>
                          <a:ea typeface="Calibri"/>
                          <a:cs typeface="Calibri"/>
                        </a:rPr>
                        <a:t>.007275</a:t>
                      </a:r>
                    </a:p>
                  </a:txBody>
                  <a:tcPr anchor="ctr">
                    <a:solidFill>
                      <a:srgbClr val="EEF6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315F2C"/>
                          </a:solidFill>
                          <a:latin typeface="Calibri"/>
                          <a:ea typeface="Calibri"/>
                          <a:cs typeface="Calibri"/>
                        </a:rPr>
                        <a:t>.014244</a:t>
                      </a:r>
                    </a:p>
                  </a:txBody>
                  <a:tcPr anchor="ctr">
                    <a:solidFill>
                      <a:srgbClr val="EEF6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.824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r>
                        <a:t>Teapot · F-aware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21.135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.009531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.018698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1.309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B696D379-200C-4B75-B590-705D60059CB3}"/>
              </a:ext>
            </a:extLst>
          </p:cNvPr>
          <p:cNvSpPr>
            <a:spLocks noGrp="1"/>
          </p:cNvSpPr>
          <p:nvPr/>
        </p:nvSpPr>
        <p:spPr>
          <a:xfrm>
            <a:off x="1333500" y="5000625"/>
            <a:ext cx="95250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575" b="1" i="0">
                <a:solidFill>
                  <a:srgbClr val="304A8C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304A8C"/>
                </a:solidFill>
                <a:latin typeface="Calibri"/>
                <a:ea typeface="Calibri"/>
                <a:cs typeface="Calibri"/>
              </a:rPr>
              <a:t>Στο Bunny η feature-aware μέθοδος δίνει το καλύτερο MSAE και L2 surface error. Στο αραιότερο Teapot, η Taubin παραμένει καλύτερη στις περισσότερες μετρικές.</a:t>
            </a:r>
          </a:p>
        </p:txBody>
      </p:sp>
    </p:spTree>
    <p:extLst>
      <p:ext uri="{BB962C8B-B14F-4D97-AF65-F5344CB8AC3E}">
        <p14:creationId xmlns:p14="http://schemas.microsoft.com/office/powerpoint/2010/main" val="1617169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DA07A35-815B-4AD8-B009-57768698E5D7}"/>
              </a:ext>
            </a:extLst>
          </p:cNvPr>
          <p:cNvSpPr>
            <a:spLocks noGrp="1"/>
          </p:cNvSpPr>
          <p:nvPr/>
        </p:nvSpPr>
        <p:spPr>
          <a:xfrm>
            <a:off x="457200" y="381000"/>
            <a:ext cx="2286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00" b="1" i="0">
                <a:solidFill>
                  <a:srgbClr val="445EA3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445EA3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35542528-CC3E-4FFB-A905-05928DDBE626}"/>
              </a:ext>
            </a:extLst>
          </p:cNvPr>
          <p:cNvSpPr>
            <a:spLocks noGrp="1"/>
          </p:cNvSpPr>
          <p:nvPr/>
        </p:nvSpPr>
        <p:spPr>
          <a:xfrm>
            <a:off x="714375" y="466725"/>
            <a:ext cx="19050" cy="0"/>
          </a:xfrm>
          <a:prstGeom prst="line">
            <a:avLst/>
          </a:prstGeom>
          <a:noFill/>
          <a:ln w="19050">
            <a:solidFill>
              <a:srgbClr val="445E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C42767C-C3C1-4334-882D-C64FDB6B314E}"/>
              </a:ext>
            </a:extLst>
          </p:cNvPr>
          <p:cNvSpPr>
            <a:spLocks noGrp="1"/>
          </p:cNvSpPr>
          <p:nvPr/>
        </p:nvSpPr>
        <p:spPr>
          <a:xfrm>
            <a:off x="838200" y="323850"/>
            <a:ext cx="10715625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550" b="0" i="0">
                <a:solidFill>
                  <a:srgbClr val="445EA3"/>
                </a:solidFill>
                <a:latin typeface="Calibri"/>
                <a:ea typeface="Calibri"/>
                <a:cs typeface="Calibri"/>
              </a:defRPr>
            </a:pPr>
            <a:r>
              <a:rPr sz="2550" b="0" i="0">
                <a:solidFill>
                  <a:srgbClr val="445EA3"/>
                </a:solidFill>
                <a:latin typeface="Calibri"/>
                <a:ea typeface="Calibri"/>
                <a:cs typeface="Calibri"/>
              </a:rPr>
              <a:t>Remeshing και τοπολογικές αλλοιώσεις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D3643930-C5E7-40E0-BA7E-454BFCDDABA4}"/>
              </a:ext>
            </a:extLst>
          </p:cNvPr>
          <p:cNvSpPr>
            <a:spLocks noGrp="1"/>
          </p:cNvSpPr>
          <p:nvPr/>
        </p:nvSpPr>
        <p:spPr>
          <a:xfrm>
            <a:off x="438150" y="6477000"/>
            <a:ext cx="11315700" cy="0"/>
          </a:xfrm>
          <a:prstGeom prst="line">
            <a:avLst/>
          </a:prstGeom>
          <a:noFill/>
          <a:ln w="19050">
            <a:solidFill>
              <a:srgbClr val="445E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38150" y="6534150"/>
            <a:ext cx="247650" cy="24765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2C0334A-0D2E-4E34-A297-E1960D7978A7}"/>
              </a:ext>
            </a:extLst>
          </p:cNvPr>
          <p:cNvSpPr>
            <a:spLocks noGrp="1"/>
          </p:cNvSpPr>
          <p:nvPr/>
        </p:nvSpPr>
        <p:spPr>
          <a:xfrm>
            <a:off x="781050" y="6553200"/>
            <a:ext cx="82867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Mesh Denoising | 3D Υπολογιστική Όραση και Γεωμετρία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895FAF7-0C5F-4B85-A43E-7D92A280C16B}"/>
              </a:ext>
            </a:extLst>
          </p:cNvPr>
          <p:cNvSpPr>
            <a:spLocks noGrp="1"/>
          </p:cNvSpPr>
          <p:nvPr/>
        </p:nvSpPr>
        <p:spPr>
          <a:xfrm>
            <a:off x="11334750" y="6553200"/>
            <a:ext cx="3619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16</a:t>
            </a: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03941" y="1095375"/>
            <a:ext cx="2792618" cy="2381250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4714410" y="1095375"/>
            <a:ext cx="2763180" cy="2381250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8860194" y="1095375"/>
            <a:ext cx="2663112" cy="238125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74ED9FD-176C-4D69-9F95-2514E91FFD31}"/>
              </a:ext>
            </a:extLst>
          </p:cNvPr>
          <p:cNvSpPr>
            <a:spLocks noGrp="1"/>
          </p:cNvSpPr>
          <p:nvPr/>
        </p:nvSpPr>
        <p:spPr>
          <a:xfrm>
            <a:off x="571500" y="3524250"/>
            <a:ext cx="28575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00" b="1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Αρχικό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31D1F6-2C5A-4675-A912-D59158CDD8B2}"/>
              </a:ext>
            </a:extLst>
          </p:cNvPr>
          <p:cNvSpPr>
            <a:spLocks noGrp="1"/>
          </p:cNvSpPr>
          <p:nvPr/>
        </p:nvSpPr>
        <p:spPr>
          <a:xfrm>
            <a:off x="4667250" y="3524250"/>
            <a:ext cx="28575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00" b="1" i="0">
                <a:solidFill>
                  <a:srgbClr val="304A8C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304A8C"/>
                </a:solidFill>
                <a:latin typeface="Calibri"/>
                <a:ea typeface="Calibri"/>
                <a:cs typeface="Calibri"/>
              </a:rPr>
              <a:t>Isotropic remeshing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FB0B3E7-4C41-4E82-9C11-6607AF5CCF95}"/>
              </a:ext>
            </a:extLst>
          </p:cNvPr>
          <p:cNvSpPr>
            <a:spLocks noGrp="1"/>
          </p:cNvSpPr>
          <p:nvPr/>
        </p:nvSpPr>
        <p:spPr>
          <a:xfrm>
            <a:off x="8763000" y="3524250"/>
            <a:ext cx="28575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00" b="1" i="0">
                <a:solidFill>
                  <a:srgbClr val="A64337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A64337"/>
                </a:solidFill>
                <a:latin typeface="Calibri"/>
                <a:ea typeface="Calibri"/>
                <a:cs typeface="Calibri"/>
              </a:rPr>
              <a:t>Τοπολογικές οπές</a:t>
            </a:r>
          </a:p>
        </p:txBody>
      </p:sp>
      <p:graphicFrame>
        <p:nvGraphicFramePr>
          <p:cNvPr id="30" name="Table 29"/>
          <p:cNvGraphicFramePr/>
          <p:nvPr/>
        </p:nvGraphicFramePr>
        <p:xfrm>
          <a:off x="1857375" y="4000500"/>
          <a:ext cx="8477250" cy="1463040"/>
        </p:xfrm>
        <a:graphic>
          <a:graphicData uri="http://schemas.openxmlformats.org/drawingml/2006/table">
            <a:tbl>
              <a:tblPr/>
              <a:tblGrid>
                <a:gridCol w="247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0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00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00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1469">
                <a:tc>
                  <a:txBody>
                    <a:bodyPr/>
                    <a:lstStyle/>
                    <a:p>
                      <a:r>
                        <a:t>Mesh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Vertices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Faces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Mean edge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1469">
                <a:tc>
                  <a:txBody>
                    <a:bodyPr/>
                    <a:lstStyle/>
                    <a:p>
                      <a:r>
                        <a:t>Αρχικό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4968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0.047935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1469">
                <a:tc>
                  <a:txBody>
                    <a:bodyPr/>
                    <a:lstStyle/>
                    <a:p>
                      <a:r>
                        <a:t>Remeshed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2607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0.061158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1469">
                <a:tc>
                  <a:txBody>
                    <a:bodyPr/>
                    <a:lstStyle/>
                    <a:p>
                      <a:r>
                        <a:t>Με οπές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4700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0.047959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BCCE7DBF-3B88-44ED-A352-95F4F957AE94}"/>
              </a:ext>
            </a:extLst>
          </p:cNvPr>
          <p:cNvSpPr>
            <a:spLocks noGrp="1"/>
          </p:cNvSpPr>
          <p:nvPr/>
        </p:nvSpPr>
        <p:spPr>
          <a:xfrm>
            <a:off x="1524000" y="5429250"/>
            <a:ext cx="9144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425" b="1" i="0">
                <a:solidFill>
                  <a:srgbClr val="304A8C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304A8C"/>
                </a:solidFill>
                <a:latin typeface="Calibri"/>
                <a:ea typeface="Calibri"/>
                <a:cs typeface="Calibri"/>
              </a:rPr>
              <a:t>Κάθε παραλλαγή συγκρίνεται με το δικό της καθαρό reference πριν από την προσθήκη θορύβου.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16F81D0-5760-4936-814D-56C0DC0A4AB4}"/>
              </a:ext>
            </a:extLst>
          </p:cNvPr>
          <p:cNvSpPr>
            <a:spLocks noGrp="1"/>
          </p:cNvSpPr>
          <p:nvPr/>
        </p:nvSpPr>
        <p:spPr>
          <a:xfrm>
            <a:off x="1905000" y="5857875"/>
            <a:ext cx="8382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00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Με διαφορετικό topology δεν έχει νόημα η απευθείας σύγκριση vertex-to-vertex με το αρχικό mesh.</a:t>
            </a:r>
          </a:p>
        </p:txBody>
      </p:sp>
    </p:spTree>
    <p:extLst>
      <p:ext uri="{BB962C8B-B14F-4D97-AF65-F5344CB8AC3E}">
        <p14:creationId xmlns:p14="http://schemas.microsoft.com/office/powerpoint/2010/main" val="1762018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DB9D84CE-8A57-4419-B4EF-25B9278428E4}"/>
              </a:ext>
            </a:extLst>
          </p:cNvPr>
          <p:cNvSpPr>
            <a:spLocks noGrp="1"/>
          </p:cNvSpPr>
          <p:nvPr/>
        </p:nvSpPr>
        <p:spPr>
          <a:xfrm>
            <a:off x="457200" y="381000"/>
            <a:ext cx="2286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00" b="1" i="0">
                <a:solidFill>
                  <a:srgbClr val="445EA3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445EA3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7A40D5F9-F4C7-4776-9146-2AD1C4EFA5FB}"/>
              </a:ext>
            </a:extLst>
          </p:cNvPr>
          <p:cNvSpPr>
            <a:spLocks noGrp="1"/>
          </p:cNvSpPr>
          <p:nvPr/>
        </p:nvSpPr>
        <p:spPr>
          <a:xfrm>
            <a:off x="714375" y="466725"/>
            <a:ext cx="19050" cy="0"/>
          </a:xfrm>
          <a:prstGeom prst="line">
            <a:avLst/>
          </a:prstGeom>
          <a:noFill/>
          <a:ln w="19050">
            <a:solidFill>
              <a:srgbClr val="445E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757C834-037D-4035-9E3F-6D7725C099DE}"/>
              </a:ext>
            </a:extLst>
          </p:cNvPr>
          <p:cNvSpPr>
            <a:spLocks noGrp="1"/>
          </p:cNvSpPr>
          <p:nvPr/>
        </p:nvSpPr>
        <p:spPr>
          <a:xfrm>
            <a:off x="838200" y="323850"/>
            <a:ext cx="10715625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550" b="0" i="0">
                <a:solidFill>
                  <a:srgbClr val="445EA3"/>
                </a:solidFill>
                <a:latin typeface="Calibri"/>
                <a:ea typeface="Calibri"/>
                <a:cs typeface="Calibri"/>
              </a:defRPr>
            </a:pPr>
            <a:r>
              <a:rPr sz="2550" b="0" i="0">
                <a:solidFill>
                  <a:srgbClr val="445EA3"/>
                </a:solidFill>
                <a:latin typeface="Calibri"/>
                <a:ea typeface="Calibri"/>
                <a:cs typeface="Calibri"/>
              </a:rPr>
              <a:t>Taubin: η ισχυρότερη γενική baseline μετά τις αλλοιώσεις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437B2AFB-51F3-4D0D-8F04-2561883680BE}"/>
              </a:ext>
            </a:extLst>
          </p:cNvPr>
          <p:cNvSpPr>
            <a:spLocks noGrp="1"/>
          </p:cNvSpPr>
          <p:nvPr/>
        </p:nvSpPr>
        <p:spPr>
          <a:xfrm>
            <a:off x="438150" y="6477000"/>
            <a:ext cx="11315700" cy="0"/>
          </a:xfrm>
          <a:prstGeom prst="line">
            <a:avLst/>
          </a:prstGeom>
          <a:noFill/>
          <a:ln w="19050">
            <a:solidFill>
              <a:srgbClr val="445E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38150" y="6534150"/>
            <a:ext cx="247650" cy="24765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07354C1-6518-49C6-AAA0-EFF36733DBFD}"/>
              </a:ext>
            </a:extLst>
          </p:cNvPr>
          <p:cNvSpPr>
            <a:spLocks noGrp="1"/>
          </p:cNvSpPr>
          <p:nvPr/>
        </p:nvSpPr>
        <p:spPr>
          <a:xfrm>
            <a:off x="781050" y="6553200"/>
            <a:ext cx="82867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Mesh Denoising | 3D Υπολογιστική Όραση και Γεωμετρία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C6449B4-95B8-4778-B57D-9BE39869B97C}"/>
              </a:ext>
            </a:extLst>
          </p:cNvPr>
          <p:cNvSpPr>
            <a:spLocks noGrp="1"/>
          </p:cNvSpPr>
          <p:nvPr/>
        </p:nvSpPr>
        <p:spPr>
          <a:xfrm>
            <a:off x="11334750" y="6553200"/>
            <a:ext cx="3619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17</a:t>
            </a:r>
          </a:p>
        </p:txBody>
      </p:sp>
      <p:graphicFrame>
        <p:nvGraphicFramePr>
          <p:cNvPr id="20" name="Table 19"/>
          <p:cNvGraphicFramePr/>
          <p:nvPr/>
        </p:nvGraphicFramePr>
        <p:xfrm>
          <a:off x="476250" y="1190625"/>
          <a:ext cx="5429250" cy="2286000"/>
        </p:xfrm>
        <a:graphic>
          <a:graphicData uri="http://schemas.openxmlformats.org/drawingml/2006/table">
            <a:tbl>
              <a:tblPr/>
              <a:tblGrid>
                <a:gridCol w="1428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r>
                        <a:t>Remeshed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MSAE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Haus.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RMSE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t>Noisy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12.637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.00635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.02038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.01062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t>Taubin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315F2C"/>
                          </a:solidFill>
                          <a:latin typeface="Calibri"/>
                          <a:ea typeface="Calibri"/>
                          <a:cs typeface="Calibri"/>
                        </a:rPr>
                        <a:t>7.094</a:t>
                      </a:r>
                    </a:p>
                  </a:txBody>
                  <a:tcPr anchor="ctr">
                    <a:solidFill>
                      <a:srgbClr val="EEF6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315F2C"/>
                          </a:solidFill>
                          <a:latin typeface="Calibri"/>
                          <a:ea typeface="Calibri"/>
                          <a:cs typeface="Calibri"/>
                        </a:rPr>
                        <a:t>.00398</a:t>
                      </a:r>
                    </a:p>
                  </a:txBody>
                  <a:tcPr anchor="ctr">
                    <a:solidFill>
                      <a:srgbClr val="EEF6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315F2C"/>
                          </a:solidFill>
                          <a:latin typeface="Calibri"/>
                          <a:ea typeface="Calibri"/>
                          <a:cs typeface="Calibri"/>
                        </a:rPr>
                        <a:t>.01457</a:t>
                      </a:r>
                    </a:p>
                  </a:txBody>
                  <a:tcPr anchor="ctr">
                    <a:solidFill>
                      <a:srgbClr val="EEF6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315F2C"/>
                          </a:solidFill>
                          <a:latin typeface="Calibri"/>
                          <a:ea typeface="Calibri"/>
                          <a:cs typeface="Calibri"/>
                        </a:rPr>
                        <a:t>.00804</a:t>
                      </a:r>
                    </a:p>
                  </a:txBody>
                  <a:tcPr anchor="ctr">
                    <a:solidFill>
                      <a:srgbClr val="EEF6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9.893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.00521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.02138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.01035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1" name="Table 20"/>
          <p:cNvGraphicFramePr/>
          <p:nvPr/>
        </p:nvGraphicFramePr>
        <p:xfrm>
          <a:off x="6286500" y="1190625"/>
          <a:ext cx="5429250" cy="2286000"/>
        </p:xfrm>
        <a:graphic>
          <a:graphicData uri="http://schemas.openxmlformats.org/drawingml/2006/table">
            <a:tbl>
              <a:tblPr/>
              <a:tblGrid>
                <a:gridCol w="1428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r>
                        <a:t>Με οπές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MSAE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Haus.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RMSE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t>Noisy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14.192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.00493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.01964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.00832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t>Taubin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315F2C"/>
                          </a:solidFill>
                          <a:latin typeface="Calibri"/>
                          <a:ea typeface="Calibri"/>
                          <a:cs typeface="Calibri"/>
                        </a:rPr>
                        <a:t>6.708</a:t>
                      </a:r>
                    </a:p>
                  </a:txBody>
                  <a:tcPr anchor="ctr">
                    <a:solidFill>
                      <a:srgbClr val="EEF6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315F2C"/>
                          </a:solidFill>
                          <a:latin typeface="Calibri"/>
                          <a:ea typeface="Calibri"/>
                          <a:cs typeface="Calibri"/>
                        </a:rPr>
                        <a:t>.00294</a:t>
                      </a:r>
                    </a:p>
                  </a:txBody>
                  <a:tcPr anchor="ctr">
                    <a:solidFill>
                      <a:srgbClr val="EEF6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315F2C"/>
                          </a:solidFill>
                          <a:latin typeface="Calibri"/>
                          <a:ea typeface="Calibri"/>
                          <a:cs typeface="Calibri"/>
                        </a:rPr>
                        <a:t>.01224</a:t>
                      </a:r>
                    </a:p>
                  </a:txBody>
                  <a:tcPr anchor="ctr">
                    <a:solidFill>
                      <a:srgbClr val="EEF6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.00789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9.286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.00344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.01778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315F2C"/>
                          </a:solidFill>
                          <a:latin typeface="Calibri"/>
                          <a:ea typeface="Calibri"/>
                          <a:cs typeface="Calibri"/>
                        </a:rPr>
                        <a:t>.00771</a:t>
                      </a:r>
                    </a:p>
                  </a:txBody>
                  <a:tcPr anchor="ctr">
                    <a:solidFill>
                      <a:srgbClr val="EEF6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35AB66E3-3586-41A5-BB04-334CE30E9308}"/>
              </a:ext>
            </a:extLst>
          </p:cNvPr>
          <p:cNvSpPr>
            <a:spLocks noGrp="1"/>
          </p:cNvSpPr>
          <p:nvPr/>
        </p:nvSpPr>
        <p:spPr>
          <a:xfrm>
            <a:off x="1619250" y="3571875"/>
            <a:ext cx="89535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 fontScale="89934"/>
          </a:bodyPr>
          <a:lstStyle/>
          <a:p>
            <a:pPr algn="ctr">
              <a:lnSpc>
                <a:spcPct val="105000"/>
              </a:lnSpc>
              <a:buNone/>
              <a:defRPr sz="1425" b="1" i="0">
                <a:solidFill>
                  <a:srgbClr val="304A8C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304A8C"/>
                </a:solidFill>
                <a:latin typeface="Calibri"/>
                <a:ea typeface="Calibri"/>
                <a:cs typeface="Calibri"/>
              </a:rPr>
              <a:t>Η feature-aware μέθοδος παραμένει ανταγωνιστική, αλλά η σταθερή γειτονιά k=20 χάνει τοπικότητα μετά το remeshing.</a:t>
            </a: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2684158" y="4143375"/>
            <a:ext cx="1965934" cy="1809750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7497326" y="4143375"/>
            <a:ext cx="2055099" cy="180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0949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E799A90-7DE0-41E6-AAEA-CF83EE1B7882}"/>
              </a:ext>
            </a:extLst>
          </p:cNvPr>
          <p:cNvSpPr>
            <a:spLocks noGrp="1"/>
          </p:cNvSpPr>
          <p:nvPr/>
        </p:nvSpPr>
        <p:spPr>
          <a:xfrm>
            <a:off x="533400" y="552450"/>
            <a:ext cx="723900" cy="723900"/>
          </a:xfrm>
          <a:prstGeom prst="rect">
            <a:avLst/>
          </a:prstGeom>
          <a:solidFill>
            <a:srgbClr val="E8EEF9"/>
          </a:solidFill>
          <a:ln w="9525">
            <a:solidFill>
              <a:srgbClr val="BFCB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7558DD5-EFF9-4A29-BCA1-8F44BD7ADB52}"/>
              </a:ext>
            </a:extLst>
          </p:cNvPr>
          <p:cNvSpPr>
            <a:spLocks noGrp="1"/>
          </p:cNvSpPr>
          <p:nvPr/>
        </p:nvSpPr>
        <p:spPr>
          <a:xfrm>
            <a:off x="533400" y="552450"/>
            <a:ext cx="7239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2100" b="0" i="0">
                <a:solidFill>
                  <a:srgbClr val="304A8C"/>
                </a:solidFill>
                <a:latin typeface="Calibri"/>
                <a:ea typeface="Calibri"/>
                <a:cs typeface="Calibri"/>
              </a:defRPr>
            </a:pPr>
            <a:r>
              <a:rPr sz="2100" b="0" i="0">
                <a:solidFill>
                  <a:srgbClr val="304A8C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FECA113-54BB-4E32-AA85-B43ACF082264}"/>
              </a:ext>
            </a:extLst>
          </p:cNvPr>
          <p:cNvSpPr>
            <a:spLocks noGrp="1"/>
          </p:cNvSpPr>
          <p:nvPr/>
        </p:nvSpPr>
        <p:spPr>
          <a:xfrm>
            <a:off x="1762125" y="2333625"/>
            <a:ext cx="49530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2400" b="0" i="0">
                <a:solidFill>
                  <a:srgbClr val="445EA3"/>
                </a:solidFill>
                <a:latin typeface="Calibri"/>
                <a:ea typeface="Calibri"/>
                <a:cs typeface="Calibri"/>
              </a:defRPr>
            </a:pPr>
            <a:r>
              <a:rPr sz="2400" b="0" i="0">
                <a:solidFill>
                  <a:srgbClr val="445EA3"/>
                </a:solidFill>
                <a:latin typeface="Calibri"/>
                <a:ea typeface="Calibri"/>
                <a:cs typeface="Calibri"/>
              </a:rPr>
              <a:t>Μάθηση αντίστροφου θορύβου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D07BCF3A-8764-49CE-8AA9-41BA070410D4}"/>
              </a:ext>
            </a:extLst>
          </p:cNvPr>
          <p:cNvSpPr>
            <a:spLocks noGrp="1"/>
          </p:cNvSpPr>
          <p:nvPr/>
        </p:nvSpPr>
        <p:spPr>
          <a:xfrm>
            <a:off x="2667000" y="3095625"/>
            <a:ext cx="3143250" cy="0"/>
          </a:xfrm>
          <a:prstGeom prst="line">
            <a:avLst/>
          </a:prstGeom>
          <a:noFill/>
          <a:ln w="19050">
            <a:solidFill>
              <a:srgbClr val="445E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628009-D116-43BE-90E2-EBD9B7EEE2E3}"/>
              </a:ext>
            </a:extLst>
          </p:cNvPr>
          <p:cNvSpPr>
            <a:spLocks noGrp="1"/>
          </p:cNvSpPr>
          <p:nvPr/>
        </p:nvSpPr>
        <p:spPr>
          <a:xfrm>
            <a:off x="2762250" y="3333750"/>
            <a:ext cx="3048000" cy="15240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marL="279400" indent="-139700" algn="l">
              <a:lnSpc>
                <a:spcPct val="108000"/>
              </a:lnSpc>
              <a:spcAft>
                <a:spcPts val="700"/>
              </a:spcAft>
              <a:buNone/>
              <a:defRPr sz="1425" b="0" i="0">
                <a:solidFill>
                  <a:srgbClr val="304A8C"/>
                </a:solidFill>
                <a:latin typeface="Calibri"/>
                <a:ea typeface="Calibri"/>
                <a:cs typeface="Calibri"/>
              </a:defRPr>
            </a:pPr>
            <a:r>
              <a:rPr sz="1425">
                <a:solidFill>
                  <a:srgbClr val="304A8C"/>
                </a:solidFill>
                <a:latin typeface="Calibri"/>
                <a:ea typeface="Calibri"/>
                <a:cs typeface="Calibri"/>
              </a:rPr>
              <a:t>Local point patches</a:t>
            </a:r>
          </a:p>
          <a:p>
            <a:pPr marL="279400" indent="-139700" algn="l">
              <a:lnSpc>
                <a:spcPct val="108000"/>
              </a:lnSpc>
              <a:spcAft>
                <a:spcPts val="700"/>
              </a:spcAft>
              <a:buNone/>
              <a:defRPr sz="1425" b="0" i="0">
                <a:solidFill>
                  <a:srgbClr val="304A8C"/>
                </a:solidFill>
                <a:latin typeface="Calibri"/>
                <a:ea typeface="Calibri"/>
                <a:cs typeface="Calibri"/>
              </a:defRPr>
            </a:pPr>
            <a:r>
              <a:rPr sz="1425">
                <a:solidFill>
                  <a:srgbClr val="304A8C"/>
                </a:solidFill>
                <a:latin typeface="Calibri"/>
                <a:ea typeface="Calibri"/>
                <a:cs typeface="Calibri"/>
              </a:rPr>
              <a:t>Quaternion Input T-Net</a:t>
            </a:r>
          </a:p>
          <a:p>
            <a:pPr marL="279400" indent="-139700" algn="l">
              <a:lnSpc>
                <a:spcPct val="108000"/>
              </a:lnSpc>
              <a:spcAft>
                <a:spcPts val="700"/>
              </a:spcAft>
              <a:buNone/>
              <a:defRPr sz="1425" b="0" i="0">
                <a:solidFill>
                  <a:srgbClr val="304A8C"/>
                </a:solidFill>
                <a:latin typeface="Calibri"/>
                <a:ea typeface="Calibri"/>
                <a:cs typeface="Calibri"/>
              </a:defRPr>
            </a:pPr>
            <a:r>
              <a:rPr sz="1425">
                <a:solidFill>
                  <a:srgbClr val="304A8C"/>
                </a:solidFill>
                <a:latin typeface="Calibri"/>
                <a:ea typeface="Calibri"/>
                <a:cs typeface="Calibri"/>
              </a:rPr>
              <a:t>PointNet displacement regression</a:t>
            </a:r>
          </a:p>
        </p:txBody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248299D7-4A84-49D3-941C-8DFD9A8EC879}"/>
              </a:ext>
            </a:extLst>
          </p:cNvPr>
          <p:cNvSpPr>
            <a:spLocks noGrp="1"/>
          </p:cNvSpPr>
          <p:nvPr/>
        </p:nvSpPr>
        <p:spPr>
          <a:xfrm>
            <a:off x="7239000" y="809625"/>
            <a:ext cx="0" cy="0"/>
          </a:xfrm>
          <a:prstGeom prst="line">
            <a:avLst/>
          </a:prstGeom>
          <a:noFill/>
          <a:ln w="9525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858125" y="2382463"/>
            <a:ext cx="3143250" cy="1616824"/>
          </a:xfrm>
          <a:prstGeom prst="roundRect">
            <a:avLst>
              <a:gd name="adj" fmla="val 3636"/>
            </a:avLst>
          </a:prstGeom>
        </p:spPr>
      </p:pic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AC9FF7CB-ADCF-4309-A0C6-5030276E2E6F}"/>
              </a:ext>
            </a:extLst>
          </p:cNvPr>
          <p:cNvSpPr>
            <a:spLocks noGrp="1"/>
          </p:cNvSpPr>
          <p:nvPr/>
        </p:nvSpPr>
        <p:spPr>
          <a:xfrm>
            <a:off x="438150" y="6477000"/>
            <a:ext cx="11315700" cy="0"/>
          </a:xfrm>
          <a:prstGeom prst="line">
            <a:avLst/>
          </a:prstGeom>
          <a:noFill/>
          <a:ln w="19050">
            <a:solidFill>
              <a:srgbClr val="445E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38150" y="6534150"/>
            <a:ext cx="247650" cy="24765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B7389FB-6E7B-4733-9A6A-C6FBB5FBAB72}"/>
              </a:ext>
            </a:extLst>
          </p:cNvPr>
          <p:cNvSpPr>
            <a:spLocks noGrp="1"/>
          </p:cNvSpPr>
          <p:nvPr/>
        </p:nvSpPr>
        <p:spPr>
          <a:xfrm>
            <a:off x="781050" y="6553200"/>
            <a:ext cx="82867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Mesh Denoising | 3D Υπολογιστική Όραση και Γεωμετρία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311B22F-98B8-41C7-ABCB-4EE6F2452278}"/>
              </a:ext>
            </a:extLst>
          </p:cNvPr>
          <p:cNvSpPr>
            <a:spLocks noGrp="1"/>
          </p:cNvSpPr>
          <p:nvPr/>
        </p:nvSpPr>
        <p:spPr>
          <a:xfrm>
            <a:off x="11334750" y="6553200"/>
            <a:ext cx="3619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8825399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9B14075-955A-4F19-97EE-DF64710359F8}"/>
              </a:ext>
            </a:extLst>
          </p:cNvPr>
          <p:cNvSpPr>
            <a:spLocks noGrp="1"/>
          </p:cNvSpPr>
          <p:nvPr/>
        </p:nvSpPr>
        <p:spPr>
          <a:xfrm>
            <a:off x="457200" y="381000"/>
            <a:ext cx="2286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00" b="1" i="0">
                <a:solidFill>
                  <a:srgbClr val="445EA3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445EA3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77340D46-0CE0-405D-9786-8602C18AF51E}"/>
              </a:ext>
            </a:extLst>
          </p:cNvPr>
          <p:cNvSpPr>
            <a:spLocks noGrp="1"/>
          </p:cNvSpPr>
          <p:nvPr/>
        </p:nvSpPr>
        <p:spPr>
          <a:xfrm>
            <a:off x="714375" y="466725"/>
            <a:ext cx="19050" cy="0"/>
          </a:xfrm>
          <a:prstGeom prst="line">
            <a:avLst/>
          </a:prstGeom>
          <a:noFill/>
          <a:ln w="19050">
            <a:solidFill>
              <a:srgbClr val="445E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360BEA4-2821-4310-9351-6DF8E6B07BCA}"/>
              </a:ext>
            </a:extLst>
          </p:cNvPr>
          <p:cNvSpPr>
            <a:spLocks noGrp="1"/>
          </p:cNvSpPr>
          <p:nvPr/>
        </p:nvSpPr>
        <p:spPr>
          <a:xfrm>
            <a:off x="838200" y="323850"/>
            <a:ext cx="10715625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550" b="0" i="0">
                <a:solidFill>
                  <a:srgbClr val="445EA3"/>
                </a:solidFill>
                <a:latin typeface="Calibri"/>
                <a:ea typeface="Calibri"/>
                <a:cs typeface="Calibri"/>
              </a:defRPr>
            </a:pPr>
            <a:r>
              <a:rPr sz="2550" b="0" i="0">
                <a:solidFill>
                  <a:srgbClr val="445EA3"/>
                </a:solidFill>
                <a:latin typeface="Calibri"/>
                <a:ea typeface="Calibri"/>
                <a:cs typeface="Calibri"/>
              </a:rPr>
              <a:t>Quaternion PointNet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F2B06F49-3DCF-4699-B806-2F7B77A4139B}"/>
              </a:ext>
            </a:extLst>
          </p:cNvPr>
          <p:cNvSpPr>
            <a:spLocks noGrp="1"/>
          </p:cNvSpPr>
          <p:nvPr/>
        </p:nvSpPr>
        <p:spPr>
          <a:xfrm>
            <a:off x="438150" y="6477000"/>
            <a:ext cx="11315700" cy="0"/>
          </a:xfrm>
          <a:prstGeom prst="line">
            <a:avLst/>
          </a:prstGeom>
          <a:noFill/>
          <a:ln w="19050">
            <a:solidFill>
              <a:srgbClr val="445E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38150" y="6534150"/>
            <a:ext cx="247650" cy="24765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ED2B904-A84A-41AC-881B-82CB44E66F52}"/>
              </a:ext>
            </a:extLst>
          </p:cNvPr>
          <p:cNvSpPr>
            <a:spLocks noGrp="1"/>
          </p:cNvSpPr>
          <p:nvPr/>
        </p:nvSpPr>
        <p:spPr>
          <a:xfrm>
            <a:off x="781050" y="6553200"/>
            <a:ext cx="82867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Mesh Denoising | 3D Υπολογιστική Όραση και Γεωμετρία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E35441C-0C96-4E9B-8752-9C68EEFA9803}"/>
              </a:ext>
            </a:extLst>
          </p:cNvPr>
          <p:cNvSpPr>
            <a:spLocks noGrp="1"/>
          </p:cNvSpPr>
          <p:nvPr/>
        </p:nvSpPr>
        <p:spPr>
          <a:xfrm>
            <a:off x="11334750" y="6553200"/>
            <a:ext cx="3619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19</a:t>
            </a: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883280" y="1095375"/>
            <a:ext cx="8425441" cy="4333875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B974C3D-8407-4146-975C-A376519D0BA9}"/>
              </a:ext>
            </a:extLst>
          </p:cNvPr>
          <p:cNvSpPr>
            <a:spLocks noGrp="1"/>
          </p:cNvSpPr>
          <p:nvPr/>
        </p:nvSpPr>
        <p:spPr>
          <a:xfrm>
            <a:off x="876300" y="5572125"/>
            <a:ext cx="2000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350" b="1" i="0">
                <a:solidFill>
                  <a:srgbClr val="304A8C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304A8C"/>
                </a:solidFill>
                <a:latin typeface="Calibri"/>
                <a:ea typeface="Calibri"/>
                <a:cs typeface="Calibri"/>
              </a:rPr>
              <a:t>N×3 patch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3397D99-FDDE-4AF2-818F-61F2CCB8CF84}"/>
              </a:ext>
            </a:extLst>
          </p:cNvPr>
          <p:cNvSpPr>
            <a:spLocks noGrp="1"/>
          </p:cNvSpPr>
          <p:nvPr/>
        </p:nvSpPr>
        <p:spPr>
          <a:xfrm>
            <a:off x="4191000" y="5572125"/>
            <a:ext cx="2952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350" b="1" i="0">
                <a:solidFill>
                  <a:srgbClr val="6D5BD0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6D5BD0"/>
                </a:solidFill>
                <a:latin typeface="Calibri"/>
                <a:ea typeface="Calibri"/>
                <a:cs typeface="Calibri"/>
              </a:rPr>
              <a:t>shared MLP και max pooling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395919F-AECD-43CA-A948-585F881765F2}"/>
              </a:ext>
            </a:extLst>
          </p:cNvPr>
          <p:cNvSpPr>
            <a:spLocks noGrp="1"/>
          </p:cNvSpPr>
          <p:nvPr/>
        </p:nvSpPr>
        <p:spPr>
          <a:xfrm>
            <a:off x="8096250" y="5572125"/>
            <a:ext cx="3143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350" b="1" i="0">
                <a:solidFill>
                  <a:srgbClr val="357E80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357E80"/>
                </a:solidFill>
                <a:latin typeface="Calibri"/>
                <a:ea typeface="Calibri"/>
                <a:cs typeface="Calibri"/>
              </a:rPr>
              <a:t>ένα displacement για το κεντρικό σημείο</a:t>
            </a:r>
          </a:p>
        </p:txBody>
      </p:sp>
    </p:spTree>
    <p:extLst>
      <p:ext uri="{BB962C8B-B14F-4D97-AF65-F5344CB8AC3E}">
        <p14:creationId xmlns:p14="http://schemas.microsoft.com/office/powerpoint/2010/main" val="18473173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E0B23BDC-076D-4D0F-8CBA-7C0F93B373C7}"/>
              </a:ext>
            </a:extLst>
          </p:cNvPr>
          <p:cNvSpPr>
            <a:spLocks noGrp="1"/>
          </p:cNvSpPr>
          <p:nvPr/>
        </p:nvSpPr>
        <p:spPr>
          <a:xfrm>
            <a:off x="457200" y="381000"/>
            <a:ext cx="2286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00" b="1" i="0">
                <a:solidFill>
                  <a:srgbClr val="445EA3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445EA3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68422D22-6922-4DB2-AA95-8661C844CDE2}"/>
              </a:ext>
            </a:extLst>
          </p:cNvPr>
          <p:cNvSpPr>
            <a:spLocks noGrp="1"/>
          </p:cNvSpPr>
          <p:nvPr/>
        </p:nvSpPr>
        <p:spPr>
          <a:xfrm>
            <a:off x="714375" y="466725"/>
            <a:ext cx="19050" cy="0"/>
          </a:xfrm>
          <a:prstGeom prst="line">
            <a:avLst/>
          </a:prstGeom>
          <a:noFill/>
          <a:ln w="19050">
            <a:solidFill>
              <a:srgbClr val="445E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4D1968C-61C4-496E-A0AB-12E821C45046}"/>
              </a:ext>
            </a:extLst>
          </p:cNvPr>
          <p:cNvSpPr>
            <a:spLocks noGrp="1"/>
          </p:cNvSpPr>
          <p:nvPr/>
        </p:nvSpPr>
        <p:spPr>
          <a:xfrm>
            <a:off x="838200" y="323850"/>
            <a:ext cx="10715625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550" b="0" i="0">
                <a:solidFill>
                  <a:srgbClr val="445EA3"/>
                </a:solidFill>
                <a:latin typeface="Calibri"/>
                <a:ea typeface="Calibri"/>
                <a:cs typeface="Calibri"/>
              </a:defRPr>
            </a:pPr>
            <a:r>
              <a:rPr sz="2550" b="0" i="0">
                <a:solidFill>
                  <a:srgbClr val="445EA3"/>
                </a:solidFill>
                <a:latin typeface="Calibri"/>
                <a:ea typeface="Calibri"/>
                <a:cs typeface="Calibri"/>
              </a:rPr>
              <a:t>Κανονικοποίηση patch και quaternion transform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34E570E0-11B1-4AEF-95D7-4E4B7FEE7BD5}"/>
              </a:ext>
            </a:extLst>
          </p:cNvPr>
          <p:cNvSpPr>
            <a:spLocks noGrp="1"/>
          </p:cNvSpPr>
          <p:nvPr/>
        </p:nvSpPr>
        <p:spPr>
          <a:xfrm>
            <a:off x="438150" y="6477000"/>
            <a:ext cx="11315700" cy="0"/>
          </a:xfrm>
          <a:prstGeom prst="line">
            <a:avLst/>
          </a:prstGeom>
          <a:noFill/>
          <a:ln w="19050">
            <a:solidFill>
              <a:srgbClr val="445E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38150" y="6534150"/>
            <a:ext cx="247650" cy="24765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F20D449-E06D-43D7-B814-DFCE4F052B11}"/>
              </a:ext>
            </a:extLst>
          </p:cNvPr>
          <p:cNvSpPr>
            <a:spLocks noGrp="1"/>
          </p:cNvSpPr>
          <p:nvPr/>
        </p:nvSpPr>
        <p:spPr>
          <a:xfrm>
            <a:off x="781050" y="6553200"/>
            <a:ext cx="82867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Mesh Denoising | 3D Υπολογιστική Όραση και Γεωμετρία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88FF67-FF93-4091-8771-E23D172E4F99}"/>
              </a:ext>
            </a:extLst>
          </p:cNvPr>
          <p:cNvSpPr>
            <a:spLocks noGrp="1"/>
          </p:cNvSpPr>
          <p:nvPr/>
        </p:nvSpPr>
        <p:spPr>
          <a:xfrm>
            <a:off x="11334750" y="6553200"/>
            <a:ext cx="3619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20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2D35E23-A014-447B-9E65-F82747A6986B}"/>
              </a:ext>
            </a:extLst>
          </p:cNvPr>
          <p:cNvSpPr>
            <a:spLocks noGrp="1"/>
          </p:cNvSpPr>
          <p:nvPr/>
        </p:nvSpPr>
        <p:spPr>
          <a:xfrm>
            <a:off x="619125" y="1000125"/>
            <a:ext cx="2286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1" i="0">
                <a:solidFill>
                  <a:srgbClr val="304A8C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304A8C"/>
                </a:solidFill>
                <a:latin typeface="Calibri"/>
                <a:ea typeface="Calibri"/>
                <a:cs typeface="Calibri"/>
              </a:rPr>
              <a:t>Local patch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DF966430-0FF8-494E-9A93-92C5926DE9AB}"/>
              </a:ext>
            </a:extLst>
          </p:cNvPr>
          <p:cNvSpPr>
            <a:spLocks noGrp="1"/>
          </p:cNvSpPr>
          <p:nvPr/>
        </p:nvSpPr>
        <p:spPr>
          <a:xfrm>
            <a:off x="619125" y="1295400"/>
            <a:ext cx="2286000" cy="0"/>
          </a:xfrm>
          <a:prstGeom prst="line">
            <a:avLst/>
          </a:prstGeom>
          <a:noFill/>
          <a:ln w="14288">
            <a:solidFill>
              <a:srgbClr val="304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3000375" y="1125713"/>
            <a:ext cx="4953000" cy="36795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0689603-788E-4C53-94FC-C4C862712A51}"/>
              </a:ext>
            </a:extLst>
          </p:cNvPr>
          <p:cNvSpPr>
            <a:spLocks noGrp="1"/>
          </p:cNvSpPr>
          <p:nvPr/>
        </p:nvSpPr>
        <p:spPr>
          <a:xfrm>
            <a:off x="8334375" y="1000125"/>
            <a:ext cx="30480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 fontScale="97002"/>
          </a:bodyPr>
          <a:lstStyle/>
          <a:p>
            <a:pPr algn="l">
              <a:lnSpc>
                <a:spcPct val="105000"/>
              </a:lnSpc>
              <a:buNone/>
              <a:defRPr sz="1350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Το κεντράρισμα αφαιρεί την απόλυτη θέση. Η ακτίνα r προσαρμόζει την κλίμακα του patch.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A8FBA5B-F4F5-48DA-8B14-DC9319AE8028}"/>
              </a:ext>
            </a:extLst>
          </p:cNvPr>
          <p:cNvSpPr>
            <a:spLocks noGrp="1"/>
          </p:cNvSpPr>
          <p:nvPr/>
        </p:nvSpPr>
        <p:spPr>
          <a:xfrm>
            <a:off x="619125" y="2238375"/>
            <a:ext cx="2286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1" i="0">
                <a:solidFill>
                  <a:srgbClr val="6D5BD0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6D5BD0"/>
                </a:solidFill>
                <a:latin typeface="Calibri"/>
                <a:ea typeface="Calibri"/>
                <a:cs typeface="Calibri"/>
              </a:rPr>
              <a:t>Rotation</a:t>
            </a:r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CF1C7663-5FF5-4222-AA64-D5D37A15E499}"/>
              </a:ext>
            </a:extLst>
          </p:cNvPr>
          <p:cNvSpPr>
            <a:spLocks noGrp="1"/>
          </p:cNvSpPr>
          <p:nvPr/>
        </p:nvSpPr>
        <p:spPr>
          <a:xfrm>
            <a:off x="619125" y="2533650"/>
            <a:ext cx="2286000" cy="0"/>
          </a:xfrm>
          <a:prstGeom prst="line">
            <a:avLst/>
          </a:prstGeom>
          <a:noFill/>
          <a:ln w="14288">
            <a:solidFill>
              <a:srgbClr val="6D5B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3000375" y="2300406"/>
            <a:ext cx="6286500" cy="447438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9525000" y="2103596"/>
            <a:ext cx="1809750" cy="1031558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000B8D1A-928C-437C-8072-D58EFF4C5B7B}"/>
              </a:ext>
            </a:extLst>
          </p:cNvPr>
          <p:cNvSpPr>
            <a:spLocks noGrp="1"/>
          </p:cNvSpPr>
          <p:nvPr/>
        </p:nvSpPr>
        <p:spPr>
          <a:xfrm>
            <a:off x="619125" y="3524250"/>
            <a:ext cx="2286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1" i="0">
                <a:solidFill>
                  <a:srgbClr val="357E80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357E80"/>
                </a:solidFill>
                <a:latin typeface="Calibri"/>
                <a:ea typeface="Calibri"/>
                <a:cs typeface="Calibri"/>
              </a:rPr>
              <a:t>Target</a:t>
            </a:r>
          </a:p>
        </p:txBody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F1AA5E61-FB18-44D9-9BE5-FD26EF863D5C}"/>
              </a:ext>
            </a:extLst>
          </p:cNvPr>
          <p:cNvSpPr>
            <a:spLocks noGrp="1"/>
          </p:cNvSpPr>
          <p:nvPr/>
        </p:nvSpPr>
        <p:spPr>
          <a:xfrm>
            <a:off x="619125" y="3819525"/>
            <a:ext cx="2286000" cy="0"/>
          </a:xfrm>
          <a:prstGeom prst="line">
            <a:avLst/>
          </a:prstGeom>
          <a:noFill/>
          <a:ln w="14288">
            <a:solidFill>
              <a:srgbClr val="357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7" name="Picture 36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3000375" y="3589671"/>
            <a:ext cx="6191250" cy="440658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4FD2CE29-B5C5-419D-AE8B-FF1E7873D07F}"/>
              </a:ext>
            </a:extLst>
          </p:cNvPr>
          <p:cNvSpPr>
            <a:spLocks noGrp="1"/>
          </p:cNvSpPr>
          <p:nvPr/>
        </p:nvSpPr>
        <p:spPr>
          <a:xfrm>
            <a:off x="3143250" y="4762500"/>
            <a:ext cx="6191250" cy="12382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marL="279400" indent="-139700" algn="l">
              <a:lnSpc>
                <a:spcPct val="108000"/>
              </a:lnSpc>
              <a:spcAft>
                <a:spcPts val="700"/>
              </a:spcAft>
              <a:buNone/>
              <a:defRPr sz="1425" b="0" i="0">
                <a:solidFill>
                  <a:srgbClr val="1E1E1E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Input: </a:t>
            </a:r>
            <a:r>
              <a:rPr sz="1425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μόνο xyz συντεταγμένες των 64 σημείων.</a:t>
            </a:r>
          </a:p>
          <a:p>
            <a:pPr marL="279400" indent="-139700" algn="l">
              <a:lnSpc>
                <a:spcPct val="108000"/>
              </a:lnSpc>
              <a:spcAft>
                <a:spcPts val="700"/>
              </a:spcAft>
              <a:buNone/>
              <a:defRPr sz="1425" b="0" i="0">
                <a:solidFill>
                  <a:srgbClr val="1E1E1E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Supervision: </a:t>
            </a:r>
            <a:r>
              <a:rPr sz="1425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γνωστή αντιστοίχιση clean και noisy vertex.</a:t>
            </a:r>
          </a:p>
          <a:p>
            <a:pPr marL="279400" indent="-139700" algn="l">
              <a:lnSpc>
                <a:spcPct val="108000"/>
              </a:lnSpc>
              <a:spcAft>
                <a:spcPts val="700"/>
              </a:spcAft>
              <a:buNone/>
              <a:defRPr sz="1425" b="0" i="0">
                <a:solidFill>
                  <a:srgbClr val="1E1E1E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Output: </a:t>
            </a:r>
            <a:r>
              <a:rPr sz="1425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διορθωτική μετατόπιση στο αρχικό orientation και scale.</a:t>
            </a:r>
          </a:p>
        </p:txBody>
      </p:sp>
    </p:spTree>
    <p:extLst>
      <p:ext uri="{BB962C8B-B14F-4D97-AF65-F5344CB8AC3E}">
        <p14:creationId xmlns:p14="http://schemas.microsoft.com/office/powerpoint/2010/main" val="19837463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D9CF751D-F9EF-4BBC-BFBA-8ED4A6283733}"/>
              </a:ext>
            </a:extLst>
          </p:cNvPr>
          <p:cNvSpPr>
            <a:spLocks noGrp="1"/>
          </p:cNvSpPr>
          <p:nvPr/>
        </p:nvSpPr>
        <p:spPr>
          <a:xfrm>
            <a:off x="457200" y="381000"/>
            <a:ext cx="2286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00" b="1" i="0">
                <a:solidFill>
                  <a:srgbClr val="445EA3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445EA3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D04A7058-B631-4D5B-8EB2-7C5458C36A2E}"/>
              </a:ext>
            </a:extLst>
          </p:cNvPr>
          <p:cNvSpPr>
            <a:spLocks noGrp="1"/>
          </p:cNvSpPr>
          <p:nvPr/>
        </p:nvSpPr>
        <p:spPr>
          <a:xfrm>
            <a:off x="714375" y="466725"/>
            <a:ext cx="19050" cy="0"/>
          </a:xfrm>
          <a:prstGeom prst="line">
            <a:avLst/>
          </a:prstGeom>
          <a:noFill/>
          <a:ln w="19050">
            <a:solidFill>
              <a:srgbClr val="445E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6A6146B-0C35-4B4C-962D-6F85CA14C9AC}"/>
              </a:ext>
            </a:extLst>
          </p:cNvPr>
          <p:cNvSpPr>
            <a:spLocks noGrp="1"/>
          </p:cNvSpPr>
          <p:nvPr/>
        </p:nvSpPr>
        <p:spPr>
          <a:xfrm>
            <a:off x="838200" y="323850"/>
            <a:ext cx="10715625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550" b="0" i="0">
                <a:solidFill>
                  <a:srgbClr val="445EA3"/>
                </a:solidFill>
                <a:latin typeface="Calibri"/>
                <a:ea typeface="Calibri"/>
                <a:cs typeface="Calibri"/>
              </a:defRPr>
            </a:pPr>
            <a:r>
              <a:rPr sz="2550" b="0" i="0">
                <a:solidFill>
                  <a:srgbClr val="445EA3"/>
                </a:solidFill>
                <a:latin typeface="Calibri"/>
                <a:ea typeface="Calibri"/>
                <a:cs typeface="Calibri"/>
              </a:rPr>
              <a:t>Training και inference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F9E404BF-7C6C-428F-8EBB-CDD3E6F8D0F2}"/>
              </a:ext>
            </a:extLst>
          </p:cNvPr>
          <p:cNvSpPr>
            <a:spLocks noGrp="1"/>
          </p:cNvSpPr>
          <p:nvPr/>
        </p:nvSpPr>
        <p:spPr>
          <a:xfrm>
            <a:off x="438150" y="6477000"/>
            <a:ext cx="11315700" cy="0"/>
          </a:xfrm>
          <a:prstGeom prst="line">
            <a:avLst/>
          </a:prstGeom>
          <a:noFill/>
          <a:ln w="19050">
            <a:solidFill>
              <a:srgbClr val="445E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38150" y="6534150"/>
            <a:ext cx="247650" cy="24765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0023AB1-25A5-4D85-9A9A-119EF383487B}"/>
              </a:ext>
            </a:extLst>
          </p:cNvPr>
          <p:cNvSpPr>
            <a:spLocks noGrp="1"/>
          </p:cNvSpPr>
          <p:nvPr/>
        </p:nvSpPr>
        <p:spPr>
          <a:xfrm>
            <a:off x="781050" y="6553200"/>
            <a:ext cx="82867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Mesh Denoising | 3D Υπολογιστική Όραση και Γεωμετρία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0B04D2F-57D3-4A9A-BAAB-178C9E1259BB}"/>
              </a:ext>
            </a:extLst>
          </p:cNvPr>
          <p:cNvSpPr>
            <a:spLocks noGrp="1"/>
          </p:cNvSpPr>
          <p:nvPr/>
        </p:nvSpPr>
        <p:spPr>
          <a:xfrm>
            <a:off x="11334750" y="6553200"/>
            <a:ext cx="3619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21</a:t>
            </a: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809625" y="1095375"/>
            <a:ext cx="5334000" cy="4000500"/>
          </a:xfrm>
          <a:prstGeom prst="rect">
            <a:avLst/>
          </a:prstGeom>
        </p:spPr>
      </p:pic>
      <p:graphicFrame>
        <p:nvGraphicFramePr>
          <p:cNvPr id="20" name="Table 19"/>
          <p:cNvGraphicFramePr/>
          <p:nvPr/>
        </p:nvGraphicFramePr>
        <p:xfrm>
          <a:off x="6858000" y="1143000"/>
          <a:ext cx="4714875" cy="4057172"/>
        </p:xfrm>
        <a:graphic>
          <a:graphicData uri="http://schemas.openxmlformats.org/drawingml/2006/table">
            <a:tbl>
              <a:tblPr/>
              <a:tblGrid>
                <a:gridCol w="2571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3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8156">
                <a:tc>
                  <a:txBody>
                    <a:bodyPr/>
                    <a:lstStyle/>
                    <a:p>
                      <a:r>
                        <a:t>Ρύθμιση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Τιμή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8156">
                <a:tc>
                  <a:txBody>
                    <a:bodyPr/>
                    <a:lstStyle/>
                    <a:p>
                      <a:r>
                        <a:t>Patch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8156">
                <a:tc>
                  <a:txBody>
                    <a:bodyPr/>
                    <a:lstStyle/>
                    <a:p>
                      <a:r>
                        <a:t>Training samples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99,840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8156">
                <a:tc>
                  <a:txBody>
                    <a:bodyPr/>
                    <a:lstStyle/>
                    <a:p>
                      <a:r>
                        <a:t>Validation samples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53,248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8156">
                <a:tc>
                  <a:txBody>
                    <a:bodyPr/>
                    <a:lstStyle/>
                    <a:p>
                      <a:r>
                        <a:t>Batch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8156">
                <a:tc>
                  <a:txBody>
                    <a:bodyPr/>
                    <a:lstStyle/>
                    <a:p>
                      <a:r>
                        <a:t>Best epoch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8156">
                <a:tc>
                  <a:txBody>
                    <a:bodyPr/>
                    <a:lstStyle/>
                    <a:p>
                      <a:r>
                        <a:t>Best validation 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15F2C"/>
                          </a:solidFill>
                          <a:latin typeface="Calibri"/>
                          <a:ea typeface="Calibri"/>
                          <a:cs typeface="Calibri"/>
                        </a:rPr>
                        <a:t>0.003034</a:t>
                      </a:r>
                    </a:p>
                  </a:txBody>
                  <a:tcPr anchor="ctr">
                    <a:solidFill>
                      <a:srgbClr val="EEF6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8156">
                <a:tc>
                  <a:txBody>
                    <a:bodyPr/>
                    <a:lstStyle/>
                    <a:p>
                      <a:r>
                        <a:t>Termination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epoch 41, early stopping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FFFE6829-B295-4D13-B1AB-88B1F809237C}"/>
              </a:ext>
            </a:extLst>
          </p:cNvPr>
          <p:cNvSpPr>
            <a:spLocks noGrp="1"/>
          </p:cNvSpPr>
          <p:nvPr/>
        </p:nvSpPr>
        <p:spPr>
          <a:xfrm>
            <a:off x="904875" y="5381625"/>
            <a:ext cx="10382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75" b="0" i="0">
                <a:solidFill>
                  <a:srgbClr val="304A8C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304A8C"/>
                </a:solidFill>
                <a:latin typeface="Calibri"/>
                <a:ea typeface="Calibri"/>
                <a:cs typeface="Calibri"/>
              </a:rPr>
              <a:t>Training: Bunny, Teapot, Suzanne, Dolphin, Hand   |   Validation: Dragon, Unicorn   |   Unseen: Armadillo, Flashlight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E526334-DCE6-439F-B3B6-9BC3CF6D3C0B}"/>
              </a:ext>
            </a:extLst>
          </p:cNvPr>
          <p:cNvSpPr>
            <a:spLocks noGrp="1"/>
          </p:cNvSpPr>
          <p:nvPr/>
        </p:nvSpPr>
        <p:spPr>
          <a:xfrm>
            <a:off x="1666875" y="5857875"/>
            <a:ext cx="8858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00" b="0" i="1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Το reported MSE αφορά normalized displacement vectors και δεν ισοδυναμεί με surface distance του τελικού mesh.</a:t>
            </a:r>
          </a:p>
        </p:txBody>
      </p:sp>
    </p:spTree>
    <p:extLst>
      <p:ext uri="{BB962C8B-B14F-4D97-AF65-F5344CB8AC3E}">
        <p14:creationId xmlns:p14="http://schemas.microsoft.com/office/powerpoint/2010/main" val="11562953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DBD1150-2E28-4A94-A911-D0B66D4C5FA4}"/>
              </a:ext>
            </a:extLst>
          </p:cNvPr>
          <p:cNvSpPr>
            <a:spLocks noGrp="1"/>
          </p:cNvSpPr>
          <p:nvPr/>
        </p:nvSpPr>
        <p:spPr>
          <a:xfrm>
            <a:off x="533400" y="552450"/>
            <a:ext cx="723900" cy="723900"/>
          </a:xfrm>
          <a:prstGeom prst="rect">
            <a:avLst/>
          </a:prstGeom>
          <a:solidFill>
            <a:srgbClr val="E8EEF9"/>
          </a:solidFill>
          <a:ln w="9525">
            <a:solidFill>
              <a:srgbClr val="BFCB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304C8A7-22F1-45EC-9F11-D22053F945EB}"/>
              </a:ext>
            </a:extLst>
          </p:cNvPr>
          <p:cNvSpPr>
            <a:spLocks noGrp="1"/>
          </p:cNvSpPr>
          <p:nvPr/>
        </p:nvSpPr>
        <p:spPr>
          <a:xfrm>
            <a:off x="533400" y="552450"/>
            <a:ext cx="7239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2100" b="0" i="0">
                <a:solidFill>
                  <a:srgbClr val="304A8C"/>
                </a:solidFill>
                <a:latin typeface="Calibri"/>
                <a:ea typeface="Calibri"/>
                <a:cs typeface="Calibri"/>
              </a:defRPr>
            </a:pPr>
            <a:r>
              <a:rPr sz="2100" b="0" i="0">
                <a:solidFill>
                  <a:srgbClr val="304A8C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24A08B8-1A45-4741-B98B-C5F841387EF0}"/>
              </a:ext>
            </a:extLst>
          </p:cNvPr>
          <p:cNvSpPr>
            <a:spLocks noGrp="1"/>
          </p:cNvSpPr>
          <p:nvPr/>
        </p:nvSpPr>
        <p:spPr>
          <a:xfrm>
            <a:off x="1762125" y="2333625"/>
            <a:ext cx="49530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 fontScale="90670" lnSpcReduction="20000"/>
          </a:bodyPr>
          <a:lstStyle/>
          <a:p>
            <a:pPr algn="ctr">
              <a:lnSpc>
                <a:spcPct val="105000"/>
              </a:lnSpc>
              <a:buNone/>
              <a:defRPr sz="2400" b="0" i="0">
                <a:solidFill>
                  <a:srgbClr val="445EA3"/>
                </a:solidFill>
                <a:latin typeface="Calibri"/>
                <a:ea typeface="Calibri"/>
                <a:cs typeface="Calibri"/>
              </a:defRPr>
            </a:pPr>
            <a:r>
              <a:rPr sz="2400" b="0" i="0">
                <a:solidFill>
                  <a:srgbClr val="445EA3"/>
                </a:solidFill>
                <a:latin typeface="Calibri"/>
                <a:ea typeface="Calibri"/>
                <a:cs typeface="Calibri"/>
              </a:rPr>
              <a:t>Δυναμικά meshes και άγνωστη correspondence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6E0D03B4-BB91-4F68-8178-25AE29557A08}"/>
              </a:ext>
            </a:extLst>
          </p:cNvPr>
          <p:cNvSpPr>
            <a:spLocks noGrp="1"/>
          </p:cNvSpPr>
          <p:nvPr/>
        </p:nvSpPr>
        <p:spPr>
          <a:xfrm>
            <a:off x="2667000" y="3095625"/>
            <a:ext cx="3143250" cy="0"/>
          </a:xfrm>
          <a:prstGeom prst="line">
            <a:avLst/>
          </a:prstGeom>
          <a:noFill/>
          <a:ln w="19050">
            <a:solidFill>
              <a:srgbClr val="445E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9D1E065-751F-4CFB-A060-3DCE4CF2C58F}"/>
              </a:ext>
            </a:extLst>
          </p:cNvPr>
          <p:cNvSpPr>
            <a:spLocks noGrp="1"/>
          </p:cNvSpPr>
          <p:nvPr/>
        </p:nvSpPr>
        <p:spPr>
          <a:xfrm>
            <a:off x="2762250" y="3333750"/>
            <a:ext cx="3048000" cy="15240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marL="279400" indent="-139700" algn="l">
              <a:lnSpc>
                <a:spcPct val="108000"/>
              </a:lnSpc>
              <a:spcAft>
                <a:spcPts val="700"/>
              </a:spcAft>
              <a:buNone/>
              <a:defRPr sz="1425" b="0" i="0">
                <a:solidFill>
                  <a:srgbClr val="304A8C"/>
                </a:solidFill>
                <a:latin typeface="Calibri"/>
                <a:ea typeface="Calibri"/>
                <a:cs typeface="Calibri"/>
              </a:defRPr>
            </a:pPr>
            <a:r>
              <a:rPr sz="1425">
                <a:solidFill>
                  <a:srgbClr val="304A8C"/>
                </a:solidFill>
                <a:latin typeface="Calibri"/>
                <a:ea typeface="Calibri"/>
                <a:cs typeface="Calibri"/>
              </a:rPr>
              <a:t>Graph Fourier transform</a:t>
            </a:r>
          </a:p>
          <a:p>
            <a:pPr marL="279400" indent="-139700" algn="l">
              <a:lnSpc>
                <a:spcPct val="108000"/>
              </a:lnSpc>
              <a:spcAft>
                <a:spcPts val="700"/>
              </a:spcAft>
              <a:buNone/>
              <a:defRPr sz="1425" b="0" i="0">
                <a:solidFill>
                  <a:srgbClr val="304A8C"/>
                </a:solidFill>
                <a:latin typeface="Calibri"/>
                <a:ea typeface="Calibri"/>
                <a:cs typeface="Calibri"/>
              </a:defRPr>
            </a:pPr>
            <a:r>
              <a:rPr sz="1425">
                <a:solidFill>
                  <a:srgbClr val="304A8C"/>
                </a:solidFill>
                <a:latin typeface="Calibri"/>
                <a:ea typeface="Calibri"/>
                <a:cs typeface="Calibri"/>
              </a:rPr>
              <a:t>Χρονική low-rank ανάλυση</a:t>
            </a:r>
          </a:p>
          <a:p>
            <a:pPr marL="279400" indent="-139700" algn="l">
              <a:lnSpc>
                <a:spcPct val="108000"/>
              </a:lnSpc>
              <a:spcAft>
                <a:spcPts val="700"/>
              </a:spcAft>
              <a:buNone/>
              <a:defRPr sz="1425" b="0" i="0">
                <a:solidFill>
                  <a:srgbClr val="304A8C"/>
                </a:solidFill>
                <a:latin typeface="Calibri"/>
                <a:ea typeface="Calibri"/>
                <a:cs typeface="Calibri"/>
              </a:defRPr>
            </a:pPr>
            <a:r>
              <a:rPr sz="1425">
                <a:solidFill>
                  <a:srgbClr val="304A8C"/>
                </a:solidFill>
                <a:latin typeface="Calibri"/>
                <a:ea typeface="Calibri"/>
                <a:cs typeface="Calibri"/>
              </a:rPr>
              <a:t>CPD registration</a:t>
            </a:r>
          </a:p>
        </p:txBody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A8CF361C-DAC7-4800-95BB-4092259FD149}"/>
              </a:ext>
            </a:extLst>
          </p:cNvPr>
          <p:cNvSpPr>
            <a:spLocks noGrp="1"/>
          </p:cNvSpPr>
          <p:nvPr/>
        </p:nvSpPr>
        <p:spPr>
          <a:xfrm>
            <a:off x="7239000" y="809625"/>
            <a:ext cx="0" cy="0"/>
          </a:xfrm>
          <a:prstGeom prst="line">
            <a:avLst/>
          </a:prstGeom>
          <a:noFill/>
          <a:ln w="9525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858125" y="2190750"/>
            <a:ext cx="3143250" cy="2000250"/>
          </a:xfrm>
          <a:prstGeom prst="roundRect">
            <a:avLst>
              <a:gd name="adj" fmla="val 3636"/>
            </a:avLst>
          </a:prstGeom>
        </p:spPr>
      </p:pic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3753DF58-31B9-45D6-8968-E64A29F19386}"/>
              </a:ext>
            </a:extLst>
          </p:cNvPr>
          <p:cNvSpPr>
            <a:spLocks noGrp="1"/>
          </p:cNvSpPr>
          <p:nvPr/>
        </p:nvSpPr>
        <p:spPr>
          <a:xfrm>
            <a:off x="438150" y="6477000"/>
            <a:ext cx="11315700" cy="0"/>
          </a:xfrm>
          <a:prstGeom prst="line">
            <a:avLst/>
          </a:prstGeom>
          <a:noFill/>
          <a:ln w="19050">
            <a:solidFill>
              <a:srgbClr val="445E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38150" y="6534150"/>
            <a:ext cx="247650" cy="24765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BAF47C5-657E-4CB2-8DC6-3302AB74BBE7}"/>
              </a:ext>
            </a:extLst>
          </p:cNvPr>
          <p:cNvSpPr>
            <a:spLocks noGrp="1"/>
          </p:cNvSpPr>
          <p:nvPr/>
        </p:nvSpPr>
        <p:spPr>
          <a:xfrm>
            <a:off x="781050" y="6553200"/>
            <a:ext cx="82867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Mesh Denoising | 3D Υπολογιστική Όραση και Γεωμετρία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A6EBD3F-406B-4C6B-98DB-895D0B47225B}"/>
              </a:ext>
            </a:extLst>
          </p:cNvPr>
          <p:cNvSpPr>
            <a:spLocks noGrp="1"/>
          </p:cNvSpPr>
          <p:nvPr/>
        </p:nvSpPr>
        <p:spPr>
          <a:xfrm>
            <a:off x="11334750" y="6553200"/>
            <a:ext cx="3619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6551160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0D7315A2-5975-482E-B142-4A0B63405659}"/>
              </a:ext>
            </a:extLst>
          </p:cNvPr>
          <p:cNvSpPr>
            <a:spLocks noGrp="1"/>
          </p:cNvSpPr>
          <p:nvPr/>
        </p:nvSpPr>
        <p:spPr>
          <a:xfrm>
            <a:off x="457200" y="381000"/>
            <a:ext cx="2286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00" b="1" i="0">
                <a:solidFill>
                  <a:srgbClr val="445EA3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445EA3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DF69B25B-0B66-4CB3-A137-BF31CBF61835}"/>
              </a:ext>
            </a:extLst>
          </p:cNvPr>
          <p:cNvSpPr>
            <a:spLocks noGrp="1"/>
          </p:cNvSpPr>
          <p:nvPr/>
        </p:nvSpPr>
        <p:spPr>
          <a:xfrm>
            <a:off x="714375" y="466725"/>
            <a:ext cx="19050" cy="0"/>
          </a:xfrm>
          <a:prstGeom prst="line">
            <a:avLst/>
          </a:prstGeom>
          <a:noFill/>
          <a:ln w="19050">
            <a:solidFill>
              <a:srgbClr val="445E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5E3A925-395B-4A0F-A1C5-47BD4DE8055F}"/>
              </a:ext>
            </a:extLst>
          </p:cNvPr>
          <p:cNvSpPr>
            <a:spLocks noGrp="1"/>
          </p:cNvSpPr>
          <p:nvPr/>
        </p:nvSpPr>
        <p:spPr>
          <a:xfrm>
            <a:off x="838200" y="323850"/>
            <a:ext cx="10715625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550" b="0" i="0">
                <a:solidFill>
                  <a:srgbClr val="445EA3"/>
                </a:solidFill>
                <a:latin typeface="Calibri"/>
                <a:ea typeface="Calibri"/>
                <a:cs typeface="Calibri"/>
              </a:defRPr>
            </a:pPr>
            <a:r>
              <a:rPr sz="2550" b="0" i="0">
                <a:solidFill>
                  <a:srgbClr val="445EA3"/>
                </a:solidFill>
                <a:latin typeface="Calibri"/>
                <a:ea typeface="Calibri"/>
                <a:cs typeface="Calibri"/>
              </a:rPr>
              <a:t>Q8: γνωστή αντιστοίχιση μεταξύ καρέ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F83D6E83-FCA4-4E84-98C2-3FDCE39B5879}"/>
              </a:ext>
            </a:extLst>
          </p:cNvPr>
          <p:cNvSpPr>
            <a:spLocks noGrp="1"/>
          </p:cNvSpPr>
          <p:nvPr/>
        </p:nvSpPr>
        <p:spPr>
          <a:xfrm>
            <a:off x="438150" y="6477000"/>
            <a:ext cx="11315700" cy="0"/>
          </a:xfrm>
          <a:prstGeom prst="line">
            <a:avLst/>
          </a:prstGeom>
          <a:noFill/>
          <a:ln w="19050">
            <a:solidFill>
              <a:srgbClr val="445E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38150" y="6534150"/>
            <a:ext cx="247650" cy="24765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FD9C4C6-C792-4536-9379-588C9EEFEC68}"/>
              </a:ext>
            </a:extLst>
          </p:cNvPr>
          <p:cNvSpPr>
            <a:spLocks noGrp="1"/>
          </p:cNvSpPr>
          <p:nvPr/>
        </p:nvSpPr>
        <p:spPr>
          <a:xfrm>
            <a:off x="781050" y="6553200"/>
            <a:ext cx="82867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Mesh Denoising | 3D Υπολογιστική Όραση και Γεωμετρία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645F7E3-6AFB-4CA6-8ADA-15FB18F153B9}"/>
              </a:ext>
            </a:extLst>
          </p:cNvPr>
          <p:cNvSpPr>
            <a:spLocks noGrp="1"/>
          </p:cNvSpPr>
          <p:nvPr/>
        </p:nvSpPr>
        <p:spPr>
          <a:xfrm>
            <a:off x="11334750" y="6553200"/>
            <a:ext cx="3619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23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280FE8F-AD3E-4047-A807-54F277A0D9EF}"/>
              </a:ext>
            </a:extLst>
          </p:cNvPr>
          <p:cNvSpPr>
            <a:spLocks noGrp="1"/>
          </p:cNvSpPr>
          <p:nvPr/>
        </p:nvSpPr>
        <p:spPr>
          <a:xfrm>
            <a:off x="1285875" y="952500"/>
            <a:ext cx="96202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725" b="1" i="0">
                <a:solidFill>
                  <a:srgbClr val="304A8C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304A8C"/>
                </a:solidFill>
                <a:latin typeface="Calibri"/>
                <a:ea typeface="Calibri"/>
                <a:cs typeface="Calibri"/>
              </a:rPr>
              <a:t>Η κορυφή i περιγράφει το ίδιο υλικό σημείο σε όλα τα καρέ.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76AA89A-2A04-4BAB-88EB-D60CB5841DE4}"/>
              </a:ext>
            </a:extLst>
          </p:cNvPr>
          <p:cNvSpPr>
            <a:spLocks noGrp="1"/>
          </p:cNvSpPr>
          <p:nvPr/>
        </p:nvSpPr>
        <p:spPr>
          <a:xfrm>
            <a:off x="457200" y="1809750"/>
            <a:ext cx="1571625" cy="590550"/>
          </a:xfrm>
          <a:prstGeom prst="roundRect">
            <a:avLst>
              <a:gd name="adj" fmla="val 16129"/>
            </a:avLst>
          </a:prstGeom>
          <a:solidFill>
            <a:srgbClr val="E8EEF9"/>
          </a:solidFill>
          <a:ln w="13335">
            <a:solidFill>
              <a:srgbClr val="304A8C"/>
            </a:solidFill>
            <a:prstDash val="solid"/>
          </a:ln>
        </p:spPr>
        <p:txBody>
          <a:bodyPr lIns="66675" tIns="47625" rIns="66675" bIns="47625" anchor="ctr">
            <a:normAutofit/>
          </a:bodyPr>
          <a:lstStyle/>
          <a:p>
            <a:pPr algn="ctr">
              <a:defRPr sz="1350" b="1">
                <a:solidFill>
                  <a:srgbClr val="304A8C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304A8C"/>
                </a:solidFill>
                <a:latin typeface="Calibri"/>
                <a:ea typeface="Calibri"/>
                <a:cs typeface="Calibri"/>
              </a:rPr>
              <a:t>Κοινό Laplacian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D176845E-1A0B-4B4C-91EF-C047BA26ED5B}"/>
              </a:ext>
            </a:extLst>
          </p:cNvPr>
          <p:cNvSpPr>
            <a:spLocks noGrp="1"/>
          </p:cNvSpPr>
          <p:nvPr/>
        </p:nvSpPr>
        <p:spPr>
          <a:xfrm>
            <a:off x="2076450" y="2009775"/>
            <a:ext cx="238125" cy="190500"/>
          </a:xfrm>
          <a:prstGeom prst="rightArrow">
            <a:avLst/>
          </a:prstGeom>
          <a:solidFill>
            <a:srgbClr val="AEB6C4"/>
          </a:solidFill>
          <a:ln w="4763">
            <a:solidFill>
              <a:srgbClr val="AEB6C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47E7600-5F1D-4CD7-AD27-6116C81FBDCF}"/>
              </a:ext>
            </a:extLst>
          </p:cNvPr>
          <p:cNvSpPr>
            <a:spLocks noGrp="1"/>
          </p:cNvSpPr>
          <p:nvPr/>
        </p:nvSpPr>
        <p:spPr>
          <a:xfrm>
            <a:off x="2390775" y="1809750"/>
            <a:ext cx="1571625" cy="590550"/>
          </a:xfrm>
          <a:prstGeom prst="roundRect">
            <a:avLst>
              <a:gd name="adj" fmla="val 16129"/>
            </a:avLst>
          </a:prstGeom>
          <a:solidFill>
            <a:srgbClr val="E8EEF9"/>
          </a:solidFill>
          <a:ln w="13335">
            <a:solidFill>
              <a:srgbClr val="304A8C"/>
            </a:solidFill>
            <a:prstDash val="solid"/>
          </a:ln>
        </p:spPr>
        <p:txBody>
          <a:bodyPr lIns="66675" tIns="47625" rIns="66675" bIns="47625" anchor="ctr">
            <a:normAutofit/>
          </a:bodyPr>
          <a:lstStyle/>
          <a:p>
            <a:pPr algn="ctr">
              <a:defRPr sz="1350" b="1">
                <a:solidFill>
                  <a:srgbClr val="304A8C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304A8C"/>
                </a:solidFill>
                <a:latin typeface="Calibri"/>
                <a:ea typeface="Calibri"/>
                <a:cs typeface="Calibri"/>
              </a:rPr>
              <a:t>Eigenbasis U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B3651117-8390-42E6-97FE-10BE6025BC06}"/>
              </a:ext>
            </a:extLst>
          </p:cNvPr>
          <p:cNvSpPr>
            <a:spLocks noGrp="1"/>
          </p:cNvSpPr>
          <p:nvPr/>
        </p:nvSpPr>
        <p:spPr>
          <a:xfrm>
            <a:off x="4010025" y="2009775"/>
            <a:ext cx="238125" cy="190500"/>
          </a:xfrm>
          <a:prstGeom prst="rightArrow">
            <a:avLst/>
          </a:prstGeom>
          <a:solidFill>
            <a:srgbClr val="AEB6C4"/>
          </a:solidFill>
          <a:ln w="4763">
            <a:solidFill>
              <a:srgbClr val="AEB6C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D38791F-33D4-4BCC-9038-621FD65C9F82}"/>
              </a:ext>
            </a:extLst>
          </p:cNvPr>
          <p:cNvSpPr>
            <a:spLocks noGrp="1"/>
          </p:cNvSpPr>
          <p:nvPr/>
        </p:nvSpPr>
        <p:spPr>
          <a:xfrm>
            <a:off x="4324350" y="1809750"/>
            <a:ext cx="1571625" cy="590550"/>
          </a:xfrm>
          <a:prstGeom prst="roundRect">
            <a:avLst>
              <a:gd name="adj" fmla="val 16129"/>
            </a:avLst>
          </a:prstGeom>
          <a:solidFill>
            <a:srgbClr val="E8EEF9"/>
          </a:solidFill>
          <a:ln w="13335">
            <a:solidFill>
              <a:srgbClr val="304A8C"/>
            </a:solidFill>
            <a:prstDash val="solid"/>
          </a:ln>
        </p:spPr>
        <p:txBody>
          <a:bodyPr lIns="66675" tIns="47625" rIns="66675" bIns="47625" anchor="ctr">
            <a:normAutofit/>
          </a:bodyPr>
          <a:lstStyle/>
          <a:p>
            <a:pPr algn="ctr">
              <a:defRPr sz="1350" b="1">
                <a:solidFill>
                  <a:srgbClr val="304A8C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304A8C"/>
                </a:solidFill>
                <a:latin typeface="Calibri"/>
                <a:ea typeface="Calibri"/>
                <a:cs typeface="Calibri"/>
              </a:rPr>
              <a:t>GFT ανά frame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6D3D0B50-7FA4-4CC5-BC56-E60A4F5EDA60}"/>
              </a:ext>
            </a:extLst>
          </p:cNvPr>
          <p:cNvSpPr>
            <a:spLocks noGrp="1"/>
          </p:cNvSpPr>
          <p:nvPr/>
        </p:nvSpPr>
        <p:spPr>
          <a:xfrm>
            <a:off x="5943600" y="2009775"/>
            <a:ext cx="238125" cy="190500"/>
          </a:xfrm>
          <a:prstGeom prst="rightArrow">
            <a:avLst/>
          </a:prstGeom>
          <a:solidFill>
            <a:srgbClr val="AEB6C4"/>
          </a:solidFill>
          <a:ln w="4763">
            <a:solidFill>
              <a:srgbClr val="AEB6C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EFDE35F-9351-4F77-A472-25A7A00ABD6B}"/>
              </a:ext>
            </a:extLst>
          </p:cNvPr>
          <p:cNvSpPr>
            <a:spLocks noGrp="1"/>
          </p:cNvSpPr>
          <p:nvPr/>
        </p:nvSpPr>
        <p:spPr>
          <a:xfrm>
            <a:off x="6257925" y="1809750"/>
            <a:ext cx="1571625" cy="590550"/>
          </a:xfrm>
          <a:prstGeom prst="roundRect">
            <a:avLst>
              <a:gd name="adj" fmla="val 16129"/>
            </a:avLst>
          </a:prstGeom>
          <a:solidFill>
            <a:srgbClr val="E7F3F3"/>
          </a:solidFill>
          <a:ln w="13335">
            <a:solidFill>
              <a:srgbClr val="357E80"/>
            </a:solidFill>
            <a:prstDash val="solid"/>
          </a:ln>
        </p:spPr>
        <p:txBody>
          <a:bodyPr lIns="66675" tIns="47625" rIns="66675" bIns="47625" anchor="ctr">
            <a:normAutofit/>
          </a:bodyPr>
          <a:lstStyle/>
          <a:p>
            <a:pPr algn="ctr">
              <a:defRPr sz="1350" b="1">
                <a:solidFill>
                  <a:srgbClr val="357E80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357E80"/>
                </a:solidFill>
                <a:latin typeface="Calibri"/>
                <a:ea typeface="Calibri"/>
                <a:cs typeface="Calibri"/>
              </a:rPr>
              <a:t>Temporal matrices</a:t>
            </a: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171C95A6-184F-495C-9D48-8690E23E9CCE}"/>
              </a:ext>
            </a:extLst>
          </p:cNvPr>
          <p:cNvSpPr>
            <a:spLocks noGrp="1"/>
          </p:cNvSpPr>
          <p:nvPr/>
        </p:nvSpPr>
        <p:spPr>
          <a:xfrm>
            <a:off x="7877175" y="2009775"/>
            <a:ext cx="238125" cy="190500"/>
          </a:xfrm>
          <a:prstGeom prst="rightArrow">
            <a:avLst/>
          </a:prstGeom>
          <a:solidFill>
            <a:srgbClr val="AEB6C4"/>
          </a:solidFill>
          <a:ln w="4763">
            <a:solidFill>
              <a:srgbClr val="AEB6C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209EC4F-1541-4351-8CDA-2DD46685260E}"/>
              </a:ext>
            </a:extLst>
          </p:cNvPr>
          <p:cNvSpPr>
            <a:spLocks noGrp="1"/>
          </p:cNvSpPr>
          <p:nvPr/>
        </p:nvSpPr>
        <p:spPr>
          <a:xfrm>
            <a:off x="8191500" y="1809750"/>
            <a:ext cx="1571625" cy="590550"/>
          </a:xfrm>
          <a:prstGeom prst="roundRect">
            <a:avLst>
              <a:gd name="adj" fmla="val 16129"/>
            </a:avLst>
          </a:prstGeom>
          <a:solidFill>
            <a:srgbClr val="E7F3F3"/>
          </a:solidFill>
          <a:ln w="13335">
            <a:solidFill>
              <a:srgbClr val="357E80"/>
            </a:solidFill>
            <a:prstDash val="solid"/>
          </a:ln>
        </p:spPr>
        <p:txBody>
          <a:bodyPr lIns="66675" tIns="47625" rIns="66675" bIns="47625" anchor="ctr">
            <a:normAutofit/>
          </a:bodyPr>
          <a:lstStyle/>
          <a:p>
            <a:pPr algn="ctr">
              <a:defRPr sz="1350" b="1">
                <a:solidFill>
                  <a:srgbClr val="357E80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357E80"/>
                </a:solidFill>
                <a:latin typeface="Calibri"/>
                <a:ea typeface="Calibri"/>
                <a:cs typeface="Calibri"/>
              </a:rPr>
              <a:t>Low rank + sparse</a:t>
            </a:r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53B12775-DC73-4732-8465-3FC13A3EBB7A}"/>
              </a:ext>
            </a:extLst>
          </p:cNvPr>
          <p:cNvSpPr>
            <a:spLocks noGrp="1"/>
          </p:cNvSpPr>
          <p:nvPr/>
        </p:nvSpPr>
        <p:spPr>
          <a:xfrm>
            <a:off x="9810750" y="2009775"/>
            <a:ext cx="238125" cy="190500"/>
          </a:xfrm>
          <a:prstGeom prst="rightArrow">
            <a:avLst/>
          </a:prstGeom>
          <a:solidFill>
            <a:srgbClr val="AEB6C4"/>
          </a:solidFill>
          <a:ln w="4763">
            <a:solidFill>
              <a:srgbClr val="AEB6C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A19B8D1C-E8BF-4025-B53C-D3420FFAF730}"/>
              </a:ext>
            </a:extLst>
          </p:cNvPr>
          <p:cNvSpPr>
            <a:spLocks noGrp="1"/>
          </p:cNvSpPr>
          <p:nvPr/>
        </p:nvSpPr>
        <p:spPr>
          <a:xfrm>
            <a:off x="10125075" y="1809750"/>
            <a:ext cx="1571625" cy="590550"/>
          </a:xfrm>
          <a:prstGeom prst="roundRect">
            <a:avLst>
              <a:gd name="adj" fmla="val 16129"/>
            </a:avLst>
          </a:prstGeom>
          <a:solidFill>
            <a:srgbClr val="E7F3F3"/>
          </a:solidFill>
          <a:ln w="13335">
            <a:solidFill>
              <a:srgbClr val="357E80"/>
            </a:solidFill>
            <a:prstDash val="solid"/>
          </a:ln>
        </p:spPr>
        <p:txBody>
          <a:bodyPr lIns="66675" tIns="47625" rIns="66675" bIns="47625" anchor="ctr">
            <a:normAutofit/>
          </a:bodyPr>
          <a:lstStyle/>
          <a:p>
            <a:pPr algn="ctr">
              <a:defRPr sz="1350" b="1">
                <a:solidFill>
                  <a:srgbClr val="357E80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357E80"/>
                </a:solidFill>
                <a:latin typeface="Calibri"/>
                <a:ea typeface="Calibri"/>
                <a:cs typeface="Calibri"/>
              </a:rPr>
              <a:t>Inverse GFT</a:t>
            </a:r>
          </a:p>
        </p:txBody>
      </p:sp>
      <p:pic>
        <p:nvPicPr>
          <p:cNvPr id="42" name="Picture 4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333500" y="3256126"/>
            <a:ext cx="4857750" cy="345747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334125" y="3259516"/>
            <a:ext cx="4762500" cy="338968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679A3854-0464-4467-94E4-CE2616AD5127}"/>
              </a:ext>
            </a:extLst>
          </p:cNvPr>
          <p:cNvSpPr>
            <a:spLocks noGrp="1"/>
          </p:cNvSpPr>
          <p:nvPr/>
        </p:nvSpPr>
        <p:spPr>
          <a:xfrm>
            <a:off x="2000250" y="4476750"/>
            <a:ext cx="8191500" cy="15240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marL="279400" indent="-139700" algn="l">
              <a:lnSpc>
                <a:spcPct val="108000"/>
              </a:lnSpc>
              <a:spcAft>
                <a:spcPts val="700"/>
              </a:spcAft>
              <a:buNone/>
              <a:defRPr sz="1350" b="0" i="0">
                <a:solidFill>
                  <a:srgbClr val="1E1E1E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Κοινό topology: </a:t>
            </a:r>
            <a:r>
              <a:rPr sz="1350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ίδιο πλήθος vertices και ίδιο face array σε όλα τα frames.</a:t>
            </a:r>
          </a:p>
          <a:p>
            <a:pPr marL="279400" indent="-139700" algn="l">
              <a:lnSpc>
                <a:spcPct val="108000"/>
              </a:lnSpc>
              <a:spcAft>
                <a:spcPts val="700"/>
              </a:spcAft>
              <a:buNone/>
              <a:defRPr sz="1350" b="0" i="0">
                <a:solidFill>
                  <a:srgbClr val="1E1E1E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High frequencies: </a:t>
            </a:r>
            <a:r>
              <a:rPr sz="1350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επεξεργάζεται το 0.01% της συνολικής GFT ενέργειας.</a:t>
            </a:r>
          </a:p>
          <a:p>
            <a:pPr marL="279400" indent="-139700" algn="l">
              <a:lnSpc>
                <a:spcPct val="108000"/>
              </a:lnSpc>
              <a:spcAft>
                <a:spcPts val="700"/>
              </a:spcAft>
              <a:buNone/>
              <a:defRPr sz="1350" b="0" i="0">
                <a:solidFill>
                  <a:srgbClr val="1E1E1E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RPCA rank: </a:t>
            </a:r>
            <a:r>
              <a:rPr sz="1350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5 για πλήρεις ακολουθίες, με 20 iterations και soft-thresholding.</a:t>
            </a:r>
          </a:p>
          <a:p>
            <a:pPr marL="279400" indent="-139700" algn="l">
              <a:lnSpc>
                <a:spcPct val="108000"/>
              </a:lnSpc>
              <a:spcAft>
                <a:spcPts val="700"/>
              </a:spcAft>
              <a:buNone/>
              <a:defRPr sz="1350" b="0" i="0">
                <a:solidFill>
                  <a:srgbClr val="1E1E1E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Ανακατασκευή: </a:t>
            </a:r>
            <a:r>
              <a:rPr sz="1350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οι χαμηλές συχνότητες και η συνολική κίνηση διατηρούνται.</a:t>
            </a:r>
          </a:p>
        </p:txBody>
      </p:sp>
    </p:spTree>
    <p:extLst>
      <p:ext uri="{BB962C8B-B14F-4D97-AF65-F5344CB8AC3E}">
        <p14:creationId xmlns:p14="http://schemas.microsoft.com/office/powerpoint/2010/main" val="8397331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8544E3F9-C2C3-421E-83FF-EC3D1C513C0E}"/>
              </a:ext>
            </a:extLst>
          </p:cNvPr>
          <p:cNvSpPr>
            <a:spLocks noGrp="1"/>
          </p:cNvSpPr>
          <p:nvPr/>
        </p:nvSpPr>
        <p:spPr>
          <a:xfrm>
            <a:off x="457200" y="381000"/>
            <a:ext cx="2286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00" b="1" i="0">
                <a:solidFill>
                  <a:srgbClr val="445EA3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445EA3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0B39AFFB-D395-49C6-943D-EE59B10DDA7F}"/>
              </a:ext>
            </a:extLst>
          </p:cNvPr>
          <p:cNvSpPr>
            <a:spLocks noGrp="1"/>
          </p:cNvSpPr>
          <p:nvPr/>
        </p:nvSpPr>
        <p:spPr>
          <a:xfrm>
            <a:off x="714375" y="466725"/>
            <a:ext cx="19050" cy="0"/>
          </a:xfrm>
          <a:prstGeom prst="line">
            <a:avLst/>
          </a:prstGeom>
          <a:noFill/>
          <a:ln w="19050">
            <a:solidFill>
              <a:srgbClr val="445E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8B782F7-CDA7-4571-B9C1-C632D6D86639}"/>
              </a:ext>
            </a:extLst>
          </p:cNvPr>
          <p:cNvSpPr>
            <a:spLocks noGrp="1"/>
          </p:cNvSpPr>
          <p:nvPr/>
        </p:nvSpPr>
        <p:spPr>
          <a:xfrm>
            <a:off x="838200" y="323850"/>
            <a:ext cx="10715625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550" b="0" i="0">
                <a:solidFill>
                  <a:srgbClr val="445EA3"/>
                </a:solidFill>
                <a:latin typeface="Calibri"/>
                <a:ea typeface="Calibri"/>
                <a:cs typeface="Calibri"/>
              </a:defRPr>
            </a:pPr>
            <a:r>
              <a:rPr sz="2550" b="0" i="0">
                <a:solidFill>
                  <a:srgbClr val="445EA3"/>
                </a:solidFill>
                <a:latin typeface="Calibri"/>
                <a:ea typeface="Calibri"/>
                <a:cs typeface="Calibri"/>
              </a:rPr>
              <a:t>Η χρονική χαμηλόβαθμη ανάλυση μειώνει το σφάλμα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DC6D642E-DE3D-4C59-82EC-58801F748312}"/>
              </a:ext>
            </a:extLst>
          </p:cNvPr>
          <p:cNvSpPr>
            <a:spLocks noGrp="1"/>
          </p:cNvSpPr>
          <p:nvPr/>
        </p:nvSpPr>
        <p:spPr>
          <a:xfrm>
            <a:off x="438150" y="6477000"/>
            <a:ext cx="11315700" cy="0"/>
          </a:xfrm>
          <a:prstGeom prst="line">
            <a:avLst/>
          </a:prstGeom>
          <a:noFill/>
          <a:ln w="19050">
            <a:solidFill>
              <a:srgbClr val="445E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38150" y="6534150"/>
            <a:ext cx="247650" cy="24765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635C340-4184-49CE-8396-31B28076ECBF}"/>
              </a:ext>
            </a:extLst>
          </p:cNvPr>
          <p:cNvSpPr>
            <a:spLocks noGrp="1"/>
          </p:cNvSpPr>
          <p:nvPr/>
        </p:nvSpPr>
        <p:spPr>
          <a:xfrm>
            <a:off x="781050" y="6553200"/>
            <a:ext cx="82867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Mesh Denoising | 3D Υπολογιστική Όραση και Γεωμετρία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031BE26-2897-47C7-A0BB-21386F39DC88}"/>
              </a:ext>
            </a:extLst>
          </p:cNvPr>
          <p:cNvSpPr>
            <a:spLocks noGrp="1"/>
          </p:cNvSpPr>
          <p:nvPr/>
        </p:nvSpPr>
        <p:spPr>
          <a:xfrm>
            <a:off x="11334750" y="6553200"/>
            <a:ext cx="3619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24</a:t>
            </a: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23875" y="1227426"/>
            <a:ext cx="3476625" cy="221239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61F67D2-8E7C-4FA3-A0D4-24779AB8BF82}"/>
              </a:ext>
            </a:extLst>
          </p:cNvPr>
          <p:cNvSpPr>
            <a:spLocks noGrp="1"/>
          </p:cNvSpPr>
          <p:nvPr/>
        </p:nvSpPr>
        <p:spPr>
          <a:xfrm>
            <a:off x="523875" y="3667125"/>
            <a:ext cx="347662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00" b="1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Clean frame</a:t>
            </a:r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4238625" y="1227426"/>
            <a:ext cx="3476625" cy="221239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58E7F3FB-C0D2-4CF8-B505-B0D6F0F9001E}"/>
              </a:ext>
            </a:extLst>
          </p:cNvPr>
          <p:cNvSpPr>
            <a:spLocks noGrp="1"/>
          </p:cNvSpPr>
          <p:nvPr/>
        </p:nvSpPr>
        <p:spPr>
          <a:xfrm>
            <a:off x="4238625" y="3667125"/>
            <a:ext cx="347662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00" b="1" i="0">
                <a:solidFill>
                  <a:srgbClr val="A64337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A64337"/>
                </a:solidFill>
                <a:latin typeface="Calibri"/>
                <a:ea typeface="Calibri"/>
                <a:cs typeface="Calibri"/>
              </a:rPr>
              <a:t>Noisy error</a:t>
            </a:r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7953375" y="1227426"/>
            <a:ext cx="3476625" cy="2212398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3B951CC6-F2AB-496F-AD1B-674972D13193}"/>
              </a:ext>
            </a:extLst>
          </p:cNvPr>
          <p:cNvSpPr>
            <a:spLocks noGrp="1"/>
          </p:cNvSpPr>
          <p:nvPr/>
        </p:nvSpPr>
        <p:spPr>
          <a:xfrm>
            <a:off x="7953375" y="3667125"/>
            <a:ext cx="347662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00" b="1" i="0">
                <a:solidFill>
                  <a:srgbClr val="59A14F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59A14F"/>
                </a:solidFill>
                <a:latin typeface="Calibri"/>
                <a:ea typeface="Calibri"/>
                <a:cs typeface="Calibri"/>
              </a:rPr>
              <a:t>Denoised error</a:t>
            </a:r>
          </a:p>
        </p:txBody>
      </p:sp>
      <p:graphicFrame>
        <p:nvGraphicFramePr>
          <p:cNvPr id="29" name="Table 28"/>
          <p:cNvGraphicFramePr/>
          <p:nvPr/>
        </p:nvGraphicFramePr>
        <p:xfrm>
          <a:off x="1857375" y="4333875"/>
          <a:ext cx="8477250" cy="1828800"/>
        </p:xfrm>
        <a:graphic>
          <a:graphicData uri="http://schemas.openxmlformats.org/drawingml/2006/table">
            <a:tbl>
              <a:tblPr/>
              <a:tblGrid>
                <a:gridCol w="2952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2425">
                <a:tc>
                  <a:txBody>
                    <a:bodyPr/>
                    <a:lstStyle/>
                    <a:p>
                      <a:r>
                        <a:t>Bouncing, 175 frames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Noisy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Denoised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Μείωση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2425">
                <a:tc>
                  <a:txBody>
                    <a:bodyPr/>
                    <a:lstStyle/>
                    <a:p>
                      <a:r>
                        <a:t>MSAE (°)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25.904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15F2C"/>
                          </a:solidFill>
                          <a:latin typeface="Calibri"/>
                          <a:ea typeface="Calibri"/>
                          <a:cs typeface="Calibri"/>
                        </a:rPr>
                        <a:t>12.437</a:t>
                      </a:r>
                    </a:p>
                  </a:txBody>
                  <a:tcPr anchor="ctr">
                    <a:solidFill>
                      <a:srgbClr val="EEF6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52.0%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2425">
                <a:tc>
                  <a:txBody>
                    <a:bodyPr/>
                    <a:lstStyle/>
                    <a:p>
                      <a:r>
                        <a:t>L2 surface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0.003541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15F2C"/>
                          </a:solidFill>
                          <a:latin typeface="Calibri"/>
                          <a:ea typeface="Calibri"/>
                          <a:cs typeface="Calibri"/>
                        </a:rPr>
                        <a:t>0.001853</a:t>
                      </a:r>
                    </a:p>
                  </a:txBody>
                  <a:tcPr anchor="ctr">
                    <a:solidFill>
                      <a:srgbClr val="EEF6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47.7%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2425">
                <a:tc>
                  <a:txBody>
                    <a:bodyPr/>
                    <a:lstStyle/>
                    <a:p>
                      <a:r>
                        <a:t>Hausdorff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0.012890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15F2C"/>
                          </a:solidFill>
                          <a:latin typeface="Calibri"/>
                          <a:ea typeface="Calibri"/>
                          <a:cs typeface="Calibri"/>
                        </a:rPr>
                        <a:t>0.008880</a:t>
                      </a:r>
                    </a:p>
                  </a:txBody>
                  <a:tcPr anchor="ctr">
                    <a:solidFill>
                      <a:srgbClr val="EEF6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31.1%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2425">
                <a:tc>
                  <a:txBody>
                    <a:bodyPr/>
                    <a:lstStyle/>
                    <a:p>
                      <a:r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0.003281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15F2C"/>
                          </a:solidFill>
                          <a:latin typeface="Calibri"/>
                          <a:ea typeface="Calibri"/>
                          <a:cs typeface="Calibri"/>
                        </a:rPr>
                        <a:t>0.002110</a:t>
                      </a:r>
                    </a:p>
                  </a:txBody>
                  <a:tcPr anchor="ctr">
                    <a:solidFill>
                      <a:srgbClr val="EEF6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35.7%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4ABA35F6-E53E-4B77-AE99-9154A40A775C}"/>
              </a:ext>
            </a:extLst>
          </p:cNvPr>
          <p:cNvSpPr>
            <a:spLocks noGrp="1"/>
          </p:cNvSpPr>
          <p:nvPr/>
        </p:nvSpPr>
        <p:spPr>
          <a:xfrm>
            <a:off x="3286125" y="6115050"/>
            <a:ext cx="56197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050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Κοινή χρωματική κλίμακα 0°–34.7° για noisy και denoised heatmaps.</a:t>
            </a:r>
          </a:p>
        </p:txBody>
      </p:sp>
    </p:spTree>
    <p:extLst>
      <p:ext uri="{BB962C8B-B14F-4D97-AF65-F5344CB8AC3E}">
        <p14:creationId xmlns:p14="http://schemas.microsoft.com/office/powerpoint/2010/main" val="15466487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742AEF83-F42B-4A1D-A3F8-05DB26D4DE74}"/>
              </a:ext>
            </a:extLst>
          </p:cNvPr>
          <p:cNvSpPr>
            <a:spLocks noGrp="1"/>
          </p:cNvSpPr>
          <p:nvPr/>
        </p:nvSpPr>
        <p:spPr>
          <a:xfrm>
            <a:off x="457200" y="381000"/>
            <a:ext cx="2286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00" b="1" i="0">
                <a:solidFill>
                  <a:srgbClr val="445EA3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445EA3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8E7DDC6C-14A4-414E-9FA9-7F6CFA6BDF15}"/>
              </a:ext>
            </a:extLst>
          </p:cNvPr>
          <p:cNvSpPr>
            <a:spLocks noGrp="1"/>
          </p:cNvSpPr>
          <p:nvPr/>
        </p:nvSpPr>
        <p:spPr>
          <a:xfrm>
            <a:off x="714375" y="466725"/>
            <a:ext cx="19050" cy="0"/>
          </a:xfrm>
          <a:prstGeom prst="line">
            <a:avLst/>
          </a:prstGeom>
          <a:noFill/>
          <a:ln w="19050">
            <a:solidFill>
              <a:srgbClr val="445E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FDD1C57-34A5-4748-9AEB-D15579459775}"/>
              </a:ext>
            </a:extLst>
          </p:cNvPr>
          <p:cNvSpPr>
            <a:spLocks noGrp="1"/>
          </p:cNvSpPr>
          <p:nvPr/>
        </p:nvSpPr>
        <p:spPr>
          <a:xfrm>
            <a:off x="838200" y="323850"/>
            <a:ext cx="10715625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550" b="0" i="0">
                <a:solidFill>
                  <a:srgbClr val="445EA3"/>
                </a:solidFill>
                <a:latin typeface="Calibri"/>
                <a:ea typeface="Calibri"/>
                <a:cs typeface="Calibri"/>
              </a:defRPr>
            </a:pPr>
            <a:r>
              <a:rPr sz="2550" b="0" i="0">
                <a:solidFill>
                  <a:srgbClr val="445EA3"/>
                </a:solidFill>
                <a:latin typeface="Calibri"/>
                <a:ea typeface="Calibri"/>
                <a:cs typeface="Calibri"/>
              </a:rPr>
              <a:t>Bonus: χωρίς αντιστοίχιση κορυφών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3F2D0485-9557-4ED0-9677-0A8B86B0F7D6}"/>
              </a:ext>
            </a:extLst>
          </p:cNvPr>
          <p:cNvSpPr>
            <a:spLocks noGrp="1"/>
          </p:cNvSpPr>
          <p:nvPr/>
        </p:nvSpPr>
        <p:spPr>
          <a:xfrm>
            <a:off x="438150" y="6477000"/>
            <a:ext cx="11315700" cy="0"/>
          </a:xfrm>
          <a:prstGeom prst="line">
            <a:avLst/>
          </a:prstGeom>
          <a:noFill/>
          <a:ln w="19050">
            <a:solidFill>
              <a:srgbClr val="445E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38150" y="6534150"/>
            <a:ext cx="247650" cy="24765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50D6689-CCF4-401D-931E-036D7A6E33B4}"/>
              </a:ext>
            </a:extLst>
          </p:cNvPr>
          <p:cNvSpPr>
            <a:spLocks noGrp="1"/>
          </p:cNvSpPr>
          <p:nvPr/>
        </p:nvSpPr>
        <p:spPr>
          <a:xfrm>
            <a:off x="781050" y="6553200"/>
            <a:ext cx="82867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Mesh Denoising | 3D Υπολογιστική Όραση και Γεωμετρία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FFABC4E-9768-4E04-A8F2-5D8D35E84B7C}"/>
              </a:ext>
            </a:extLst>
          </p:cNvPr>
          <p:cNvSpPr>
            <a:spLocks noGrp="1"/>
          </p:cNvSpPr>
          <p:nvPr/>
        </p:nvSpPr>
        <p:spPr>
          <a:xfrm>
            <a:off x="11334750" y="6553200"/>
            <a:ext cx="3619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25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737B82C-E5B0-43B7-AE29-32C29D40C515}"/>
              </a:ext>
            </a:extLst>
          </p:cNvPr>
          <p:cNvSpPr>
            <a:spLocks noGrp="1"/>
          </p:cNvSpPr>
          <p:nvPr/>
        </p:nvSpPr>
        <p:spPr>
          <a:xfrm>
            <a:off x="952500" y="876300"/>
            <a:ext cx="102870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650" b="1" i="0">
                <a:solidFill>
                  <a:srgbClr val="A64337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A64337"/>
                </a:solidFill>
                <a:latin typeface="Calibri"/>
                <a:ea typeface="Calibri"/>
                <a:cs typeface="Calibri"/>
              </a:rPr>
              <a:t>Με ανεξάρτητο remeshing, ο δείκτης i δεν περιγράφει πλέον το ίδιο σημείο στα διαδοχικά καρέ.</a:t>
            </a:r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04875" y="1564799"/>
            <a:ext cx="4857750" cy="356552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238875" y="1566812"/>
            <a:ext cx="4953000" cy="352527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523875" y="2593398"/>
            <a:ext cx="3524250" cy="2242705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80DCA53-363B-4B42-847B-51BCD134D8E6}"/>
              </a:ext>
            </a:extLst>
          </p:cNvPr>
          <p:cNvSpPr>
            <a:spLocks noGrp="1"/>
          </p:cNvSpPr>
          <p:nvPr/>
        </p:nvSpPr>
        <p:spPr>
          <a:xfrm>
            <a:off x="523875" y="5000625"/>
            <a:ext cx="3524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25" b="1" i="0">
                <a:solidFill>
                  <a:srgbClr val="A64337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A64337"/>
                </a:solidFill>
                <a:latin typeface="Calibri"/>
                <a:ea typeface="Calibri"/>
                <a:cs typeface="Calibri"/>
              </a:rPr>
              <a:t>Iteration 0   CD 0.1906</a:t>
            </a:r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4333875" y="2593398"/>
            <a:ext cx="3524250" cy="2242705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5A72BFAB-8B11-477D-8A55-DBA15801DF0A}"/>
              </a:ext>
            </a:extLst>
          </p:cNvPr>
          <p:cNvSpPr>
            <a:spLocks noGrp="1"/>
          </p:cNvSpPr>
          <p:nvPr/>
        </p:nvSpPr>
        <p:spPr>
          <a:xfrm>
            <a:off x="4333875" y="5000625"/>
            <a:ext cx="3524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25" b="1" i="0">
                <a:solidFill>
                  <a:srgbClr val="304A8C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304A8C"/>
                </a:solidFill>
                <a:latin typeface="Calibri"/>
                <a:ea typeface="Calibri"/>
                <a:cs typeface="Calibri"/>
              </a:rPr>
              <a:t>Iteration 20   CD 0.0308</a:t>
            </a:r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8143875" y="2593398"/>
            <a:ext cx="3524250" cy="2242705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C7B16108-D1FC-44B3-993D-5DB4A05654E0}"/>
              </a:ext>
            </a:extLst>
          </p:cNvPr>
          <p:cNvSpPr>
            <a:spLocks noGrp="1"/>
          </p:cNvSpPr>
          <p:nvPr/>
        </p:nvSpPr>
        <p:spPr>
          <a:xfrm>
            <a:off x="8143875" y="5000625"/>
            <a:ext cx="3524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25" b="1" i="0">
                <a:solidFill>
                  <a:srgbClr val="59A14F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59A14F"/>
                </a:solidFill>
                <a:latin typeface="Calibri"/>
                <a:ea typeface="Calibri"/>
                <a:cs typeface="Calibri"/>
              </a:rPr>
              <a:t>Iteration 40   CD 0.0301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3D47981-9AF0-4119-8022-414A93525FB0}"/>
              </a:ext>
            </a:extLst>
          </p:cNvPr>
          <p:cNvSpPr>
            <a:spLocks noGrp="1"/>
          </p:cNvSpPr>
          <p:nvPr/>
        </p:nvSpPr>
        <p:spPr>
          <a:xfrm>
            <a:off x="2762250" y="5524500"/>
            <a:ext cx="6667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350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Κόκκινο: target frame 35   |   Μπλε: frame 0 καθώς παραμορφώνεται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CB9EC52-3B32-4A46-B787-7F3BFBFE1097}"/>
              </a:ext>
            </a:extLst>
          </p:cNvPr>
          <p:cNvSpPr>
            <a:spLocks noGrp="1"/>
          </p:cNvSpPr>
          <p:nvPr/>
        </p:nvSpPr>
        <p:spPr>
          <a:xfrm>
            <a:off x="3143250" y="5905500"/>
            <a:ext cx="5905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575" b="1" i="0">
                <a:solidFill>
                  <a:srgbClr val="304A8C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304A8C"/>
                </a:solidFill>
                <a:latin typeface="Calibri"/>
                <a:ea typeface="Calibri"/>
                <a:cs typeface="Calibri"/>
              </a:rPr>
              <a:t>Το demo μειώνει το Chamfer κατά 84.2% σε 40 EM iterations.</a:t>
            </a:r>
          </a:p>
        </p:txBody>
      </p:sp>
    </p:spTree>
    <p:extLst>
      <p:ext uri="{BB962C8B-B14F-4D97-AF65-F5344CB8AC3E}">
        <p14:creationId xmlns:p14="http://schemas.microsoft.com/office/powerpoint/2010/main" val="17818406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307093B7-6E21-4959-81A2-3BBBD019DB9D}"/>
              </a:ext>
            </a:extLst>
          </p:cNvPr>
          <p:cNvSpPr>
            <a:spLocks noGrp="1"/>
          </p:cNvSpPr>
          <p:nvPr/>
        </p:nvSpPr>
        <p:spPr>
          <a:xfrm>
            <a:off x="457200" y="381000"/>
            <a:ext cx="2286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00" b="1" i="0">
                <a:solidFill>
                  <a:srgbClr val="445EA3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445EA3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C066551A-048B-4DA7-AF75-3B8DC9DE9D50}"/>
              </a:ext>
            </a:extLst>
          </p:cNvPr>
          <p:cNvSpPr>
            <a:spLocks noGrp="1"/>
          </p:cNvSpPr>
          <p:nvPr/>
        </p:nvSpPr>
        <p:spPr>
          <a:xfrm>
            <a:off x="714375" y="466725"/>
            <a:ext cx="19050" cy="0"/>
          </a:xfrm>
          <a:prstGeom prst="line">
            <a:avLst/>
          </a:prstGeom>
          <a:noFill/>
          <a:ln w="19050">
            <a:solidFill>
              <a:srgbClr val="445E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5CE853F-1CB0-4894-98C6-36534591D986}"/>
              </a:ext>
            </a:extLst>
          </p:cNvPr>
          <p:cNvSpPr>
            <a:spLocks noGrp="1"/>
          </p:cNvSpPr>
          <p:nvPr/>
        </p:nvSpPr>
        <p:spPr>
          <a:xfrm>
            <a:off x="838200" y="323850"/>
            <a:ext cx="10715625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550" b="0" i="0">
                <a:solidFill>
                  <a:srgbClr val="445EA3"/>
                </a:solidFill>
                <a:latin typeface="Calibri"/>
                <a:ea typeface="Calibri"/>
                <a:cs typeface="Calibri"/>
              </a:defRPr>
            </a:pPr>
            <a:r>
              <a:rPr sz="2550" b="0" i="0">
                <a:solidFill>
                  <a:srgbClr val="445EA3"/>
                </a:solidFill>
                <a:latin typeface="Calibri"/>
                <a:ea typeface="Calibri"/>
                <a:cs typeface="Calibri"/>
              </a:rPr>
              <a:t>CPD πριν από τη χρονική αποθορυβοποίηση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319EA9AD-DA5B-42DA-B00E-07D5AF4BB99E}"/>
              </a:ext>
            </a:extLst>
          </p:cNvPr>
          <p:cNvSpPr>
            <a:spLocks noGrp="1"/>
          </p:cNvSpPr>
          <p:nvPr/>
        </p:nvSpPr>
        <p:spPr>
          <a:xfrm>
            <a:off x="438150" y="6477000"/>
            <a:ext cx="11315700" cy="0"/>
          </a:xfrm>
          <a:prstGeom prst="line">
            <a:avLst/>
          </a:prstGeom>
          <a:noFill/>
          <a:ln w="19050">
            <a:solidFill>
              <a:srgbClr val="445E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38150" y="6534150"/>
            <a:ext cx="247650" cy="24765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3752920-8271-4376-88B2-CEA65586C2FE}"/>
              </a:ext>
            </a:extLst>
          </p:cNvPr>
          <p:cNvSpPr>
            <a:spLocks noGrp="1"/>
          </p:cNvSpPr>
          <p:nvPr/>
        </p:nvSpPr>
        <p:spPr>
          <a:xfrm>
            <a:off x="781050" y="6553200"/>
            <a:ext cx="82867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Mesh Denoising | 3D Υπολογιστική Όραση και Γεωμετρία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8A33296-724D-499E-8821-219AA414DBC5}"/>
              </a:ext>
            </a:extLst>
          </p:cNvPr>
          <p:cNvSpPr>
            <a:spLocks noGrp="1"/>
          </p:cNvSpPr>
          <p:nvPr/>
        </p:nvSpPr>
        <p:spPr>
          <a:xfrm>
            <a:off x="11334750" y="6553200"/>
            <a:ext cx="3619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26</a:t>
            </a:r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23875" y="1214438"/>
            <a:ext cx="3143250" cy="2000250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3857625" y="1214438"/>
            <a:ext cx="3143250" cy="200025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2D93C7A-0B9D-4435-8404-CEBDCF9434D4}"/>
              </a:ext>
            </a:extLst>
          </p:cNvPr>
          <p:cNvSpPr>
            <a:spLocks noGrp="1"/>
          </p:cNvSpPr>
          <p:nvPr/>
        </p:nvSpPr>
        <p:spPr>
          <a:xfrm>
            <a:off x="523875" y="3352800"/>
            <a:ext cx="3143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00" b="1" i="0">
                <a:solidFill>
                  <a:srgbClr val="A64337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A64337"/>
                </a:solidFill>
                <a:latin typeface="Calibri"/>
                <a:ea typeface="Calibri"/>
                <a:cs typeface="Calibri"/>
              </a:rPr>
              <a:t>Πριν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C92A055-DBD4-41BD-A609-A1674B133F2C}"/>
              </a:ext>
            </a:extLst>
          </p:cNvPr>
          <p:cNvSpPr>
            <a:spLocks noGrp="1"/>
          </p:cNvSpPr>
          <p:nvPr/>
        </p:nvSpPr>
        <p:spPr>
          <a:xfrm>
            <a:off x="3857625" y="3352800"/>
            <a:ext cx="3143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00" b="1" i="0">
                <a:solidFill>
                  <a:srgbClr val="59A14F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59A14F"/>
                </a:solidFill>
                <a:latin typeface="Calibri"/>
                <a:ea typeface="Calibri"/>
                <a:cs typeface="Calibri"/>
              </a:rPr>
              <a:t>Μετά</a:t>
            </a:r>
          </a:p>
        </p:txBody>
      </p:sp>
      <p:graphicFrame>
        <p:nvGraphicFramePr>
          <p:cNvPr id="37" name="Table 36"/>
          <p:cNvGraphicFramePr/>
          <p:nvPr/>
        </p:nvGraphicFramePr>
        <p:xfrm>
          <a:off x="7334250" y="1123950"/>
          <a:ext cx="4333875" cy="1592580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5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5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0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r>
                        <a:t>CPD sequence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Chamfer πριν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Chamfer μετά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Μείωση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t>Bouncing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0.10044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0.02647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73.7%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t>Swing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0.09483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0.03063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67.7%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23E9A39F-A7DF-45C1-BCD9-697144103D52}"/>
              </a:ext>
            </a:extLst>
          </p:cNvPr>
          <p:cNvSpPr>
            <a:spLocks noGrp="1"/>
          </p:cNvSpPr>
          <p:nvPr/>
        </p:nvSpPr>
        <p:spPr>
          <a:xfrm>
            <a:off x="7477125" y="2686050"/>
            <a:ext cx="40005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00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Improved targets: 166/174 Bouncing και 145/149 Swing</a:t>
            </a:r>
          </a:p>
        </p:txBody>
      </p:sp>
      <p:graphicFrame>
        <p:nvGraphicFramePr>
          <p:cNvPr id="39" name="Table 38"/>
          <p:cNvGraphicFramePr/>
          <p:nvPr/>
        </p:nvGraphicFramePr>
        <p:xfrm>
          <a:off x="7096125" y="3238500"/>
          <a:ext cx="4572000" cy="1592580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r>
                        <a:t>Μετά το CPD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MSAE noisy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MSAE den.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RMSE μείωση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t>Bouncing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27.44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315F2C"/>
                          </a:solidFill>
                          <a:latin typeface="Calibri"/>
                          <a:ea typeface="Calibri"/>
                          <a:cs typeface="Calibri"/>
                        </a:rPr>
                        <a:t>15.94</a:t>
                      </a:r>
                    </a:p>
                  </a:txBody>
                  <a:tcPr anchor="ctr">
                    <a:solidFill>
                      <a:srgbClr val="EEF6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30.4%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t>Swing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26.85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315F2C"/>
                          </a:solidFill>
                          <a:latin typeface="Calibri"/>
                          <a:ea typeface="Calibri"/>
                          <a:cs typeface="Calibri"/>
                        </a:rPr>
                        <a:t>14.89</a:t>
                      </a:r>
                    </a:p>
                  </a:txBody>
                  <a:tcPr anchor="ctr">
                    <a:solidFill>
                      <a:srgbClr val="EEF6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32.8%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5F798F04-52B9-4183-A78E-8447AC9C4990}"/>
              </a:ext>
            </a:extLst>
          </p:cNvPr>
          <p:cNvSpPr>
            <a:spLocks noGrp="1"/>
          </p:cNvSpPr>
          <p:nvPr/>
        </p:nvSpPr>
        <p:spPr>
          <a:xfrm>
            <a:off x="666750" y="4238625"/>
            <a:ext cx="1047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1" i="0">
                <a:solidFill>
                  <a:srgbClr val="304A8C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304A8C"/>
                </a:solidFill>
                <a:latin typeface="Calibri"/>
                <a:ea typeface="Calibri"/>
                <a:cs typeface="Calibri"/>
              </a:rPr>
              <a:t>Pipeline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7AABFAC-488E-4079-A71B-247F31912D19}"/>
              </a:ext>
            </a:extLst>
          </p:cNvPr>
          <p:cNvSpPr>
            <a:spLocks noGrp="1"/>
          </p:cNvSpPr>
          <p:nvPr/>
        </p:nvSpPr>
        <p:spPr>
          <a:xfrm>
            <a:off x="666750" y="4762500"/>
            <a:ext cx="1809750" cy="590550"/>
          </a:xfrm>
          <a:prstGeom prst="roundRect">
            <a:avLst>
              <a:gd name="adj" fmla="val 16129"/>
            </a:avLst>
          </a:prstGeom>
          <a:solidFill>
            <a:srgbClr val="E8EEF9"/>
          </a:solidFill>
          <a:ln w="13335">
            <a:solidFill>
              <a:srgbClr val="304A8C"/>
            </a:solidFill>
            <a:prstDash val="solid"/>
          </a:ln>
        </p:spPr>
        <p:txBody>
          <a:bodyPr lIns="66675" tIns="47625" rIns="66675" bIns="47625" anchor="ctr">
            <a:normAutofit/>
          </a:bodyPr>
          <a:lstStyle/>
          <a:p>
            <a:pPr algn="ctr">
              <a:defRPr sz="1350" b="1">
                <a:solidFill>
                  <a:srgbClr val="304A8C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304A8C"/>
                </a:solidFill>
                <a:latin typeface="Calibri"/>
                <a:ea typeface="Calibri"/>
                <a:cs typeface="Calibri"/>
              </a:rPr>
              <a:t>Independent remeshing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528488A1-3433-4DD7-B229-6826990E9D49}"/>
              </a:ext>
            </a:extLst>
          </p:cNvPr>
          <p:cNvSpPr>
            <a:spLocks noGrp="1"/>
          </p:cNvSpPr>
          <p:nvPr/>
        </p:nvSpPr>
        <p:spPr>
          <a:xfrm>
            <a:off x="2524125" y="4953000"/>
            <a:ext cx="238125" cy="190500"/>
          </a:xfrm>
          <a:prstGeom prst="rightArrow">
            <a:avLst/>
          </a:prstGeom>
          <a:solidFill>
            <a:srgbClr val="AEB6C4"/>
          </a:solidFill>
          <a:ln w="4763">
            <a:solidFill>
              <a:srgbClr val="AEB6C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A962000-9479-4619-AB76-32A429BFDC8F}"/>
              </a:ext>
            </a:extLst>
          </p:cNvPr>
          <p:cNvSpPr>
            <a:spLocks noGrp="1"/>
          </p:cNvSpPr>
          <p:nvPr/>
        </p:nvSpPr>
        <p:spPr>
          <a:xfrm>
            <a:off x="2857500" y="4762500"/>
            <a:ext cx="1809750" cy="590550"/>
          </a:xfrm>
          <a:prstGeom prst="roundRect">
            <a:avLst>
              <a:gd name="adj" fmla="val 16129"/>
            </a:avLst>
          </a:prstGeom>
          <a:solidFill>
            <a:srgbClr val="E8EEF9"/>
          </a:solidFill>
          <a:ln w="13335">
            <a:solidFill>
              <a:srgbClr val="304A8C"/>
            </a:solidFill>
            <a:prstDash val="solid"/>
          </a:ln>
        </p:spPr>
        <p:txBody>
          <a:bodyPr lIns="66675" tIns="47625" rIns="66675" bIns="47625" anchor="ctr">
            <a:normAutofit/>
          </a:bodyPr>
          <a:lstStyle/>
          <a:p>
            <a:pPr algn="ctr">
              <a:defRPr sz="1350" b="1">
                <a:solidFill>
                  <a:srgbClr val="304A8C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304A8C"/>
                </a:solidFill>
                <a:latin typeface="Calibri"/>
                <a:ea typeface="Calibri"/>
                <a:cs typeface="Calibri"/>
              </a:rPr>
              <a:t>CPD to canonical frame</a:t>
            </a: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AC64418E-ACF1-430E-8798-406749A7222B}"/>
              </a:ext>
            </a:extLst>
          </p:cNvPr>
          <p:cNvSpPr>
            <a:spLocks noGrp="1"/>
          </p:cNvSpPr>
          <p:nvPr/>
        </p:nvSpPr>
        <p:spPr>
          <a:xfrm>
            <a:off x="4714875" y="4953000"/>
            <a:ext cx="238125" cy="190500"/>
          </a:xfrm>
          <a:prstGeom prst="rightArrow">
            <a:avLst/>
          </a:prstGeom>
          <a:solidFill>
            <a:srgbClr val="AEB6C4"/>
          </a:solidFill>
          <a:ln w="4763">
            <a:solidFill>
              <a:srgbClr val="AEB6C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1D5A7DD-8FD6-43C2-88EB-D0074C5F96FE}"/>
              </a:ext>
            </a:extLst>
          </p:cNvPr>
          <p:cNvSpPr>
            <a:spLocks noGrp="1"/>
          </p:cNvSpPr>
          <p:nvPr/>
        </p:nvSpPr>
        <p:spPr>
          <a:xfrm>
            <a:off x="5048250" y="4762500"/>
            <a:ext cx="1809750" cy="590550"/>
          </a:xfrm>
          <a:prstGeom prst="roundRect">
            <a:avLst>
              <a:gd name="adj" fmla="val 16129"/>
            </a:avLst>
          </a:prstGeom>
          <a:solidFill>
            <a:srgbClr val="E7F3F3"/>
          </a:solidFill>
          <a:ln w="13335">
            <a:solidFill>
              <a:srgbClr val="357E80"/>
            </a:solidFill>
            <a:prstDash val="solid"/>
          </a:ln>
        </p:spPr>
        <p:txBody>
          <a:bodyPr lIns="66675" tIns="47625" rIns="66675" bIns="47625" anchor="ctr">
            <a:normAutofit/>
          </a:bodyPr>
          <a:lstStyle/>
          <a:p>
            <a:pPr algn="ctr">
              <a:defRPr sz="1350" b="1">
                <a:solidFill>
                  <a:srgbClr val="357E80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357E80"/>
                </a:solidFill>
                <a:latin typeface="Calibri"/>
                <a:ea typeface="Calibri"/>
                <a:cs typeface="Calibri"/>
              </a:rPr>
              <a:t>Common topology</a:t>
            </a:r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4E19C019-71D2-4217-AB3F-E9710DE7D002}"/>
              </a:ext>
            </a:extLst>
          </p:cNvPr>
          <p:cNvSpPr>
            <a:spLocks noGrp="1"/>
          </p:cNvSpPr>
          <p:nvPr/>
        </p:nvSpPr>
        <p:spPr>
          <a:xfrm>
            <a:off x="6905625" y="4953000"/>
            <a:ext cx="238125" cy="190500"/>
          </a:xfrm>
          <a:prstGeom prst="rightArrow">
            <a:avLst/>
          </a:prstGeom>
          <a:solidFill>
            <a:srgbClr val="AEB6C4"/>
          </a:solidFill>
          <a:ln w="4763">
            <a:solidFill>
              <a:srgbClr val="AEB6C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19B951FF-D300-4DF0-8290-B411F14B52A1}"/>
              </a:ext>
            </a:extLst>
          </p:cNvPr>
          <p:cNvSpPr>
            <a:spLocks noGrp="1"/>
          </p:cNvSpPr>
          <p:nvPr/>
        </p:nvSpPr>
        <p:spPr>
          <a:xfrm>
            <a:off x="7239000" y="4762500"/>
            <a:ext cx="1809750" cy="590550"/>
          </a:xfrm>
          <a:prstGeom prst="roundRect">
            <a:avLst>
              <a:gd name="adj" fmla="val 16129"/>
            </a:avLst>
          </a:prstGeom>
          <a:solidFill>
            <a:srgbClr val="E7F3F3"/>
          </a:solidFill>
          <a:ln w="13335">
            <a:solidFill>
              <a:srgbClr val="357E80"/>
            </a:solidFill>
            <a:prstDash val="solid"/>
          </a:ln>
        </p:spPr>
        <p:txBody>
          <a:bodyPr lIns="66675" tIns="47625" rIns="66675" bIns="47625" anchor="ctr">
            <a:normAutofit/>
          </a:bodyPr>
          <a:lstStyle/>
          <a:p>
            <a:pPr algn="ctr">
              <a:defRPr sz="1350" b="1">
                <a:solidFill>
                  <a:srgbClr val="357E80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357E80"/>
                </a:solidFill>
                <a:latin typeface="Calibri"/>
                <a:ea typeface="Calibri"/>
                <a:cs typeface="Calibri"/>
              </a:rPr>
              <a:t>Noise + temporal RPCA</a:t>
            </a:r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0480F4FB-48C8-46D8-93EB-9A8D0584FEBB}"/>
              </a:ext>
            </a:extLst>
          </p:cNvPr>
          <p:cNvSpPr>
            <a:spLocks noGrp="1"/>
          </p:cNvSpPr>
          <p:nvPr/>
        </p:nvSpPr>
        <p:spPr>
          <a:xfrm>
            <a:off x="9096375" y="4953000"/>
            <a:ext cx="238125" cy="190500"/>
          </a:xfrm>
          <a:prstGeom prst="rightArrow">
            <a:avLst/>
          </a:prstGeom>
          <a:solidFill>
            <a:srgbClr val="AEB6C4"/>
          </a:solidFill>
          <a:ln w="4763">
            <a:solidFill>
              <a:srgbClr val="AEB6C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DDC37067-D77D-424F-9BCD-A6F34C2747C1}"/>
              </a:ext>
            </a:extLst>
          </p:cNvPr>
          <p:cNvSpPr>
            <a:spLocks noGrp="1"/>
          </p:cNvSpPr>
          <p:nvPr/>
        </p:nvSpPr>
        <p:spPr>
          <a:xfrm>
            <a:off x="9429750" y="4762500"/>
            <a:ext cx="1809750" cy="590550"/>
          </a:xfrm>
          <a:prstGeom prst="roundRect">
            <a:avLst>
              <a:gd name="adj" fmla="val 16129"/>
            </a:avLst>
          </a:prstGeom>
          <a:solidFill>
            <a:srgbClr val="E7F3F3"/>
          </a:solidFill>
          <a:ln w="13335">
            <a:solidFill>
              <a:srgbClr val="357E80"/>
            </a:solidFill>
            <a:prstDash val="solid"/>
          </a:ln>
        </p:spPr>
        <p:txBody>
          <a:bodyPr lIns="66675" tIns="47625" rIns="66675" bIns="47625" anchor="ctr">
            <a:normAutofit/>
          </a:bodyPr>
          <a:lstStyle/>
          <a:p>
            <a:pPr algn="ctr">
              <a:defRPr sz="1350" b="1">
                <a:solidFill>
                  <a:srgbClr val="357E80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357E80"/>
                </a:solidFill>
                <a:latin typeface="Calibri"/>
                <a:ea typeface="Calibri"/>
                <a:cs typeface="Calibri"/>
              </a:rPr>
              <a:t>Error heatmap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CDBE42E-6BAB-4AB7-BB4F-66DCB871B10C}"/>
              </a:ext>
            </a:extLst>
          </p:cNvPr>
          <p:cNvSpPr>
            <a:spLocks noGrp="1"/>
          </p:cNvSpPr>
          <p:nvPr/>
        </p:nvSpPr>
        <p:spPr>
          <a:xfrm>
            <a:off x="1666875" y="5715000"/>
            <a:ext cx="88582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75" b="1" i="0">
                <a:solidFill>
                  <a:srgbClr val="A64337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A64337"/>
                </a:solidFill>
                <a:latin typeface="Calibri"/>
                <a:ea typeface="Calibri"/>
                <a:cs typeface="Calibri"/>
              </a:rPr>
              <a:t>Το κοινό topology είναι canonical correspondence που δημιουργεί το CPD. Δεν αποτελεί ground-truth semantic correspondence.</a:t>
            </a:r>
          </a:p>
        </p:txBody>
      </p:sp>
    </p:spTree>
    <p:extLst>
      <p:ext uri="{BB962C8B-B14F-4D97-AF65-F5344CB8AC3E}">
        <p14:creationId xmlns:p14="http://schemas.microsoft.com/office/powerpoint/2010/main" val="10488404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54F8D914-8F48-41E1-8B2D-56FEB5AF889A}"/>
              </a:ext>
            </a:extLst>
          </p:cNvPr>
          <p:cNvSpPr>
            <a:spLocks noGrp="1"/>
          </p:cNvSpPr>
          <p:nvPr/>
        </p:nvSpPr>
        <p:spPr>
          <a:xfrm>
            <a:off x="457200" y="381000"/>
            <a:ext cx="2286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00" b="1" i="0">
                <a:solidFill>
                  <a:srgbClr val="445EA3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445EA3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538B8EB9-F22B-4D74-A721-4277E2FE1D4C}"/>
              </a:ext>
            </a:extLst>
          </p:cNvPr>
          <p:cNvSpPr>
            <a:spLocks noGrp="1"/>
          </p:cNvSpPr>
          <p:nvPr/>
        </p:nvSpPr>
        <p:spPr>
          <a:xfrm>
            <a:off x="714375" y="466725"/>
            <a:ext cx="19050" cy="0"/>
          </a:xfrm>
          <a:prstGeom prst="line">
            <a:avLst/>
          </a:prstGeom>
          <a:noFill/>
          <a:ln w="19050">
            <a:solidFill>
              <a:srgbClr val="445E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AFDD022-D44A-4733-BB49-F08C7A27C94B}"/>
              </a:ext>
            </a:extLst>
          </p:cNvPr>
          <p:cNvSpPr>
            <a:spLocks noGrp="1"/>
          </p:cNvSpPr>
          <p:nvPr/>
        </p:nvSpPr>
        <p:spPr>
          <a:xfrm>
            <a:off x="838200" y="323850"/>
            <a:ext cx="10715625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550" b="0" i="0">
                <a:solidFill>
                  <a:srgbClr val="445EA3"/>
                </a:solidFill>
                <a:latin typeface="Calibri"/>
                <a:ea typeface="Calibri"/>
                <a:cs typeface="Calibri"/>
              </a:defRPr>
            </a:pPr>
            <a:r>
              <a:rPr sz="2550" b="0" i="0">
                <a:solidFill>
                  <a:srgbClr val="445EA3"/>
                </a:solidFill>
                <a:latin typeface="Calibri"/>
                <a:ea typeface="Calibri"/>
                <a:cs typeface="Calibri"/>
              </a:rPr>
              <a:t>Συμπεράσματα και περιορισμοί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EC56C44D-D3A9-4452-BFC5-8840C2399A4C}"/>
              </a:ext>
            </a:extLst>
          </p:cNvPr>
          <p:cNvSpPr>
            <a:spLocks noGrp="1"/>
          </p:cNvSpPr>
          <p:nvPr/>
        </p:nvSpPr>
        <p:spPr>
          <a:xfrm>
            <a:off x="438150" y="6477000"/>
            <a:ext cx="11315700" cy="0"/>
          </a:xfrm>
          <a:prstGeom prst="line">
            <a:avLst/>
          </a:prstGeom>
          <a:noFill/>
          <a:ln w="19050">
            <a:solidFill>
              <a:srgbClr val="445E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38150" y="6534150"/>
            <a:ext cx="247650" cy="24765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8302013-6F9A-4F0B-8B66-79E62EB2F148}"/>
              </a:ext>
            </a:extLst>
          </p:cNvPr>
          <p:cNvSpPr>
            <a:spLocks noGrp="1"/>
          </p:cNvSpPr>
          <p:nvPr/>
        </p:nvSpPr>
        <p:spPr>
          <a:xfrm>
            <a:off x="781050" y="6553200"/>
            <a:ext cx="82867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Mesh Denoising | 3D Υπολογιστική Όραση και Γεωμετρία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E0DCB9C-5710-4C97-8E78-52F05BF9D286}"/>
              </a:ext>
            </a:extLst>
          </p:cNvPr>
          <p:cNvSpPr>
            <a:spLocks noGrp="1"/>
          </p:cNvSpPr>
          <p:nvPr/>
        </p:nvSpPr>
        <p:spPr>
          <a:xfrm>
            <a:off x="11334750" y="6553200"/>
            <a:ext cx="3619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27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1DBE7F7-ABE0-45FC-BAAE-780D6A40E0FE}"/>
              </a:ext>
            </a:extLst>
          </p:cNvPr>
          <p:cNvSpPr>
            <a:spLocks noGrp="1"/>
          </p:cNvSpPr>
          <p:nvPr/>
        </p:nvSpPr>
        <p:spPr>
          <a:xfrm>
            <a:off x="666750" y="1095375"/>
            <a:ext cx="495300" cy="495300"/>
          </a:xfrm>
          <a:prstGeom prst="ellipse">
            <a:avLst/>
          </a:prstGeom>
          <a:solidFill>
            <a:srgbClr val="445EA3"/>
          </a:solidFill>
          <a:ln w="0">
            <a:solidFill>
              <a:srgbClr val="445EA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4485FD4-87E0-4E6B-AB83-320AAE1930C5}"/>
              </a:ext>
            </a:extLst>
          </p:cNvPr>
          <p:cNvSpPr>
            <a:spLocks noGrp="1"/>
          </p:cNvSpPr>
          <p:nvPr/>
        </p:nvSpPr>
        <p:spPr>
          <a:xfrm>
            <a:off x="666750" y="1095375"/>
            <a:ext cx="4953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65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1562A2A-A943-456E-95BC-0576E1490CC9}"/>
              </a:ext>
            </a:extLst>
          </p:cNvPr>
          <p:cNvSpPr>
            <a:spLocks noGrp="1"/>
          </p:cNvSpPr>
          <p:nvPr/>
        </p:nvSpPr>
        <p:spPr>
          <a:xfrm>
            <a:off x="1381125" y="1057275"/>
            <a:ext cx="66675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575" b="0" i="0">
                <a:solidFill>
                  <a:srgbClr val="1E1E1E"/>
                </a:solidFill>
                <a:latin typeface="Calibri"/>
                <a:ea typeface="Calibri"/>
                <a:cs typeface="Calibri"/>
              </a:defRPr>
            </a:pPr>
            <a:r>
              <a:rPr sz="1575" b="0" i="0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Οι μετρικές πρέπει να εξετάζονται συνδυαστικά. Χαμηλό MSAE δεν αποκλείει shrinkage ή over-smoothing.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1003408-1A45-466A-968B-8C79D346ED9E}"/>
              </a:ext>
            </a:extLst>
          </p:cNvPr>
          <p:cNvSpPr>
            <a:spLocks noGrp="1"/>
          </p:cNvSpPr>
          <p:nvPr/>
        </p:nvSpPr>
        <p:spPr>
          <a:xfrm>
            <a:off x="666750" y="2162175"/>
            <a:ext cx="495300" cy="495300"/>
          </a:xfrm>
          <a:prstGeom prst="ellipse">
            <a:avLst/>
          </a:prstGeom>
          <a:solidFill>
            <a:srgbClr val="357E80"/>
          </a:solidFill>
          <a:ln w="0">
            <a:solidFill>
              <a:srgbClr val="357E8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70CC659-1E8F-43C7-AEFE-C0BA2D25B053}"/>
              </a:ext>
            </a:extLst>
          </p:cNvPr>
          <p:cNvSpPr>
            <a:spLocks noGrp="1"/>
          </p:cNvSpPr>
          <p:nvPr/>
        </p:nvSpPr>
        <p:spPr>
          <a:xfrm>
            <a:off x="666750" y="2162175"/>
            <a:ext cx="4953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65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DAE94C6-456F-446C-ACA8-6A001EC6356D}"/>
              </a:ext>
            </a:extLst>
          </p:cNvPr>
          <p:cNvSpPr>
            <a:spLocks noGrp="1"/>
          </p:cNvSpPr>
          <p:nvPr/>
        </p:nvSpPr>
        <p:spPr>
          <a:xfrm>
            <a:off x="1381125" y="2124075"/>
            <a:ext cx="66675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575" b="0" i="0">
                <a:solidFill>
                  <a:srgbClr val="1E1E1E"/>
                </a:solidFill>
                <a:latin typeface="Calibri"/>
                <a:ea typeface="Calibri"/>
                <a:cs typeface="Calibri"/>
              </a:defRPr>
            </a:pPr>
            <a:r>
              <a:rPr sz="1575" b="0" i="0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Το Taubin αποτελεί την πιο σταθερή γενική baseline. Η feature-aware μέθοδος υπερέχει κυρίως σε πυκνά meshes.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31C706D-E838-4F37-8C56-DE04227A0B9D}"/>
              </a:ext>
            </a:extLst>
          </p:cNvPr>
          <p:cNvSpPr>
            <a:spLocks noGrp="1"/>
          </p:cNvSpPr>
          <p:nvPr/>
        </p:nvSpPr>
        <p:spPr>
          <a:xfrm>
            <a:off x="666750" y="3228975"/>
            <a:ext cx="495300" cy="495300"/>
          </a:xfrm>
          <a:prstGeom prst="ellipse">
            <a:avLst/>
          </a:prstGeom>
          <a:solidFill>
            <a:srgbClr val="6D5BD0"/>
          </a:solidFill>
          <a:ln w="0">
            <a:solidFill>
              <a:srgbClr val="6D5B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CAB2021-05F1-4482-A274-BF6DCDF219D7}"/>
              </a:ext>
            </a:extLst>
          </p:cNvPr>
          <p:cNvSpPr>
            <a:spLocks noGrp="1"/>
          </p:cNvSpPr>
          <p:nvPr/>
        </p:nvSpPr>
        <p:spPr>
          <a:xfrm>
            <a:off x="666750" y="3228975"/>
            <a:ext cx="4953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65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11269B4-B6BA-430C-9A7D-6682FF5BFD50}"/>
              </a:ext>
            </a:extLst>
          </p:cNvPr>
          <p:cNvSpPr>
            <a:spLocks noGrp="1"/>
          </p:cNvSpPr>
          <p:nvPr/>
        </p:nvSpPr>
        <p:spPr>
          <a:xfrm>
            <a:off x="1381125" y="3190875"/>
            <a:ext cx="66675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575" b="0" i="0">
                <a:solidFill>
                  <a:srgbClr val="1E1E1E"/>
                </a:solidFill>
                <a:latin typeface="Calibri"/>
                <a:ea typeface="Calibri"/>
                <a:cs typeface="Calibri"/>
              </a:defRPr>
            </a:pPr>
            <a:r>
              <a:rPr sz="1575" b="0" i="0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Το Quaternion PointNet μαθαίνει inverse noise σε normalized local patches, αλλά απαιτεί ακριβή clean/noisy correspondence.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262443B-6430-46D7-B7E8-1750E59EE0F3}"/>
              </a:ext>
            </a:extLst>
          </p:cNvPr>
          <p:cNvSpPr>
            <a:spLocks noGrp="1"/>
          </p:cNvSpPr>
          <p:nvPr/>
        </p:nvSpPr>
        <p:spPr>
          <a:xfrm>
            <a:off x="666750" y="4295775"/>
            <a:ext cx="495300" cy="495300"/>
          </a:xfrm>
          <a:prstGeom prst="ellipse">
            <a:avLst/>
          </a:prstGeom>
          <a:solidFill>
            <a:srgbClr val="F2A33A"/>
          </a:solidFill>
          <a:ln w="0">
            <a:solidFill>
              <a:srgbClr val="F2A33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5459268-78F2-4736-ACB4-98AC7DB8B299}"/>
              </a:ext>
            </a:extLst>
          </p:cNvPr>
          <p:cNvSpPr>
            <a:spLocks noGrp="1"/>
          </p:cNvSpPr>
          <p:nvPr/>
        </p:nvSpPr>
        <p:spPr>
          <a:xfrm>
            <a:off x="666750" y="4295775"/>
            <a:ext cx="4953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65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E33E7D-CA45-4C38-8E48-68B62CFE918A}"/>
              </a:ext>
            </a:extLst>
          </p:cNvPr>
          <p:cNvSpPr>
            <a:spLocks noGrp="1"/>
          </p:cNvSpPr>
          <p:nvPr/>
        </p:nvSpPr>
        <p:spPr>
          <a:xfrm>
            <a:off x="1381125" y="4257675"/>
            <a:ext cx="66675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575" b="0" i="0">
                <a:solidFill>
                  <a:srgbClr val="1E1E1E"/>
                </a:solidFill>
                <a:latin typeface="Calibri"/>
                <a:ea typeface="Calibri"/>
                <a:cs typeface="Calibri"/>
              </a:defRPr>
            </a:pPr>
            <a:r>
              <a:rPr sz="1575" b="0" i="0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Η temporal GFT και η low-rank ανάλυση βελτιώνουν τα dynamic meshes. Το CPD επεκτείνει τη διαδικασία όταν η correspondence λείπει.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4E568BC-C174-4715-BAC4-0CF32CC2B0EE}"/>
              </a:ext>
            </a:extLst>
          </p:cNvPr>
          <p:cNvSpPr>
            <a:spLocks noGrp="1"/>
          </p:cNvSpPr>
          <p:nvPr/>
        </p:nvSpPr>
        <p:spPr>
          <a:xfrm>
            <a:off x="8572500" y="1143000"/>
            <a:ext cx="2667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1" i="0">
                <a:solidFill>
                  <a:srgbClr val="A64337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A64337"/>
                </a:solidFill>
                <a:latin typeface="Calibri"/>
                <a:ea typeface="Calibri"/>
                <a:cs typeface="Calibri"/>
              </a:rPr>
              <a:t>Περιορισμοί</a:t>
            </a:r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5650FD6C-CBBD-417F-BADC-0CF653E34221}"/>
              </a:ext>
            </a:extLst>
          </p:cNvPr>
          <p:cNvSpPr>
            <a:spLocks noGrp="1"/>
          </p:cNvSpPr>
          <p:nvPr/>
        </p:nvSpPr>
        <p:spPr>
          <a:xfrm>
            <a:off x="8572500" y="1438275"/>
            <a:ext cx="2667000" cy="0"/>
          </a:xfrm>
          <a:prstGeom prst="line">
            <a:avLst/>
          </a:prstGeom>
          <a:noFill/>
          <a:ln w="14288">
            <a:solidFill>
              <a:srgbClr val="A643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241590B-3154-4013-B3AF-4B2EF8C79AC2}"/>
              </a:ext>
            </a:extLst>
          </p:cNvPr>
          <p:cNvSpPr>
            <a:spLocks noGrp="1"/>
          </p:cNvSpPr>
          <p:nvPr/>
        </p:nvSpPr>
        <p:spPr>
          <a:xfrm>
            <a:off x="8524875" y="1666875"/>
            <a:ext cx="3048000" cy="23336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marL="279400" indent="-139700" algn="l">
              <a:lnSpc>
                <a:spcPct val="108000"/>
              </a:lnSpc>
              <a:spcAft>
                <a:spcPts val="700"/>
              </a:spcAft>
              <a:buNone/>
              <a:defRPr sz="1350" b="0" i="0">
                <a:solidFill>
                  <a:srgbClr val="1E1E1E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Η σταθερή τιμή k εξαρτάται από την πυκνότητα της τριγωνοποίησης.</a:t>
            </a:r>
          </a:p>
          <a:p>
            <a:pPr marL="279400" indent="-139700" algn="l">
              <a:lnSpc>
                <a:spcPct val="108000"/>
              </a:lnSpc>
              <a:spcAft>
                <a:spcPts val="700"/>
              </a:spcAft>
              <a:buNone/>
              <a:defRPr sz="1350" b="0" i="0">
                <a:solidFill>
                  <a:srgbClr val="1E1E1E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Το PointNet και το Q8 χρειάζονται correspondence στην είσοδο.</a:t>
            </a:r>
          </a:p>
          <a:p>
            <a:pPr marL="279400" indent="-139700" algn="l">
              <a:lnSpc>
                <a:spcPct val="108000"/>
              </a:lnSpc>
              <a:spcAft>
                <a:spcPts val="700"/>
              </a:spcAft>
              <a:buNone/>
              <a:defRPr sz="1350" b="0" i="0">
                <a:solidFill>
                  <a:srgbClr val="1E1E1E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Το CPD μπορεί να αποτύχει σε ακραίες αλλαγές στάσης, ισχυρή απόκρυψη ή κακό remeshing.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BC80C9E-8F33-4934-9652-8449999231D0}"/>
              </a:ext>
            </a:extLst>
          </p:cNvPr>
          <p:cNvSpPr>
            <a:spLocks noGrp="1"/>
          </p:cNvSpPr>
          <p:nvPr/>
        </p:nvSpPr>
        <p:spPr>
          <a:xfrm>
            <a:off x="8572500" y="4333875"/>
            <a:ext cx="2667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1" i="0">
                <a:solidFill>
                  <a:srgbClr val="445EA3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445EA3"/>
                </a:solidFill>
                <a:latin typeface="Calibri"/>
                <a:ea typeface="Calibri"/>
                <a:cs typeface="Calibri"/>
              </a:rPr>
              <a:t>Επόμενο βήμα</a:t>
            </a:r>
          </a:p>
        </p:txBody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C254A51A-BCC1-48A0-A873-0C8B41F67E8F}"/>
              </a:ext>
            </a:extLst>
          </p:cNvPr>
          <p:cNvSpPr>
            <a:spLocks noGrp="1"/>
          </p:cNvSpPr>
          <p:nvPr/>
        </p:nvSpPr>
        <p:spPr>
          <a:xfrm>
            <a:off x="8572500" y="4629150"/>
            <a:ext cx="2667000" cy="0"/>
          </a:xfrm>
          <a:prstGeom prst="line">
            <a:avLst/>
          </a:prstGeom>
          <a:noFill/>
          <a:ln w="14288">
            <a:solidFill>
              <a:srgbClr val="445E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6DED9A9-7379-4F81-AEC0-C3331E7EB241}"/>
              </a:ext>
            </a:extLst>
          </p:cNvPr>
          <p:cNvSpPr>
            <a:spLocks noGrp="1"/>
          </p:cNvSpPr>
          <p:nvPr/>
        </p:nvSpPr>
        <p:spPr>
          <a:xfrm>
            <a:off x="8572500" y="4810125"/>
            <a:ext cx="276225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350" b="0" i="0">
                <a:solidFill>
                  <a:srgbClr val="304A8C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304A8C"/>
                </a:solidFill>
                <a:latin typeface="Calibri"/>
                <a:ea typeface="Calibri"/>
                <a:cs typeface="Calibri"/>
              </a:rPr>
              <a:t>Σύγκριση CPD με baseline functional maps και χρήση confidence weights στη temporal low-rank αποθορυβοποίηση.</a:t>
            </a:r>
          </a:p>
        </p:txBody>
      </p:sp>
    </p:spTree>
    <p:extLst>
      <p:ext uri="{BB962C8B-B14F-4D97-AF65-F5344CB8AC3E}">
        <p14:creationId xmlns:p14="http://schemas.microsoft.com/office/powerpoint/2010/main" val="182675057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200D6C62-EE49-44A3-AC5B-4D59080F3D19}"/>
              </a:ext>
            </a:extLst>
          </p:cNvPr>
          <p:cNvSpPr>
            <a:spLocks noGrp="1"/>
          </p:cNvSpPr>
          <p:nvPr/>
        </p:nvSpPr>
        <p:spPr>
          <a:xfrm>
            <a:off x="495300" y="323850"/>
            <a:ext cx="10715625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550" b="0" i="0">
                <a:solidFill>
                  <a:srgbClr val="445EA3"/>
                </a:solidFill>
                <a:latin typeface="Calibri"/>
                <a:ea typeface="Calibri"/>
                <a:cs typeface="Calibri"/>
              </a:defRPr>
            </a:pPr>
            <a:r>
              <a:rPr sz="2550" b="0" i="0">
                <a:solidFill>
                  <a:srgbClr val="445EA3"/>
                </a:solidFill>
                <a:latin typeface="Calibri"/>
                <a:ea typeface="Calibri"/>
                <a:cs typeface="Calibri"/>
              </a:rPr>
              <a:t>Βιβλιογραφία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07AAC3C4-D28A-49EC-9F59-9F871AC4A29E}"/>
              </a:ext>
            </a:extLst>
          </p:cNvPr>
          <p:cNvSpPr>
            <a:spLocks noGrp="1"/>
          </p:cNvSpPr>
          <p:nvPr/>
        </p:nvSpPr>
        <p:spPr>
          <a:xfrm>
            <a:off x="438150" y="6477000"/>
            <a:ext cx="11315700" cy="0"/>
          </a:xfrm>
          <a:prstGeom prst="line">
            <a:avLst/>
          </a:prstGeom>
          <a:noFill/>
          <a:ln w="19050">
            <a:solidFill>
              <a:srgbClr val="445E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38150" y="6534150"/>
            <a:ext cx="247650" cy="24765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5ED61B9-13FD-4B8A-AC2C-F9A02495930B}"/>
              </a:ext>
            </a:extLst>
          </p:cNvPr>
          <p:cNvSpPr>
            <a:spLocks noGrp="1"/>
          </p:cNvSpPr>
          <p:nvPr/>
        </p:nvSpPr>
        <p:spPr>
          <a:xfrm>
            <a:off x="781050" y="6553200"/>
            <a:ext cx="82867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Mesh Denoising | 3D Υπολογιστική Όραση και Γεωμετρία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484FBEE-2297-4E3F-8F8A-01273E482C16}"/>
              </a:ext>
            </a:extLst>
          </p:cNvPr>
          <p:cNvSpPr>
            <a:spLocks noGrp="1"/>
          </p:cNvSpPr>
          <p:nvPr/>
        </p:nvSpPr>
        <p:spPr>
          <a:xfrm>
            <a:off x="11334750" y="6553200"/>
            <a:ext cx="3619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28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59BE0F5-B724-4D98-8596-8DC907F5575C}"/>
              </a:ext>
            </a:extLst>
          </p:cNvPr>
          <p:cNvSpPr>
            <a:spLocks noGrp="1"/>
          </p:cNvSpPr>
          <p:nvPr/>
        </p:nvSpPr>
        <p:spPr>
          <a:xfrm>
            <a:off x="666750" y="1000125"/>
            <a:ext cx="4762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1" i="0">
                <a:solidFill>
                  <a:srgbClr val="304A8C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304A8C"/>
                </a:solidFill>
                <a:latin typeface="Calibri"/>
                <a:ea typeface="Calibri"/>
                <a:cs typeface="Calibri"/>
              </a:rPr>
              <a:t>Μέθοδοι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49F82B73-46B4-4C29-8B96-06D2EB73484C}"/>
              </a:ext>
            </a:extLst>
          </p:cNvPr>
          <p:cNvSpPr>
            <a:spLocks noGrp="1"/>
          </p:cNvSpPr>
          <p:nvPr/>
        </p:nvSpPr>
        <p:spPr>
          <a:xfrm>
            <a:off x="666750" y="1295400"/>
            <a:ext cx="4762500" cy="0"/>
          </a:xfrm>
          <a:prstGeom prst="line">
            <a:avLst/>
          </a:prstGeom>
          <a:noFill/>
          <a:ln w="14288">
            <a:solidFill>
              <a:srgbClr val="304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1B1B689-EEC5-4DA8-B7D7-2195AEB91CE3}"/>
              </a:ext>
            </a:extLst>
          </p:cNvPr>
          <p:cNvSpPr>
            <a:spLocks noGrp="1"/>
          </p:cNvSpPr>
          <p:nvPr/>
        </p:nvSpPr>
        <p:spPr>
          <a:xfrm>
            <a:off x="6381750" y="1000125"/>
            <a:ext cx="4953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1" i="0">
                <a:solidFill>
                  <a:srgbClr val="357E80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357E80"/>
                </a:solidFill>
                <a:latin typeface="Calibri"/>
                <a:ea typeface="Calibri"/>
                <a:cs typeface="Calibri"/>
              </a:rPr>
              <a:t>Registration, δεδομένα και εργαλεία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BB68F4FC-3FD9-4DC4-A943-BE7885B4879A}"/>
              </a:ext>
            </a:extLst>
          </p:cNvPr>
          <p:cNvSpPr>
            <a:spLocks noGrp="1"/>
          </p:cNvSpPr>
          <p:nvPr/>
        </p:nvSpPr>
        <p:spPr>
          <a:xfrm>
            <a:off x="6381750" y="1295400"/>
            <a:ext cx="4953000" cy="0"/>
          </a:xfrm>
          <a:prstGeom prst="line">
            <a:avLst/>
          </a:prstGeom>
          <a:noFill/>
          <a:ln w="14288">
            <a:solidFill>
              <a:srgbClr val="357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BF0CCA-4287-457E-8B81-D8554830D698}"/>
              </a:ext>
            </a:extLst>
          </p:cNvPr>
          <p:cNvSpPr>
            <a:spLocks noGrp="1"/>
          </p:cNvSpPr>
          <p:nvPr/>
        </p:nvSpPr>
        <p:spPr>
          <a:xfrm>
            <a:off x="666750" y="1476375"/>
            <a:ext cx="4953000" cy="42862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300"/>
              </a:spcAft>
              <a:buNone/>
              <a:defRPr sz="1275" b="0" i="0">
                <a:solidFill>
                  <a:srgbClr val="1E1E1E"/>
                </a:solidFill>
                <a:latin typeface="Calibri"/>
                <a:ea typeface="Calibri"/>
                <a:cs typeface="Calibri"/>
              </a:defRPr>
            </a:pPr>
            <a:r>
              <a:rPr sz="1275" b="0" i="0" dirty="0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[1] G. Taubin. A Signal Processing Approach to Fair Surface Design. SIGGRAPH, 1995.</a:t>
            </a:r>
          </a:p>
          <a:p>
            <a:pPr algn="l">
              <a:lnSpc>
                <a:spcPct val="112000"/>
              </a:lnSpc>
              <a:spcAft>
                <a:spcPts val="1300"/>
              </a:spcAft>
              <a:buNone/>
              <a:defRPr sz="1275" b="0" i="0">
                <a:solidFill>
                  <a:srgbClr val="1E1E1E"/>
                </a:solidFill>
                <a:latin typeface="Calibri"/>
                <a:ea typeface="Calibri"/>
                <a:cs typeface="Calibri"/>
              </a:defRPr>
            </a:pPr>
            <a:r>
              <a:rPr sz="1275" b="0" i="0" dirty="0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[2] G. Arvanitis, A. S. Lalos, K. Moustakas, N. </a:t>
            </a:r>
            <a:r>
              <a:rPr sz="1275" b="0" i="0" dirty="0" err="1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Fakotakis</a:t>
            </a:r>
            <a:r>
              <a:rPr sz="1275" b="0" i="0" dirty="0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. Feature Preserving Mesh Denoising Based on Graph Spectral Processing. IEEE TVCG 25(3), 2019.</a:t>
            </a:r>
          </a:p>
          <a:p>
            <a:pPr algn="l">
              <a:lnSpc>
                <a:spcPct val="112000"/>
              </a:lnSpc>
              <a:spcAft>
                <a:spcPts val="1300"/>
              </a:spcAft>
              <a:buNone/>
              <a:defRPr sz="1275" b="0" i="0">
                <a:solidFill>
                  <a:srgbClr val="1E1E1E"/>
                </a:solidFill>
                <a:latin typeface="Calibri"/>
                <a:ea typeface="Calibri"/>
                <a:cs typeface="Calibri"/>
              </a:defRPr>
            </a:pPr>
            <a:r>
              <a:rPr sz="1275" b="0" i="0" dirty="0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[3] C. R. Qi, H. Su, K. Mo, L. J. Guibas. </a:t>
            </a:r>
            <a:r>
              <a:rPr sz="1275" b="0" i="0" dirty="0" err="1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PointNet</a:t>
            </a:r>
            <a:r>
              <a:rPr sz="1275" b="0" i="0" dirty="0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: Deep Learning on Point Sets for 3D Classification and Segmentation. CVPR, 2017.</a:t>
            </a:r>
          </a:p>
          <a:p>
            <a:pPr algn="l">
              <a:lnSpc>
                <a:spcPct val="112000"/>
              </a:lnSpc>
              <a:spcAft>
                <a:spcPts val="1300"/>
              </a:spcAft>
              <a:buNone/>
              <a:defRPr sz="1275" b="0" i="0">
                <a:solidFill>
                  <a:srgbClr val="1E1E1E"/>
                </a:solidFill>
                <a:latin typeface="Calibri"/>
                <a:ea typeface="Calibri"/>
                <a:cs typeface="Calibri"/>
              </a:defRPr>
            </a:pPr>
            <a:r>
              <a:rPr sz="1275" b="0" i="0" dirty="0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[4] G. Arvanitis, A. S. Lalos, K. Moustakas. Denoising of Dynamic 3D Meshes via Low-Rank Spectral Analysis. Computers &amp; Graphics 82, 2019.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9133A64-E066-4CC0-9682-E40D6C54721E}"/>
              </a:ext>
            </a:extLst>
          </p:cNvPr>
          <p:cNvSpPr>
            <a:spLocks noGrp="1"/>
          </p:cNvSpPr>
          <p:nvPr/>
        </p:nvSpPr>
        <p:spPr>
          <a:xfrm>
            <a:off x="6381750" y="1476375"/>
            <a:ext cx="4953000" cy="42862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100"/>
              </a:spcAft>
              <a:buNone/>
              <a:defRPr sz="1275" b="0" i="0">
                <a:solidFill>
                  <a:srgbClr val="1E1E1E"/>
                </a:solidFill>
                <a:latin typeface="Calibri"/>
                <a:ea typeface="Calibri"/>
                <a:cs typeface="Calibri"/>
              </a:defRPr>
            </a:pPr>
            <a:r>
              <a:rPr sz="1275" b="0" i="0" dirty="0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[5] A. </a:t>
            </a:r>
            <a:r>
              <a:rPr sz="1275" b="0" i="0" dirty="0" err="1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Myronenko</a:t>
            </a:r>
            <a:r>
              <a:rPr sz="1275" b="0" i="0" dirty="0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, X. Song. Point Set Registration: Coherent Point Drift. IEEE TPAMI 32(12), 2010.</a:t>
            </a:r>
          </a:p>
          <a:p>
            <a:pPr algn="l">
              <a:lnSpc>
                <a:spcPct val="112000"/>
              </a:lnSpc>
              <a:spcAft>
                <a:spcPts val="1100"/>
              </a:spcAft>
              <a:buNone/>
              <a:defRPr sz="1275" b="0" i="0">
                <a:solidFill>
                  <a:srgbClr val="1E1E1E"/>
                </a:solidFill>
                <a:latin typeface="Calibri"/>
                <a:ea typeface="Calibri"/>
                <a:cs typeface="Calibri"/>
              </a:defRPr>
            </a:pPr>
            <a:r>
              <a:rPr sz="1275" b="0" i="0" dirty="0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[6] D. Vlasic et al. Articulated Mesh Animation from Multi-view Silhouettes. ACM TOG 27(3), 2008.</a:t>
            </a:r>
          </a:p>
          <a:p>
            <a:pPr algn="l">
              <a:lnSpc>
                <a:spcPct val="112000"/>
              </a:lnSpc>
              <a:spcAft>
                <a:spcPts val="1100"/>
              </a:spcAft>
              <a:buNone/>
              <a:defRPr sz="1275" b="0" i="0">
                <a:solidFill>
                  <a:srgbClr val="1E1E1E"/>
                </a:solidFill>
                <a:latin typeface="Calibri"/>
                <a:ea typeface="Calibri"/>
                <a:cs typeface="Calibri"/>
              </a:defRPr>
            </a:pPr>
            <a:r>
              <a:rPr sz="1275" b="0" i="0" dirty="0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[7] M. Garland, P. S. Heckbert. Surface Simplification Using Quadric Error Metrics. SIGGRAPH, 1997.</a:t>
            </a:r>
          </a:p>
          <a:p>
            <a:pPr algn="l">
              <a:lnSpc>
                <a:spcPct val="112000"/>
              </a:lnSpc>
              <a:spcAft>
                <a:spcPts val="1100"/>
              </a:spcAft>
              <a:buNone/>
              <a:defRPr sz="1275" b="0" i="0">
                <a:solidFill>
                  <a:srgbClr val="1E1E1E"/>
                </a:solidFill>
                <a:latin typeface="Calibri"/>
                <a:ea typeface="Calibri"/>
                <a:cs typeface="Calibri"/>
              </a:defRPr>
            </a:pPr>
            <a:r>
              <a:rPr sz="1275" b="0" i="0" dirty="0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[8] Q.-Y. Zhou, J. Park, V. Koltun. Open3D: A Modern Library for 3D Data Processing. 2018.</a:t>
            </a:r>
          </a:p>
          <a:p>
            <a:pPr algn="l">
              <a:lnSpc>
                <a:spcPct val="112000"/>
              </a:lnSpc>
              <a:spcAft>
                <a:spcPts val="1100"/>
              </a:spcAft>
              <a:buNone/>
              <a:defRPr sz="1275" b="0" i="0">
                <a:solidFill>
                  <a:srgbClr val="1E1E1E"/>
                </a:solidFill>
                <a:latin typeface="Calibri"/>
                <a:ea typeface="Calibri"/>
                <a:cs typeface="Calibri"/>
              </a:defRPr>
            </a:pPr>
            <a:r>
              <a:rPr sz="1275" b="0" i="0" dirty="0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[9] Project 3: Mesh Denoising, 3D Υπ</a:t>
            </a:r>
            <a:r>
              <a:rPr sz="1275" b="0" i="0" dirty="0" err="1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ολογιστική</a:t>
            </a:r>
            <a:r>
              <a:rPr sz="1275" b="0" i="0" dirty="0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275" b="0" i="0" dirty="0" err="1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Όρ</a:t>
            </a:r>
            <a:r>
              <a:rPr sz="1275" b="0" i="0" dirty="0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αση και Γεωμετρία, 2026.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B41E7D9-0A2F-4C6C-9DBE-FDFF9EC619BC}"/>
              </a:ext>
            </a:extLst>
          </p:cNvPr>
          <p:cNvSpPr>
            <a:spLocks noGrp="1"/>
          </p:cNvSpPr>
          <p:nvPr/>
        </p:nvSpPr>
        <p:spPr>
          <a:xfrm>
            <a:off x="1619250" y="5857875"/>
            <a:ext cx="8953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125" b="0" i="1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1125" b="0" i="1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Οι εικόνες και οι αριθμητικοί πίνακες προέρχονται από την παρούσα υλοποίηση και τα πειράματα της αναφοράς.</a:t>
            </a:r>
          </a:p>
        </p:txBody>
      </p:sp>
    </p:spTree>
    <p:extLst>
      <p:ext uri="{BB962C8B-B14F-4D97-AF65-F5344CB8AC3E}">
        <p14:creationId xmlns:p14="http://schemas.microsoft.com/office/powerpoint/2010/main" val="38229594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rcRect l="29230" r="29230"/>
          <a:stretch>
            <a:fillRect/>
          </a:stretch>
        </p:blipFill>
        <p:spPr>
          <a:xfrm>
            <a:off x="0" y="0"/>
            <a:ext cx="447675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3C97669-B738-49F0-8F53-94A0074D28B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4476750" cy="6858000"/>
          </a:xfrm>
          <a:prstGeom prst="rect">
            <a:avLst/>
          </a:prstGeom>
          <a:solidFill>
            <a:srgbClr val="142B5A">
              <a:alpha val="26667"/>
            </a:srgbClr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DAB3823-84A1-46E5-932C-5BC6B86E32A2}"/>
              </a:ext>
            </a:extLst>
          </p:cNvPr>
          <p:cNvSpPr>
            <a:spLocks noGrp="1"/>
          </p:cNvSpPr>
          <p:nvPr/>
        </p:nvSpPr>
        <p:spPr>
          <a:xfrm>
            <a:off x="5810250" y="2000250"/>
            <a:ext cx="45720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3750" b="1" i="0">
                <a:solidFill>
                  <a:srgbClr val="304A8C"/>
                </a:solidFill>
                <a:latin typeface="Calibri"/>
                <a:ea typeface="Calibri"/>
                <a:cs typeface="Calibri"/>
              </a:defRPr>
            </a:pPr>
            <a:r>
              <a:rPr sz="3750" b="1" i="0">
                <a:solidFill>
                  <a:srgbClr val="304A8C"/>
                </a:solidFill>
                <a:latin typeface="Calibri"/>
                <a:ea typeface="Calibri"/>
                <a:cs typeface="Calibri"/>
              </a:rPr>
              <a:t>Ευχαριστώ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30904329-060A-487C-B28F-87BC603F56EE}"/>
              </a:ext>
            </a:extLst>
          </p:cNvPr>
          <p:cNvSpPr>
            <a:spLocks noGrp="1"/>
          </p:cNvSpPr>
          <p:nvPr/>
        </p:nvSpPr>
        <p:spPr>
          <a:xfrm>
            <a:off x="7143750" y="2876550"/>
            <a:ext cx="1905000" cy="0"/>
          </a:xfrm>
          <a:prstGeom prst="line">
            <a:avLst/>
          </a:prstGeom>
          <a:noFill/>
          <a:ln w="19050">
            <a:solidFill>
              <a:srgbClr val="445E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8E56907-B4D8-43A0-9F1C-E411145FF256}"/>
              </a:ext>
            </a:extLst>
          </p:cNvPr>
          <p:cNvSpPr>
            <a:spLocks noGrp="1"/>
          </p:cNvSpPr>
          <p:nvPr/>
        </p:nvSpPr>
        <p:spPr>
          <a:xfrm>
            <a:off x="6191250" y="3286125"/>
            <a:ext cx="38100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2100" b="0" i="0">
                <a:solidFill>
                  <a:srgbClr val="1E1E1E"/>
                </a:solidFill>
                <a:latin typeface="Calibri"/>
                <a:ea typeface="Calibri"/>
                <a:cs typeface="Calibri"/>
              </a:defRPr>
            </a:pPr>
            <a:r>
              <a:rPr sz="2100" b="0" i="0">
                <a:solidFill>
                  <a:srgbClr val="1E1E1E"/>
                </a:solidFill>
                <a:latin typeface="Calibri"/>
                <a:ea typeface="Calibri"/>
                <a:cs typeface="Calibri"/>
              </a:rPr>
              <a:t>Ερωτήσεις;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572375" y="4619625"/>
            <a:ext cx="876300" cy="8763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0F664CE-AF89-40DD-8803-D2FB4399C6AD}"/>
              </a:ext>
            </a:extLst>
          </p:cNvPr>
          <p:cNvSpPr>
            <a:spLocks noGrp="1"/>
          </p:cNvSpPr>
          <p:nvPr/>
        </p:nvSpPr>
        <p:spPr>
          <a:xfrm>
            <a:off x="6191250" y="5762625"/>
            <a:ext cx="3810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00" b="0" i="0">
                <a:solidFill>
                  <a:srgbClr val="666C78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666C78"/>
                </a:solidFill>
                <a:latin typeface="Calibri"/>
                <a:ea typeface="Calibri"/>
                <a:cs typeface="Calibri"/>
              </a:rPr>
              <a:t>Μάριος Ιωάννης Παπαδόπουλος</a:t>
            </a:r>
          </a:p>
        </p:txBody>
      </p:sp>
    </p:spTree>
    <p:extLst>
      <p:ext uri="{BB962C8B-B14F-4D97-AF65-F5344CB8AC3E}">
        <p14:creationId xmlns:p14="http://schemas.microsoft.com/office/powerpoint/2010/main" val="90629442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Mesh Denoising Academic">
      <a:dk1>
        <a:srgbClr val="000000"/>
      </a:dk1>
      <a:lt1>
        <a:srgbClr val="FFFFFF"/>
      </a:lt1>
      <a:dk2>
        <a:srgbClr val="1E1E1E"/>
      </a:dk2>
      <a:lt2>
        <a:srgbClr val="E4E7EC"/>
      </a:lt2>
      <a:accent1>
        <a:srgbClr val="445EA3"/>
      </a:accent1>
      <a:accent2>
        <a:srgbClr val="6D5BD0"/>
      </a:accent2>
      <a:accent3>
        <a:srgbClr val="357E80"/>
      </a:accent3>
      <a:accent4>
        <a:srgbClr val="F2A33A"/>
      </a:accent4>
      <a:accent5>
        <a:srgbClr val="59A14F"/>
      </a:accent5>
      <a:accent6>
        <a:srgbClr val="A64337"/>
      </a:accent6>
      <a:hlink>
        <a:srgbClr val="445EA3"/>
      </a:hlink>
      <a:folHlink>
        <a:srgbClr val="6D5BD0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Mesh Denoising Academic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Mesh Denoising Academic">
      <a:dk1>
        <a:srgbClr val="000000"/>
      </a:dk1>
      <a:lt1>
        <a:srgbClr val="FFFFFF"/>
      </a:lt1>
      <a:dk2>
        <a:srgbClr val="1E1E1E"/>
      </a:dk2>
      <a:lt2>
        <a:srgbClr val="E4E7EC"/>
      </a:lt2>
      <a:accent1>
        <a:srgbClr val="445EA3"/>
      </a:accent1>
      <a:accent2>
        <a:srgbClr val="6D5BD0"/>
      </a:accent2>
      <a:accent3>
        <a:srgbClr val="357E80"/>
      </a:accent3>
      <a:accent4>
        <a:srgbClr val="F2A33A"/>
      </a:accent4>
      <a:accent5>
        <a:srgbClr val="59A14F"/>
      </a:accent5>
      <a:accent6>
        <a:srgbClr val="A64337"/>
      </a:accent6>
      <a:hlink>
        <a:srgbClr val="445EA3"/>
      </a:hlink>
      <a:folHlink>
        <a:srgbClr val="6D5BD0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Mesh Denoising Academic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3784</Words>
  <Application>Microsoft Office PowerPoint</Application>
  <DocSecurity>0</DocSecurity>
  <PresentationFormat>Widescreen</PresentationFormat>
  <Paragraphs>675</Paragraphs>
  <Slides>31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Calibri</vt:lpstr>
      <vt:lpstr>Cambria Math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Giannis Papadopoulos</cp:lastModifiedBy>
  <cp:revision>1</cp:revision>
  <dcterms:created xsi:type="dcterms:W3CDTF">2026-09-27T07:49:50Z</dcterms:created>
  <dcterms:modified xsi:type="dcterms:W3CDTF">2026-09-27T14:32:46Z</dcterms:modified>
</cp:coreProperties>
</file>